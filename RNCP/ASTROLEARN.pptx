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76" r:id="rId3"/>
    <p:sldId id="279" r:id="rId4"/>
    <p:sldId id="281" r:id="rId5"/>
    <p:sldId id="310" r:id="rId6"/>
    <p:sldId id="311" r:id="rId7"/>
    <p:sldId id="280" r:id="rId8"/>
    <p:sldId id="282" r:id="rId9"/>
    <p:sldId id="283" r:id="rId10"/>
    <p:sldId id="284" r:id="rId11"/>
    <p:sldId id="285" r:id="rId12"/>
    <p:sldId id="286" r:id="rId13"/>
    <p:sldId id="287" r:id="rId14"/>
    <p:sldId id="288" r:id="rId15"/>
    <p:sldId id="289" r:id="rId16"/>
    <p:sldId id="307" r:id="rId17"/>
    <p:sldId id="290" r:id="rId18"/>
    <p:sldId id="291" r:id="rId19"/>
    <p:sldId id="309" r:id="rId20"/>
    <p:sldId id="293" r:id="rId21"/>
    <p:sldId id="294" r:id="rId22"/>
    <p:sldId id="308" r:id="rId23"/>
    <p:sldId id="302" r:id="rId24"/>
    <p:sldId id="303" r:id="rId25"/>
    <p:sldId id="296" r:id="rId26"/>
    <p:sldId id="297" r:id="rId27"/>
    <p:sldId id="298" r:id="rId28"/>
    <p:sldId id="300" r:id="rId29"/>
    <p:sldId id="299" r:id="rId30"/>
    <p:sldId id="304" r:id="rId31"/>
    <p:sldId id="312" r:id="rId32"/>
    <p:sldId id="301" r:id="rId3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811"/>
    <a:srgbClr val="E0E6F7"/>
    <a:srgbClr val="0005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Style à thème 1 - Accentuation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71913" autoAdjust="0"/>
  </p:normalViewPr>
  <p:slideViewPr>
    <p:cSldViewPr snapToGrid="0">
      <p:cViewPr varScale="1">
        <p:scale>
          <a:sx n="79" d="100"/>
          <a:sy n="79" d="100"/>
        </p:scale>
        <p:origin x="1824" y="96"/>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F92782-1C2B-4854-B440-315042B92025}" type="datetimeFigureOut">
              <a:rPr lang="fr-FR" smtClean="0"/>
              <a:t>19/08/2026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1B8CCC-3852-4818-B35C-9D7E38B12BA3}" type="slidenum">
              <a:rPr lang="fr-FR" smtClean="0"/>
              <a:t>‹N°›</a:t>
            </a:fld>
            <a:endParaRPr lang="fr-FR"/>
          </a:p>
        </p:txBody>
      </p:sp>
    </p:spTree>
    <p:extLst>
      <p:ext uri="{BB962C8B-B14F-4D97-AF65-F5344CB8AC3E}">
        <p14:creationId xmlns:p14="http://schemas.microsoft.com/office/powerpoint/2010/main" val="1958161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dirty="0"/>
              <a:t>Hello everyone, my name is </a:t>
            </a:r>
            <a:r>
              <a:rPr dirty="0" err="1"/>
              <a:t>Abderrehman</a:t>
            </a:r>
            <a:r>
              <a:rPr dirty="0"/>
              <a:t>. Today I'm going to present my project, </a:t>
            </a:r>
            <a:r>
              <a:rPr dirty="0" err="1"/>
              <a:t>AstroLearn</a:t>
            </a:r>
            <a:r>
              <a:rPr dirty="0"/>
              <a:t>.</a:t>
            </a:r>
          </a:p>
          <a:p>
            <a:endParaRPr dirty="0"/>
          </a:p>
          <a:p>
            <a:r>
              <a:rPr dirty="0"/>
              <a:t>I created </a:t>
            </a:r>
            <a:r>
              <a:rPr dirty="0" err="1"/>
              <a:t>AstroLearn</a:t>
            </a:r>
            <a:r>
              <a:rPr dirty="0"/>
              <a:t> because I have always loved astronomy. </a:t>
            </a:r>
            <a:endParaRPr lang="fr-FR" dirty="0"/>
          </a:p>
          <a:p>
            <a:endParaRPr lang="fr-FR" dirty="0"/>
          </a:p>
          <a:p>
            <a:r>
              <a:rPr dirty="0"/>
              <a:t>It's an educational website that helps people discover planets, galaxies, stars, and other celestial objects.</a:t>
            </a:r>
          </a:p>
          <a:p>
            <a:endParaRPr dirty="0"/>
          </a:p>
          <a:p>
            <a:r>
              <a:rPr dirty="0"/>
              <a:t>On the site, you can browse a catalog of celestial objects, explore an interactive 3D solar system, and chat with an AI assistant called </a:t>
            </a:r>
            <a:r>
              <a:rPr dirty="0" err="1"/>
              <a:t>AstroIA</a:t>
            </a:r>
            <a:r>
              <a:rPr dirty="0"/>
              <a:t>. Users can also create an account, save their favorite objects, and suggest new ones for the catalog.</a:t>
            </a:r>
          </a:p>
          <a:p>
            <a:endParaRPr dirty="0"/>
          </a:p>
          <a:p>
            <a:r>
              <a:rPr dirty="0"/>
              <a:t>This is not just a school project. It's a real, working website, online right now. I'm going to show you how I built it, step by step.</a:t>
            </a:r>
          </a:p>
        </p:txBody>
      </p:sp>
      <p:sp>
        <p:nvSpPr>
          <p:cNvPr id="4" name="Espace réservé du numéro de diapositive 3"/>
          <p:cNvSpPr>
            <a:spLocks noGrp="1"/>
          </p:cNvSpPr>
          <p:nvPr>
            <p:ph type="sldNum" sz="quarter" idx="5"/>
          </p:nvPr>
        </p:nvSpPr>
        <p:spPr/>
        <p:txBody>
          <a:bodyPr/>
          <a:lstStyle/>
          <a:p>
            <a:fld id="{B61B8CCC-3852-4818-B35C-9D7E38B12BA3}" type="slidenum">
              <a:rPr lang="fr-FR" smtClean="0"/>
              <a:t>1</a:t>
            </a:fld>
            <a:endParaRPr lang="fr-FR"/>
          </a:p>
        </p:txBody>
      </p:sp>
    </p:spTree>
    <p:extLst>
      <p:ext uri="{BB962C8B-B14F-4D97-AF65-F5344CB8AC3E}">
        <p14:creationId xmlns:p14="http://schemas.microsoft.com/office/powerpoint/2010/main" val="3897090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t>Voici le plan de ma présentation.</a:t>
            </a:r>
          </a:p>
          <a:p>
            <a:endParaRPr/>
          </a:p>
          <a:p>
            <a:r>
              <a:t>Je vais d'abord vous présenter le projet, la stack technique, et les utilisateurs de l'application. Ensuite je montrerai tout le travail de conception, l'architecture, et la base de données.</a:t>
            </a:r>
          </a:p>
          <a:p>
            <a:endParaRPr/>
          </a:p>
          <a:p>
            <a:r>
              <a:t>Puis je passerai à des exemples concrets de développement, aux tests, à la sécurité et au RGPD. Je continuerai avec le déploiement, la gestion de projet, et la veille technologique.</a:t>
            </a:r>
          </a:p>
          <a:p>
            <a:endParaRPr/>
          </a:p>
          <a:p>
            <a:r>
              <a:t>Je terminerai par un rapide bilan, puis je vous montrerai le site en direct, avant de conclure.</a:t>
            </a:r>
          </a:p>
        </p:txBody>
      </p:sp>
      <p:sp>
        <p:nvSpPr>
          <p:cNvPr id="4" name="Espace réservé du numéro de diapositive 3"/>
          <p:cNvSpPr>
            <a:spLocks noGrp="1"/>
          </p:cNvSpPr>
          <p:nvPr>
            <p:ph type="sldNum" sz="quarter" idx="5"/>
          </p:nvPr>
        </p:nvSpPr>
        <p:spPr/>
        <p:txBody>
          <a:bodyPr/>
          <a:lstStyle/>
          <a:p>
            <a:fld id="{B61B8CCC-3852-4818-B35C-9D7E38B12BA3}" type="slidenum">
              <a:rPr lang="fr-FR" smtClean="0"/>
              <a:t>2</a:t>
            </a:fld>
            <a:endParaRPr lang="fr-FR"/>
          </a:p>
        </p:txBody>
      </p:sp>
    </p:spTree>
    <p:extLst>
      <p:ext uri="{BB962C8B-B14F-4D97-AF65-F5344CB8AC3E}">
        <p14:creationId xmlns:p14="http://schemas.microsoft.com/office/powerpoint/2010/main" val="2301474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7683B-3952-3F83-ECD9-02CF230230A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BCE75E0-3E57-033E-E8A1-7E5275736715}"/>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4B0AC7A8-5ED7-432E-92E7-474148899AAB}"/>
              </a:ext>
            </a:extLst>
          </p:cNvPr>
          <p:cNvSpPr>
            <a:spLocks noGrp="1"/>
          </p:cNvSpPr>
          <p:nvPr>
            <p:ph type="body" idx="1"/>
          </p:nvPr>
        </p:nvSpPr>
        <p:spPr/>
        <p:txBody>
          <a:bodyPr/>
          <a:lstStyle/>
          <a:p>
            <a:r>
              <a:t>AstroLearn est un projet individuel que j'ai réalisé pour ma certification.</a:t>
            </a:r>
          </a:p>
          <a:p>
            <a:endParaRPr/>
          </a:p>
          <a:p>
            <a:r>
              <a:t>Au départ, je voulais rester sur quelque chose de simple. Mais au fil du développement, le projet s'est beaucoup enrichi.</a:t>
            </a:r>
          </a:p>
          <a:p>
            <a:endParaRPr/>
          </a:p>
          <a:p>
            <a:r>
              <a:t>Mon objectif était de proposer une plateforme complète autour de l'astronomie, avec un catalogue d'objets célestes, une carte 3D du système solaire, un assistant IA, et des comptes utilisateurs.</a:t>
            </a:r>
          </a:p>
          <a:p>
            <a:endParaRPr/>
          </a:p>
          <a:p>
            <a:r>
              <a:t>Au final, j'ai construit une vraie application, avec deux bases de données différentes, et je l'ai mise en ligne moi-même, sur mon propre serveur.</a:t>
            </a:r>
          </a:p>
        </p:txBody>
      </p:sp>
      <p:sp>
        <p:nvSpPr>
          <p:cNvPr id="4" name="Espace réservé du numéro de diapositive 3">
            <a:extLst>
              <a:ext uri="{FF2B5EF4-FFF2-40B4-BE49-F238E27FC236}">
                <a16:creationId xmlns:a16="http://schemas.microsoft.com/office/drawing/2014/main" id="{2C65826C-92AB-F750-4214-D2209F7D074D}"/>
              </a:ext>
            </a:extLst>
          </p:cNvPr>
          <p:cNvSpPr>
            <a:spLocks noGrp="1"/>
          </p:cNvSpPr>
          <p:nvPr>
            <p:ph type="sldNum" sz="quarter" idx="5"/>
          </p:nvPr>
        </p:nvSpPr>
        <p:spPr/>
        <p:txBody>
          <a:bodyPr/>
          <a:lstStyle/>
          <a:p>
            <a:fld id="{B61B8CCC-3852-4818-B35C-9D7E38B12BA3}" type="slidenum">
              <a:rPr lang="fr-FR" smtClean="0"/>
              <a:t>3</a:t>
            </a:fld>
            <a:endParaRPr lang="fr-FR"/>
          </a:p>
        </p:txBody>
      </p:sp>
    </p:spTree>
    <p:extLst>
      <p:ext uri="{BB962C8B-B14F-4D97-AF65-F5344CB8AC3E}">
        <p14:creationId xmlns:p14="http://schemas.microsoft.com/office/powerpoint/2010/main" val="1307470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D97F8-28B2-4D1B-A2A0-8B34C347D82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3FA8B72-8A73-79D3-6584-28FD96D5085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1A144FC-2E27-FDB5-0A5F-E41ACD071C7A}"/>
              </a:ext>
            </a:extLst>
          </p:cNvPr>
          <p:cNvSpPr>
            <a:spLocks noGrp="1"/>
          </p:cNvSpPr>
          <p:nvPr>
            <p:ph type="body" idx="1"/>
          </p:nvPr>
        </p:nvSpPr>
        <p:spPr/>
        <p:txBody>
          <a:bodyPr/>
          <a:lstStyle/>
          <a:p>
            <a:r>
              <a:t>Voici la stack technique du projet.</a:t>
            </a:r>
          </a:p>
          <a:p>
            <a:endParaRPr/>
          </a:p>
          <a:p>
            <a:r>
              <a:t>Pour le back-end, j'utilise Python avec le framework Flask. Le code est organisé selon le pattern MVC, et les données sont réparties entre deux bases : PostgreSQL pour les données classiques, et MongoDB pour les commentaires. Les mots de passe sont protégés par un hachage bcrypt.</a:t>
            </a:r>
          </a:p>
          <a:p>
            <a:endParaRPr/>
          </a:p>
          <a:p>
            <a:r>
              <a:t>Pour le front-end, les pages sont générées avec Jinja2, stylées avec Tailwind CSS, et j'utilise Three.js pour le rendu 3D du système solaire.</a:t>
            </a:r>
          </a:p>
          <a:p>
            <a:endParaRPr/>
          </a:p>
          <a:p>
            <a:r>
              <a:t>Pour les APIs externes, j'utilise Gemini pour le chatbot, l'API de la NASA pour enrichir le catalogue, et Tally pour le sondage.</a:t>
            </a:r>
          </a:p>
          <a:p>
            <a:endParaRPr/>
          </a:p>
          <a:p>
            <a:r>
              <a:t>Enfin, pour le déploiement, j'utilise un serveur VPS sous Ubuntu, avec Gunicorn et nginx, Docker en local, et GitHub Actions pour automatiser les vérifications.</a:t>
            </a:r>
          </a:p>
        </p:txBody>
      </p:sp>
      <p:sp>
        <p:nvSpPr>
          <p:cNvPr id="4" name="Espace réservé du numéro de diapositive 3">
            <a:extLst>
              <a:ext uri="{FF2B5EF4-FFF2-40B4-BE49-F238E27FC236}">
                <a16:creationId xmlns:a16="http://schemas.microsoft.com/office/drawing/2014/main" id="{F41CCB56-175D-0442-7BB6-84762CE1BF65}"/>
              </a:ext>
            </a:extLst>
          </p:cNvPr>
          <p:cNvSpPr>
            <a:spLocks noGrp="1"/>
          </p:cNvSpPr>
          <p:nvPr>
            <p:ph type="sldNum" sz="quarter" idx="5"/>
          </p:nvPr>
        </p:nvSpPr>
        <p:spPr/>
        <p:txBody>
          <a:bodyPr/>
          <a:lstStyle/>
          <a:p>
            <a:fld id="{B61B8CCC-3852-4818-B35C-9D7E38B12BA3}" type="slidenum">
              <a:rPr lang="fr-FR" smtClean="0"/>
              <a:t>4</a:t>
            </a:fld>
            <a:endParaRPr lang="fr-FR"/>
          </a:p>
        </p:txBody>
      </p:sp>
    </p:spTree>
    <p:extLst>
      <p:ext uri="{BB962C8B-B14F-4D97-AF65-F5344CB8AC3E}">
        <p14:creationId xmlns:p14="http://schemas.microsoft.com/office/powerpoint/2010/main" val="1536386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L'application distingue trois profils d'utilisateurs.</a:t>
            </a:r>
          </a:p>
          <a:p>
            <a:endParaRPr/>
          </a:p>
          <a:p>
            <a:r>
              <a:t>Le visiteur, non authentifié, peut consulter le catalogue, parler au chatbot, et répondre au sondage.</a:t>
            </a:r>
          </a:p>
          <a:p>
            <a:endParaRPr/>
          </a:p>
          <a:p>
            <a:r>
              <a:t>L'utilisateur, une fois inscrit, peut en plus gérer son profil, ajouter des favoris, proposer un objet céleste, et commenter les fiches.</a:t>
            </a:r>
          </a:p>
          <a:p>
            <a:endParaRPr/>
          </a:p>
          <a:p>
            <a:r>
              <a:t>L'administrateur a un compte totalement séparé, avec sa propre table en base de données. Il gère le catalogue, valide les propositions, modère les commentaires, et gère les comptes. Par contre, il n'a pas accès aux favoris : ce sont des fonctionnalités réservées aux utilisateurs.</a:t>
            </a:r>
          </a:p>
          <a:p>
            <a:endParaRPr/>
          </a:p>
          <a:p>
            <a:r>
              <a:t>C'est une séparation stricte des droits, pensée dès le départ.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de commencer le zoning ou le wireframe, j'ai listé tous les écrans de l'application, organisés par niveau d'accès. Ça correspond exactement aux trois profils que je viens de présenter.</a:t>
            </a:r>
          </a:p>
          <a:p>
            <a:endParaRPr/>
          </a:p>
          <a:p>
            <a:r>
              <a:t>En vert, les écrans publics : l'accueil, le catalogue, la carte du système solaire, le sondage.</a:t>
            </a:r>
          </a:p>
          <a:p>
            <a:endParaRPr/>
          </a:p>
          <a:p>
            <a:r>
              <a:t>En bleu, les écrans réservés aux utilisateurs connectés : leur tableau de bord, leur profil, et le formulaire pour proposer un objet.</a:t>
            </a:r>
          </a:p>
          <a:p>
            <a:endParaRPr/>
          </a:p>
          <a:p>
            <a:r>
              <a:t>En rouge, l'espace administrateur, avec sa propre connexion, sa propre gestion du catalogue et des comptes.</a:t>
            </a:r>
          </a:p>
          <a:p>
            <a:endParaRPr/>
          </a:p>
          <a:p>
            <a:r>
              <a:t>Cette arborescence m'a servi de base pour la suite de la conception.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49FF0-9C3F-5004-EA4C-914B8678463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43505FE-BA39-4319-711D-B9C91BF85928}"/>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FE3A84B-0912-AE61-638D-F016A859B852}"/>
              </a:ext>
            </a:extLst>
          </p:cNvPr>
          <p:cNvSpPr>
            <a:spLocks noGrp="1"/>
          </p:cNvSpPr>
          <p:nvPr>
            <p:ph type="body" idx="1"/>
          </p:nvPr>
        </p:nvSpPr>
        <p:spPr/>
        <p:txBody>
          <a:bodyPr/>
          <a:lstStyle/>
          <a:p>
            <a:r>
              <a:t>Avant de toucher à une seule ligne de code, j'ai commencé par la conception.</a:t>
            </a:r>
          </a:p>
          <a:p>
            <a:endParaRPr/>
          </a:p>
          <a:p>
            <a:r>
              <a:t>Le zoning est la première étape. C'est un schéma simple qui découpe la page en grandes zones, sans entrer dans les détails visuels.</a:t>
            </a:r>
          </a:p>
          <a:p>
            <a:endParaRPr/>
          </a:p>
          <a:p>
            <a:r>
              <a:t>On y voit l'en-tête avec le logo et la navigation, une zone de présentation, une zone de recherche, la grille d'objets célestes, et le pied de page.</a:t>
            </a:r>
          </a:p>
          <a:p>
            <a:endParaRPr/>
          </a:p>
          <a:p>
            <a:r>
              <a:t>Cette étape permet de valider la structure de la page avant de travailler le design.</a:t>
            </a:r>
          </a:p>
        </p:txBody>
      </p:sp>
      <p:sp>
        <p:nvSpPr>
          <p:cNvPr id="4" name="Espace réservé du numéro de diapositive 3">
            <a:extLst>
              <a:ext uri="{FF2B5EF4-FFF2-40B4-BE49-F238E27FC236}">
                <a16:creationId xmlns:a16="http://schemas.microsoft.com/office/drawing/2014/main" id="{9DAC5F02-5066-F946-AA0B-C28BB86199CC}"/>
              </a:ext>
            </a:extLst>
          </p:cNvPr>
          <p:cNvSpPr>
            <a:spLocks noGrp="1"/>
          </p:cNvSpPr>
          <p:nvPr>
            <p:ph type="sldNum" sz="quarter" idx="5"/>
          </p:nvPr>
        </p:nvSpPr>
        <p:spPr/>
        <p:txBody>
          <a:bodyPr/>
          <a:lstStyle/>
          <a:p>
            <a:fld id="{B61B8CCC-3852-4818-B35C-9D7E38B12BA3}" type="slidenum">
              <a:rPr lang="fr-FR" smtClean="0"/>
              <a:t>7</a:t>
            </a:fld>
            <a:endParaRPr lang="fr-FR"/>
          </a:p>
        </p:txBody>
      </p:sp>
    </p:spTree>
    <p:extLst>
      <p:ext uri="{BB962C8B-B14F-4D97-AF65-F5344CB8AC3E}">
        <p14:creationId xmlns:p14="http://schemas.microsoft.com/office/powerpoint/2010/main" val="33597341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BF769-9647-D3EA-E113-799A9EAA3E6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FD9ED82-6CE9-1D7B-1CC6-1DF2F0CAE10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B42A6216-5E9D-A43D-E145-A02AD26AFBF2}"/>
              </a:ext>
            </a:extLst>
          </p:cNvPr>
          <p:cNvSpPr>
            <a:spLocks noGrp="1"/>
          </p:cNvSpPr>
          <p:nvPr>
            <p:ph type="body" idx="1"/>
          </p:nvPr>
        </p:nvSpPr>
        <p:spPr/>
        <p:txBody>
          <a:bodyPr/>
          <a:lstStyle/>
          <a:p>
            <a:r>
              <a:t>Une fois le zoning validé, je suis passé au wireframe. C'est une maquette simple, sans couleurs ni images, qui montre la structure détaillée de la page.</a:t>
            </a:r>
          </a:p>
          <a:p>
            <a:endParaRPr/>
          </a:p>
          <a:p>
            <a:r>
              <a:t>On commence à voir les vrais éléments : le logo, les liens de navigation, la barre de recherche avec ses filtres, et la grille de cartes pour les objets célestes.</a:t>
            </a:r>
          </a:p>
          <a:p>
            <a:endParaRPr/>
          </a:p>
          <a:p>
            <a:r>
              <a:t>Le but du wireframe, c'est de valider l'ergonomie avant de passer au design final.</a:t>
            </a:r>
          </a:p>
        </p:txBody>
      </p:sp>
      <p:sp>
        <p:nvSpPr>
          <p:cNvPr id="4" name="Espace réservé du numéro de diapositive 3">
            <a:extLst>
              <a:ext uri="{FF2B5EF4-FFF2-40B4-BE49-F238E27FC236}">
                <a16:creationId xmlns:a16="http://schemas.microsoft.com/office/drawing/2014/main" id="{D7920B49-CFE6-89D7-DFCA-B641CFE44BD4}"/>
              </a:ext>
            </a:extLst>
          </p:cNvPr>
          <p:cNvSpPr>
            <a:spLocks noGrp="1"/>
          </p:cNvSpPr>
          <p:nvPr>
            <p:ph type="sldNum" sz="quarter" idx="5"/>
          </p:nvPr>
        </p:nvSpPr>
        <p:spPr/>
        <p:txBody>
          <a:bodyPr/>
          <a:lstStyle/>
          <a:p>
            <a:fld id="{B61B8CCC-3852-4818-B35C-9D7E38B12BA3}" type="slidenum">
              <a:rPr lang="fr-FR" smtClean="0"/>
              <a:t>8</a:t>
            </a:fld>
            <a:endParaRPr lang="fr-FR"/>
          </a:p>
        </p:txBody>
      </p:sp>
    </p:spTree>
    <p:extLst>
      <p:ext uri="{BB962C8B-B14F-4D97-AF65-F5344CB8AC3E}">
        <p14:creationId xmlns:p14="http://schemas.microsoft.com/office/powerpoint/2010/main" val="161570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BDAF1-5DB9-81B5-8489-C741D145AB4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EA4E21A-1E96-05AC-6421-7C4531C9AC8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A4604BAC-1032-8E6F-3B27-D0981051F4EB}"/>
              </a:ext>
            </a:extLst>
          </p:cNvPr>
          <p:cNvSpPr>
            <a:spLocks noGrp="1"/>
          </p:cNvSpPr>
          <p:nvPr>
            <p:ph type="body" idx="1"/>
          </p:nvPr>
        </p:nvSpPr>
        <p:spPr/>
        <p:txBody>
          <a:bodyPr/>
          <a:lstStyle/>
          <a:p>
            <a:r>
              <a:t>Avant la maquette finale, j'ai défini la charte graphique du projet, pour fixer l'identité visuelle.</a:t>
            </a:r>
          </a:p>
          <a:p>
            <a:endParaRPr/>
          </a:p>
          <a:p>
            <a:r>
              <a:t>Pour les couleurs, j'ai choisi un univers sombre avec deux bleus nuit, qui donnent une ambiance spatiale. La couleur d'accent est un orange vif, utilisé pour les boutons et les éléments interactifs. Ce contraste rend le site lisible et donne une identité visuelle forte.</a:t>
            </a:r>
          </a:p>
          <a:p>
            <a:endParaRPr/>
          </a:p>
          <a:p>
            <a:r>
              <a:t>Pour la typographie, j'ai choisi une seule police, Inter, utilisée partout sur le site, pour garder une cohérence visuelle.</a:t>
            </a:r>
          </a:p>
          <a:p>
            <a:endParaRPr/>
          </a:p>
          <a:p>
            <a:r>
              <a:t>Le logo représente une planète avec ses anneaux, entourée d'étoiles, en lien avec le thème du projet.</a:t>
            </a:r>
          </a:p>
        </p:txBody>
      </p:sp>
      <p:sp>
        <p:nvSpPr>
          <p:cNvPr id="4" name="Espace réservé du numéro de diapositive 3">
            <a:extLst>
              <a:ext uri="{FF2B5EF4-FFF2-40B4-BE49-F238E27FC236}">
                <a16:creationId xmlns:a16="http://schemas.microsoft.com/office/drawing/2014/main" id="{E8FAF0E0-B749-DC22-9486-F3E2B135BC05}"/>
              </a:ext>
            </a:extLst>
          </p:cNvPr>
          <p:cNvSpPr>
            <a:spLocks noGrp="1"/>
          </p:cNvSpPr>
          <p:nvPr>
            <p:ph type="sldNum" sz="quarter" idx="5"/>
          </p:nvPr>
        </p:nvSpPr>
        <p:spPr/>
        <p:txBody>
          <a:bodyPr/>
          <a:lstStyle/>
          <a:p>
            <a:fld id="{B61B8CCC-3852-4818-B35C-9D7E38B12BA3}" type="slidenum">
              <a:rPr lang="fr-FR" smtClean="0"/>
              <a:t>9</a:t>
            </a:fld>
            <a:endParaRPr lang="fr-FR"/>
          </a:p>
        </p:txBody>
      </p:sp>
    </p:spTree>
    <p:extLst>
      <p:ext uri="{BB962C8B-B14F-4D97-AF65-F5344CB8AC3E}">
        <p14:creationId xmlns:p14="http://schemas.microsoft.com/office/powerpoint/2010/main" val="3270048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CA5B2-7483-F6CA-7A5E-88868F381DA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83CFC16-5055-1D67-C0B1-E62EEA8E130B}"/>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E39C8096-D1F3-F858-C1D1-8B2142CB78BE}"/>
              </a:ext>
            </a:extLst>
          </p:cNvPr>
          <p:cNvSpPr>
            <a:spLocks noGrp="1"/>
          </p:cNvSpPr>
          <p:nvPr>
            <p:ph type="body" idx="1"/>
          </p:nvPr>
        </p:nvSpPr>
        <p:spPr/>
        <p:txBody>
          <a:bodyPr/>
          <a:lstStyle/>
          <a:p>
            <a:r>
              <a:t>Voici la maquette finale de l'application.</a:t>
            </a:r>
          </a:p>
          <a:p>
            <a:endParaRPr/>
          </a:p>
          <a:p>
            <a:r>
              <a:t>C'est la dernière étape de la conception. On retrouve les couleurs de la charte graphique, la vraie typographie, et la disposition exacte des éléments.</a:t>
            </a:r>
          </a:p>
          <a:p>
            <a:endParaRPr/>
          </a:p>
          <a:p>
            <a:r>
              <a:t>En haut, le header avec le logo et la navigation. En dessous, une grande section d'accueil avec un fond étoilé animé. Au centre, la barre de recherche avec ses filtres. Et enfin la grille qui affiche les objets célestes avec leur image et leur description.</a:t>
            </a:r>
          </a:p>
          <a:p>
            <a:endParaRPr/>
          </a:p>
          <a:p>
            <a:r>
              <a:t>Mon objectif était de créer une interface immersive, moderne, et accessible à tout le monde, même sans connaissances en astronomie. Et si vous comparez cette maquette avec le site en production, le résultat final est très fidèle.</a:t>
            </a:r>
          </a:p>
        </p:txBody>
      </p:sp>
      <p:sp>
        <p:nvSpPr>
          <p:cNvPr id="4" name="Espace réservé du numéro de diapositive 3">
            <a:extLst>
              <a:ext uri="{FF2B5EF4-FFF2-40B4-BE49-F238E27FC236}">
                <a16:creationId xmlns:a16="http://schemas.microsoft.com/office/drawing/2014/main" id="{1DFD9367-E3AC-77D7-0BD0-4F7F7E44E2C9}"/>
              </a:ext>
            </a:extLst>
          </p:cNvPr>
          <p:cNvSpPr>
            <a:spLocks noGrp="1"/>
          </p:cNvSpPr>
          <p:nvPr>
            <p:ph type="sldNum" sz="quarter" idx="5"/>
          </p:nvPr>
        </p:nvSpPr>
        <p:spPr/>
        <p:txBody>
          <a:bodyPr/>
          <a:lstStyle/>
          <a:p>
            <a:fld id="{B61B8CCC-3852-4818-B35C-9D7E38B12BA3}" type="slidenum">
              <a:rPr lang="fr-FR" smtClean="0"/>
              <a:t>10</a:t>
            </a:fld>
            <a:endParaRPr lang="fr-FR"/>
          </a:p>
        </p:txBody>
      </p:sp>
    </p:spTree>
    <p:extLst>
      <p:ext uri="{BB962C8B-B14F-4D97-AF65-F5344CB8AC3E}">
        <p14:creationId xmlns:p14="http://schemas.microsoft.com/office/powerpoint/2010/main" val="4291154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773CA-77B3-F82F-A8E4-F623EE88FC0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73F0E91-3B34-1BA7-61A5-DD132BE9A0B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BE210DC-DA53-7D03-4326-CB120E80412C}"/>
              </a:ext>
            </a:extLst>
          </p:cNvPr>
          <p:cNvSpPr>
            <a:spLocks noGrp="1"/>
          </p:cNvSpPr>
          <p:nvPr>
            <p:ph type="body" idx="1"/>
          </p:nvPr>
        </p:nvSpPr>
        <p:spPr/>
        <p:txBody>
          <a:bodyPr/>
          <a:lstStyle/>
          <a:p>
            <a:r>
              <a:t>Voici le diagramme de cas d'utilisation du projet. Il montre les interactions possibles entre les acteurs et l'application.</a:t>
            </a:r>
          </a:p>
          <a:p>
            <a:endParaRPr/>
          </a:p>
          <a:p>
            <a:r>
              <a:t>J'ai deux acteurs. L'utilisateur peut consulter le catalogue, parler au chatbot, s'inscrire, proposer un objet céleste, gérer ses favoris, et commenter.</a:t>
            </a:r>
          </a:p>
          <a:p>
            <a:endParaRPr/>
          </a:p>
          <a:p>
            <a:r>
              <a:t>L'administrateur a des droits en plus : il peut gérer le catalogue, valider les propositions, modérer les commentaires, et gérer les comptes. Toutes les actions sensibles demandent d'être connecté.</a:t>
            </a:r>
          </a:p>
          <a:p>
            <a:endParaRPr/>
          </a:p>
          <a:p>
            <a:r>
              <a:t>Ce diagramme m'a servi de base pour cadrer les fonctionnalités avant de concevoir la base de données.</a:t>
            </a:r>
          </a:p>
        </p:txBody>
      </p:sp>
      <p:sp>
        <p:nvSpPr>
          <p:cNvPr id="4" name="Espace réservé du numéro de diapositive 3">
            <a:extLst>
              <a:ext uri="{FF2B5EF4-FFF2-40B4-BE49-F238E27FC236}">
                <a16:creationId xmlns:a16="http://schemas.microsoft.com/office/drawing/2014/main" id="{0A85CE0F-3836-E52C-E82E-58FF2ED320D2}"/>
              </a:ext>
            </a:extLst>
          </p:cNvPr>
          <p:cNvSpPr>
            <a:spLocks noGrp="1"/>
          </p:cNvSpPr>
          <p:nvPr>
            <p:ph type="sldNum" sz="quarter" idx="5"/>
          </p:nvPr>
        </p:nvSpPr>
        <p:spPr/>
        <p:txBody>
          <a:bodyPr/>
          <a:lstStyle/>
          <a:p>
            <a:fld id="{B61B8CCC-3852-4818-B35C-9D7E38B12BA3}" type="slidenum">
              <a:rPr lang="fr-FR" smtClean="0"/>
              <a:t>11</a:t>
            </a:fld>
            <a:endParaRPr lang="fr-FR"/>
          </a:p>
        </p:txBody>
      </p:sp>
    </p:spTree>
    <p:extLst>
      <p:ext uri="{BB962C8B-B14F-4D97-AF65-F5344CB8AC3E}">
        <p14:creationId xmlns:p14="http://schemas.microsoft.com/office/powerpoint/2010/main" val="5591128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ABC61-1596-9F69-A3E1-87E6D50E2FD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31EBF8D-7D38-87E3-6501-B721B707D39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78877F5-7AAF-5941-A431-16BA60E79626}"/>
              </a:ext>
            </a:extLst>
          </p:cNvPr>
          <p:cNvSpPr>
            <a:spLocks noGrp="1"/>
          </p:cNvSpPr>
          <p:nvPr>
            <p:ph type="body" idx="1"/>
          </p:nvPr>
        </p:nvSpPr>
        <p:spPr/>
        <p:txBody>
          <a:bodyPr/>
          <a:lstStyle/>
          <a:p>
            <a:r>
              <a:t>Voici l'architecture du projet. J'ai choisi le pattern MVC, Modèle Vue Contrôleur, pour bien séparer les responsabilités.</a:t>
            </a:r>
          </a:p>
          <a:p>
            <a:endParaRPr/>
          </a:p>
          <a:p>
            <a:r>
              <a:t>Le Modèle, c'est la couche données. Il s'appuie sur PostgreSQL pour tout ce qui est relationnel, et MongoDB pour les commentaires.</a:t>
            </a:r>
          </a:p>
          <a:p>
            <a:endParaRPr/>
          </a:p>
          <a:p>
            <a:r>
              <a:t>Le Contrôleur reçoit les requêtes. J'ai organisé les routes en sept Blueprints Flask, un par domaine : les pages publiques, la connexion, l'espace utilisateur, l'administration, le chatbot, les commentaires, et le système solaire.</a:t>
            </a:r>
          </a:p>
          <a:p>
            <a:endParaRPr/>
          </a:p>
          <a:p>
            <a:r>
              <a:t>La Vue, c'est ce que l'utilisateur voit, avec les templates Jinja2, sans aucune logique métier.</a:t>
            </a:r>
          </a:p>
          <a:p>
            <a:endParaRPr/>
          </a:p>
          <a:p>
            <a:r>
              <a:t>Cette séparation limite l'impact d'un changement : modifier l'apparence d'une page ne touche que la vue.</a:t>
            </a:r>
          </a:p>
        </p:txBody>
      </p:sp>
      <p:sp>
        <p:nvSpPr>
          <p:cNvPr id="4" name="Espace réservé du numéro de diapositive 3">
            <a:extLst>
              <a:ext uri="{FF2B5EF4-FFF2-40B4-BE49-F238E27FC236}">
                <a16:creationId xmlns:a16="http://schemas.microsoft.com/office/drawing/2014/main" id="{3B24738D-C1D2-2A86-4D02-EC58B48F7AC9}"/>
              </a:ext>
            </a:extLst>
          </p:cNvPr>
          <p:cNvSpPr>
            <a:spLocks noGrp="1"/>
          </p:cNvSpPr>
          <p:nvPr>
            <p:ph type="sldNum" sz="quarter" idx="5"/>
          </p:nvPr>
        </p:nvSpPr>
        <p:spPr/>
        <p:txBody>
          <a:bodyPr/>
          <a:lstStyle/>
          <a:p>
            <a:fld id="{B61B8CCC-3852-4818-B35C-9D7E38B12BA3}" type="slidenum">
              <a:rPr lang="fr-FR" smtClean="0"/>
              <a:t>12</a:t>
            </a:fld>
            <a:endParaRPr lang="fr-FR"/>
          </a:p>
        </p:txBody>
      </p:sp>
    </p:spTree>
    <p:extLst>
      <p:ext uri="{BB962C8B-B14F-4D97-AF65-F5344CB8AC3E}">
        <p14:creationId xmlns:p14="http://schemas.microsoft.com/office/powerpoint/2010/main" val="6898312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86310-3E5B-C750-8768-39FB933B15E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346EB51-10BB-12FA-47F1-AF273AAE2FC3}"/>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04FC93A7-0AE2-948C-D57F-123AC9E20744}"/>
              </a:ext>
            </a:extLst>
          </p:cNvPr>
          <p:cNvSpPr>
            <a:spLocks noGrp="1"/>
          </p:cNvSpPr>
          <p:nvPr>
            <p:ph type="body" idx="1"/>
          </p:nvPr>
        </p:nvSpPr>
        <p:spPr/>
        <p:txBody>
          <a:bodyPr/>
          <a:lstStyle/>
          <a:p>
            <a:r>
              <a:t>Voici le Modèle Conceptuel de Données, la première étape de la méthode Merise. Il représente les données de façon abstraite.</a:t>
            </a:r>
          </a:p>
          <a:p>
            <a:endParaRPr/>
          </a:p>
          <a:p>
            <a:r>
              <a:t>J'ai identifié sept entités : utilisateur, admin, objet céleste, catégorie, proposition, favori, et saisir.</a:t>
            </a:r>
          </a:p>
          <a:p>
            <a:endParaRPr/>
          </a:p>
          <a:p>
            <a:r>
              <a:t>Deux associations sont plusieurs-à-plusieurs. La première, entre admin et objet céleste, me sert à savoir quel administrateur a saisi ou validé quel objet. La deuxième, entre utilisateur et objet céleste, gère les favoris.</a:t>
            </a:r>
          </a:p>
          <a:p>
            <a:endParaRPr/>
          </a:p>
          <a:p>
            <a:r>
              <a:t>Les autres relations sont plus classiques, comme un objet qui appartient à une seule catégorie.</a:t>
            </a:r>
          </a:p>
        </p:txBody>
      </p:sp>
      <p:sp>
        <p:nvSpPr>
          <p:cNvPr id="4" name="Espace réservé du numéro de diapositive 3">
            <a:extLst>
              <a:ext uri="{FF2B5EF4-FFF2-40B4-BE49-F238E27FC236}">
                <a16:creationId xmlns:a16="http://schemas.microsoft.com/office/drawing/2014/main" id="{4B1CE69F-A467-05D5-F466-BD85AB0DB305}"/>
              </a:ext>
            </a:extLst>
          </p:cNvPr>
          <p:cNvSpPr>
            <a:spLocks noGrp="1"/>
          </p:cNvSpPr>
          <p:nvPr>
            <p:ph type="sldNum" sz="quarter" idx="5"/>
          </p:nvPr>
        </p:nvSpPr>
        <p:spPr/>
        <p:txBody>
          <a:bodyPr/>
          <a:lstStyle/>
          <a:p>
            <a:fld id="{B61B8CCC-3852-4818-B35C-9D7E38B12BA3}" type="slidenum">
              <a:rPr lang="fr-FR" smtClean="0"/>
              <a:t>13</a:t>
            </a:fld>
            <a:endParaRPr lang="fr-FR"/>
          </a:p>
        </p:txBody>
      </p:sp>
    </p:spTree>
    <p:extLst>
      <p:ext uri="{BB962C8B-B14F-4D97-AF65-F5344CB8AC3E}">
        <p14:creationId xmlns:p14="http://schemas.microsoft.com/office/powerpoint/2010/main" val="2243880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20C28-2B94-BCD6-2526-E9D25544715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90F3F67-ABDC-6738-B1C9-BE907307981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786B545D-4195-B567-85AB-58FC3BFC2E16}"/>
              </a:ext>
            </a:extLst>
          </p:cNvPr>
          <p:cNvSpPr>
            <a:spLocks noGrp="1"/>
          </p:cNvSpPr>
          <p:nvPr>
            <p:ph type="body" idx="1"/>
          </p:nvPr>
        </p:nvSpPr>
        <p:spPr/>
        <p:txBody>
          <a:bodyPr/>
          <a:lstStyle/>
          <a:p>
            <a:r>
              <a:t>Voici le Modèle Logique de Données, la deuxième étape de la méthode Merise. On traduit ici le schéma conceptuel en tables concrètes.</a:t>
            </a:r>
          </a:p>
          <a:p>
            <a:endParaRPr/>
          </a:p>
          <a:p>
            <a:r>
              <a:t>J'ai sept tables. Objet céleste est reliée à catégorie. La table favori fait le lien entre utilisateur et objet céleste. La table proposition est reliée à utilisateur et à catégorie. Et la table saisir fait le lien entre admin et objet céleste, pour la traçabilité.</a:t>
            </a:r>
          </a:p>
          <a:p>
            <a:endParaRPr/>
          </a:p>
          <a:p>
            <a:r>
              <a:t>Les mots de passe sont toujours stockés sous forme de hash, jamais en clair.</a:t>
            </a:r>
          </a:p>
        </p:txBody>
      </p:sp>
      <p:sp>
        <p:nvSpPr>
          <p:cNvPr id="4" name="Espace réservé du numéro de diapositive 3">
            <a:extLst>
              <a:ext uri="{FF2B5EF4-FFF2-40B4-BE49-F238E27FC236}">
                <a16:creationId xmlns:a16="http://schemas.microsoft.com/office/drawing/2014/main" id="{D98AAD6C-A597-4B1D-24B5-312269FADC89}"/>
              </a:ext>
            </a:extLst>
          </p:cNvPr>
          <p:cNvSpPr>
            <a:spLocks noGrp="1"/>
          </p:cNvSpPr>
          <p:nvPr>
            <p:ph type="sldNum" sz="quarter" idx="5"/>
          </p:nvPr>
        </p:nvSpPr>
        <p:spPr/>
        <p:txBody>
          <a:bodyPr/>
          <a:lstStyle/>
          <a:p>
            <a:fld id="{B61B8CCC-3852-4818-B35C-9D7E38B12BA3}" type="slidenum">
              <a:rPr lang="fr-FR" smtClean="0"/>
              <a:t>14</a:t>
            </a:fld>
            <a:endParaRPr lang="fr-FR"/>
          </a:p>
        </p:txBody>
      </p:sp>
    </p:spTree>
    <p:extLst>
      <p:ext uri="{BB962C8B-B14F-4D97-AF65-F5344CB8AC3E}">
        <p14:creationId xmlns:p14="http://schemas.microsoft.com/office/powerpoint/2010/main" val="3953864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933D8-DF80-4524-5580-2B2CF31A153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255B863-EB9B-BDD3-6D1E-AE81B449F8F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EFA15890-0C32-8C0D-01FD-A4BDAB8D3F52}"/>
              </a:ext>
            </a:extLst>
          </p:cNvPr>
          <p:cNvSpPr>
            <a:spLocks noGrp="1"/>
          </p:cNvSpPr>
          <p:nvPr>
            <p:ph type="body" idx="1"/>
          </p:nvPr>
        </p:nvSpPr>
        <p:spPr/>
        <p:txBody>
          <a:bodyPr/>
          <a:lstStyle/>
          <a:p>
            <a:r>
              <a:t>Voici le Modèle Physique de Données, la dernière étape de la méthode Merise. On traduit ici le schéma en vraies instructions SQL, pour PostgreSQL.</a:t>
            </a:r>
          </a:p>
          <a:p>
            <a:endParaRPr/>
          </a:p>
          <a:p>
            <a:r>
              <a:t>On retrouve les sept tables avec toutes leurs contraintes : les clés primaires, les clés étrangères, les valeurs par défaut, comme le statut 'en attente' pour une proposition, et les contraintes d'unicité sur le pseudo ou l'email.</a:t>
            </a:r>
          </a:p>
          <a:p>
            <a:endParaRPr/>
          </a:p>
          <a:p>
            <a:r>
              <a:t>Ce schéma correspond directement au script qui crée mes tables.</a:t>
            </a:r>
          </a:p>
        </p:txBody>
      </p:sp>
      <p:sp>
        <p:nvSpPr>
          <p:cNvPr id="4" name="Espace réservé du numéro de diapositive 3">
            <a:extLst>
              <a:ext uri="{FF2B5EF4-FFF2-40B4-BE49-F238E27FC236}">
                <a16:creationId xmlns:a16="http://schemas.microsoft.com/office/drawing/2014/main" id="{B70D7ECA-3F9F-C143-9E2F-4BFCFBDE16A8}"/>
              </a:ext>
            </a:extLst>
          </p:cNvPr>
          <p:cNvSpPr>
            <a:spLocks noGrp="1"/>
          </p:cNvSpPr>
          <p:nvPr>
            <p:ph type="sldNum" sz="quarter" idx="5"/>
          </p:nvPr>
        </p:nvSpPr>
        <p:spPr/>
        <p:txBody>
          <a:bodyPr/>
          <a:lstStyle/>
          <a:p>
            <a:fld id="{B61B8CCC-3852-4818-B35C-9D7E38B12BA3}" type="slidenum">
              <a:rPr lang="fr-FR" smtClean="0"/>
              <a:t>15</a:t>
            </a:fld>
            <a:endParaRPr lang="fr-FR"/>
          </a:p>
        </p:txBody>
      </p:sp>
    </p:spTree>
    <p:extLst>
      <p:ext uri="{BB962C8B-B14F-4D97-AF65-F5344CB8AC3E}">
        <p14:creationId xmlns:p14="http://schemas.microsoft.com/office/powerpoint/2010/main" val="199107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Toute la logique d'accès aux données se trouve dans le Modèle. Le Contrôleur ne contient aucune requête, ni SQL ni NoSQL.</a:t>
            </a:r>
          </a:p>
          <a:p>
            <a:endParaRPr/>
          </a:p>
          <a:p>
            <a:r>
              <a:t>Je n'utilise pas d'ORM : les requêtes PostgreSQL sont écrites directement avec la librairie psycopg2, et les documents MongoDB sont manipulés avec pymongo.</a:t>
            </a:r>
          </a:p>
          <a:p>
            <a:endParaRPr/>
          </a:p>
          <a:p>
            <a:r>
              <a:t>Côté PostgreSQL, chaque fonction qui modifie la base annule automatiquement les changements en cas d'erreur, pour ne jamais laisser la base dans un état à moitié modifié.</a:t>
            </a:r>
          </a:p>
          <a:p>
            <a:endParaRPr/>
          </a:p>
          <a:p>
            <a:r>
              <a:t>Côté MongoDB, chaque objet céleste a un seul document, qui contient tous ses commentaires et leurs réponses. Le service qui gère les commentaires récupère ce document, le modifie, puis le réenregistre.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8D227-4650-0494-BCF7-0F1334130EB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1079968-BC18-40A7-B563-1AB218BE7D8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DF7C333-2C56-D5EC-1BCE-143930F600DD}"/>
              </a:ext>
            </a:extLst>
          </p:cNvPr>
          <p:cNvSpPr>
            <a:spLocks noGrp="1"/>
          </p:cNvSpPr>
          <p:nvPr>
            <p:ph type="body" idx="1"/>
          </p:nvPr>
        </p:nvSpPr>
        <p:spPr/>
        <p:txBody>
          <a:bodyPr/>
          <a:lstStyle/>
          <a:p>
            <a:r>
              <a:t>Voici un exemple concret de mon front-end : le bouton favori, en AJAX.</a:t>
            </a:r>
          </a:p>
          <a:p>
            <a:endParaRPr/>
          </a:p>
          <a:p>
            <a:r>
              <a:t>C'est une fonctionnalité centrale du site. Quand l'utilisateur clique sur le cœur d'un objet céleste, JavaScript envoie une requête au serveur, sans recharger la page.</a:t>
            </a:r>
          </a:p>
          <a:p>
            <a:endParaRPr/>
          </a:p>
          <a:p>
            <a:r>
              <a:t>Cette route est protégée : il faut être connecté. Le Modèle fait le vrai travail, il ajoute ou retire le favori en base, et renvoie le nouvel état. Le Contrôleur se contente de transformer ça en réponse JSON.</a:t>
            </a:r>
          </a:p>
          <a:p>
            <a:endParaRPr/>
          </a:p>
          <a:p>
            <a:r>
              <a:t>Côté JavaScript, cette réponse permet de mettre à jour le cœur et le compteur immédiatement. C'est un bon exemple de comment le front-end et le back-end communiquent.</a:t>
            </a:r>
          </a:p>
        </p:txBody>
      </p:sp>
      <p:sp>
        <p:nvSpPr>
          <p:cNvPr id="4" name="Espace réservé du numéro de diapositive 3">
            <a:extLst>
              <a:ext uri="{FF2B5EF4-FFF2-40B4-BE49-F238E27FC236}">
                <a16:creationId xmlns:a16="http://schemas.microsoft.com/office/drawing/2014/main" id="{FC7FBB81-FB7E-0406-CAAF-FFACF2E5E2A0}"/>
              </a:ext>
            </a:extLst>
          </p:cNvPr>
          <p:cNvSpPr>
            <a:spLocks noGrp="1"/>
          </p:cNvSpPr>
          <p:nvPr>
            <p:ph type="sldNum" sz="quarter" idx="5"/>
          </p:nvPr>
        </p:nvSpPr>
        <p:spPr/>
        <p:txBody>
          <a:bodyPr/>
          <a:lstStyle/>
          <a:p>
            <a:fld id="{B61B8CCC-3852-4818-B35C-9D7E38B12BA3}" type="slidenum">
              <a:rPr lang="fr-FR" smtClean="0"/>
              <a:t>17</a:t>
            </a:fld>
            <a:endParaRPr lang="fr-FR"/>
          </a:p>
        </p:txBody>
      </p:sp>
    </p:spTree>
    <p:extLst>
      <p:ext uri="{BB962C8B-B14F-4D97-AF65-F5344CB8AC3E}">
        <p14:creationId xmlns:p14="http://schemas.microsoft.com/office/powerpoint/2010/main" val="11732442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061FD-4C92-FFDA-D91C-561AE535444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47F3F5C-12C4-3AA8-C465-45D7DA5D233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69E7CE81-C855-3342-672B-0C96C87F6C4D}"/>
              </a:ext>
            </a:extLst>
          </p:cNvPr>
          <p:cNvSpPr>
            <a:spLocks noGrp="1"/>
          </p:cNvSpPr>
          <p:nvPr>
            <p:ph type="body" idx="1"/>
          </p:nvPr>
        </p:nvSpPr>
        <p:spPr/>
        <p:txBody>
          <a:bodyPr/>
          <a:lstStyle/>
          <a:p>
            <a:r>
              <a:t>Pour le back-end, j'ai choisi cet extrait du chatbot, parce qu'il montre bien comment Flask traite une requête du début à la fin.</a:t>
            </a:r>
          </a:p>
          <a:p>
            <a:endParaRPr/>
          </a:p>
          <a:p>
            <a:r>
              <a:t>Cette fonction reçoit le message de l'utilisateur, vérifie que les données sont valides, puis délègue tout le reste à une classe dédiée, dans le Modèle.</a:t>
            </a:r>
          </a:p>
          <a:p>
            <a:endParaRPr/>
          </a:p>
          <a:p>
            <a:r>
              <a:t>C'est cette classe qui valide le message, par exemple s'il est vide ou trop long, et qui appelle Gemini. Si quelque chose ne va pas, elle prévient le Contrôleur, qui renvoie le bon code d'erreur.</a:t>
            </a:r>
          </a:p>
          <a:p>
            <a:endParaRPr/>
          </a:p>
          <a:p>
            <a:r>
              <a:t>C'est le pattern MVC en action : le Contrôleur ne connaît pas les détails de Gemini, il délègue au Modèle et traduit juste le résultat en réponse.</a:t>
            </a:r>
          </a:p>
          <a:p>
            <a:endParaRPr/>
          </a:p>
          <a:p>
            <a:r>
              <a:t>Au total, le back-end compte sept Blueprints Flask, chacun responsable d'une partie de l'application.</a:t>
            </a:r>
          </a:p>
        </p:txBody>
      </p:sp>
      <p:sp>
        <p:nvSpPr>
          <p:cNvPr id="4" name="Espace réservé du numéro de diapositive 3">
            <a:extLst>
              <a:ext uri="{FF2B5EF4-FFF2-40B4-BE49-F238E27FC236}">
                <a16:creationId xmlns:a16="http://schemas.microsoft.com/office/drawing/2014/main" id="{FD77251B-FBCB-08B9-A31E-2E7F08A54982}"/>
              </a:ext>
            </a:extLst>
          </p:cNvPr>
          <p:cNvSpPr>
            <a:spLocks noGrp="1"/>
          </p:cNvSpPr>
          <p:nvPr>
            <p:ph type="sldNum" sz="quarter" idx="5"/>
          </p:nvPr>
        </p:nvSpPr>
        <p:spPr/>
        <p:txBody>
          <a:bodyPr/>
          <a:lstStyle/>
          <a:p>
            <a:fld id="{B61B8CCC-3852-4818-B35C-9D7E38B12BA3}" type="slidenum">
              <a:rPr lang="fr-FR" smtClean="0"/>
              <a:t>18</a:t>
            </a:fld>
            <a:endParaRPr lang="fr-FR"/>
          </a:p>
        </p:txBody>
      </p:sp>
    </p:spTree>
    <p:extLst>
      <p:ext uri="{BB962C8B-B14F-4D97-AF65-F5344CB8AC3E}">
        <p14:creationId xmlns:p14="http://schemas.microsoft.com/office/powerpoint/2010/main" val="4218479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quelques choix que j'ai faits pour limiter l'empreinte de l'application.</a:t>
            </a:r>
          </a:p>
          <a:p>
            <a:endParaRPr/>
          </a:p>
          <a:p>
            <a:r>
              <a:t>Sur les images, j'utilise le chargement différé : seules les images visibles à l'écran sont chargées.</a:t>
            </a:r>
          </a:p>
          <a:p>
            <a:endParaRPr/>
          </a:p>
          <a:p>
            <a:r>
              <a:t>Je ne stocke pas non plus d'image de remplacement pour chaque objet sans photo. Elle est générée à la volée, seulement quand on en a besoin.</a:t>
            </a:r>
          </a:p>
          <a:p>
            <a:endParaRPr/>
          </a:p>
          <a:p>
            <a:r>
              <a:t>Côté base de données, les pages ne récupèrent que les colonnes nécessaires à l'affichage, pas toute la table.</a:t>
            </a:r>
          </a:p>
          <a:p>
            <a:endParaRPr/>
          </a:p>
          <a:p>
            <a:r>
              <a:t>Et je n'utilise pas de framework JavaScript lourd. Three.js, pour le rendu 3D, n'est chargé que sur la page du système solaire.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93B96-2E00-4642-E237-C78DDE2E57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0F94976-3880-55BE-7506-6C30AA7BC63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E9B1D58D-118E-A994-2AC5-BC5870EBECF2}"/>
              </a:ext>
            </a:extLst>
          </p:cNvPr>
          <p:cNvSpPr>
            <a:spLocks noGrp="1"/>
          </p:cNvSpPr>
          <p:nvPr>
            <p:ph type="body" idx="1"/>
          </p:nvPr>
        </p:nvSpPr>
        <p:spPr/>
        <p:txBody>
          <a:bodyPr/>
          <a:lstStyle/>
          <a:p>
            <a:r>
              <a:t>J'ai développé plusieurs APIs REST dans mon application. Une API REST, c'est simplement un endpoint qui reçoit une requête et renvoie une réponse en JSON, sans recharger la page.</a:t>
            </a:r>
          </a:p>
          <a:p>
            <a:endParaRPr/>
          </a:p>
          <a:p>
            <a:r>
              <a:t>J'en ai trois principales. Le chatbot, qui reçoit le message de l'utilisateur, appelle Gemini, et renvoie la réponse de l'IA.</a:t>
            </a:r>
          </a:p>
          <a:p>
            <a:endParaRPr/>
          </a:p>
          <a:p>
            <a:r>
              <a:t>Le favori, qui gère l'ajout et le retrait en AJAX, et renvoie le nouvel état et le nouveau compteur.</a:t>
            </a:r>
          </a:p>
          <a:p>
            <a:endParaRPr/>
          </a:p>
          <a:p>
            <a:r>
              <a:t>Et la traduction, qui traduit la description d'un objet du français vers l'anglais, à la demande.</a:t>
            </a:r>
          </a:p>
          <a:p>
            <a:endParaRPr/>
          </a:p>
          <a:p>
            <a:r>
              <a:t>Ces trois APIs suivent les bonnes pratiques REST : les bonnes méthodes HTTP, les bons codes de retour, et toujours du JSON.</a:t>
            </a:r>
          </a:p>
        </p:txBody>
      </p:sp>
      <p:sp>
        <p:nvSpPr>
          <p:cNvPr id="4" name="Espace réservé du numéro de diapositive 3">
            <a:extLst>
              <a:ext uri="{FF2B5EF4-FFF2-40B4-BE49-F238E27FC236}">
                <a16:creationId xmlns:a16="http://schemas.microsoft.com/office/drawing/2014/main" id="{52620B19-A2E4-3936-7145-743FADB35620}"/>
              </a:ext>
            </a:extLst>
          </p:cNvPr>
          <p:cNvSpPr>
            <a:spLocks noGrp="1"/>
          </p:cNvSpPr>
          <p:nvPr>
            <p:ph type="sldNum" sz="quarter" idx="5"/>
          </p:nvPr>
        </p:nvSpPr>
        <p:spPr/>
        <p:txBody>
          <a:bodyPr/>
          <a:lstStyle/>
          <a:p>
            <a:fld id="{B61B8CCC-3852-4818-B35C-9D7E38B12BA3}" type="slidenum">
              <a:rPr lang="fr-FR" smtClean="0"/>
              <a:t>20</a:t>
            </a:fld>
            <a:endParaRPr lang="fr-FR"/>
          </a:p>
        </p:txBody>
      </p:sp>
    </p:spTree>
    <p:extLst>
      <p:ext uri="{BB962C8B-B14F-4D97-AF65-F5344CB8AC3E}">
        <p14:creationId xmlns:p14="http://schemas.microsoft.com/office/powerpoint/2010/main" val="3666016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40222-88A0-41AC-F822-67E582F72E7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42B3D1E-9E5B-70AC-948C-82F24479361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4B9A7B3-1231-3F71-3290-724641774D37}"/>
              </a:ext>
            </a:extLst>
          </p:cNvPr>
          <p:cNvSpPr>
            <a:spLocks noGrp="1"/>
          </p:cNvSpPr>
          <p:nvPr>
            <p:ph type="body" idx="1"/>
          </p:nvPr>
        </p:nvSpPr>
        <p:spPr/>
        <p:txBody>
          <a:bodyPr/>
          <a:lstStyle/>
          <a:p>
            <a:r>
              <a:t>Pour garantir la fiabilité de l'application, j'ai écrit une suite de 33 tests, exécutés automatiquement à chaque envoi de code.</a:t>
            </a:r>
          </a:p>
          <a:p>
            <a:endParaRPr/>
          </a:p>
          <a:p>
            <a:r>
              <a:t>J'ai combiné plusieurs niveaux de test. Des tests unitaires sur la logique métier, comme le chatbot ou les commentaires. Des tests d'intégration, sur le comportement réel avec PostgreSQL. Et des tests de sécurité, sur le hachage des mots de passe et la protection CSRF.</a:t>
            </a:r>
          </a:p>
          <a:p>
            <a:endParaRPr/>
          </a:p>
          <a:p>
            <a:r>
              <a:t>Le seul test que je ne lance pas automatiquement, c'est celui qui appelle vraiment Gemini, pour ne pas consommer de quota à chaque envoi.</a:t>
            </a:r>
          </a:p>
          <a:p>
            <a:endParaRPr/>
          </a:p>
          <a:p>
            <a:r>
              <a:t>J'ai aussi testé manuellement certains parcours, comme l'inscription.</a:t>
            </a:r>
          </a:p>
        </p:txBody>
      </p:sp>
      <p:sp>
        <p:nvSpPr>
          <p:cNvPr id="4" name="Espace réservé du numéro de diapositive 3">
            <a:extLst>
              <a:ext uri="{FF2B5EF4-FFF2-40B4-BE49-F238E27FC236}">
                <a16:creationId xmlns:a16="http://schemas.microsoft.com/office/drawing/2014/main" id="{090709B3-B9C8-D65A-95B2-B4BE93C008DD}"/>
              </a:ext>
            </a:extLst>
          </p:cNvPr>
          <p:cNvSpPr>
            <a:spLocks noGrp="1"/>
          </p:cNvSpPr>
          <p:nvPr>
            <p:ph type="sldNum" sz="quarter" idx="5"/>
          </p:nvPr>
        </p:nvSpPr>
        <p:spPr/>
        <p:txBody>
          <a:bodyPr/>
          <a:lstStyle/>
          <a:p>
            <a:fld id="{B61B8CCC-3852-4818-B35C-9D7E38B12BA3}" type="slidenum">
              <a:rPr lang="fr-FR" smtClean="0"/>
              <a:t>21</a:t>
            </a:fld>
            <a:endParaRPr lang="fr-FR"/>
          </a:p>
        </p:txBody>
      </p:sp>
    </p:spTree>
    <p:extLst>
      <p:ext uri="{BB962C8B-B14F-4D97-AF65-F5344CB8AC3E}">
        <p14:creationId xmlns:p14="http://schemas.microsoft.com/office/powerpoint/2010/main" val="1389799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J'ai choisi les commentaires imbriqués comme jeu d'essai détaillé, parce que c'est la fonctionnalité la plus représentative du projet : elle combine PostgreSQL, MongoDB, la sécurité, et la couche de service.</a:t>
            </a:r>
          </a:p>
          <a:p>
            <a:endParaRPr/>
          </a:p>
          <a:p>
            <a:r>
              <a:t>Voici un exemple réel sur le site : un utilisateur poste un commentaire, un administrateur y répond, puis l'utilisateur répond à son tour. On voit bien les trois niveaux, avec la bonne identité affichée à chaque fois, et un badge qui distingue une réponse admin.</a:t>
            </a:r>
          </a:p>
          <a:p>
            <a:endParaRPr/>
          </a:p>
          <a:p>
            <a:r>
              <a:t>Dans mon jeu d'essai, j'ai aussi vérifié le badge de commentaires non lus, et la suppression en cascade d'un commentaire avec ses réponses. Résultat : 16 vérifications sur 16 conformes.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2ED38-350A-3E78-48D4-0DD6814DC58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C9A1533-3BA6-DD86-8626-93ABBE17D04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CC39CCC-5539-A5B2-ADEC-083580604A39}"/>
              </a:ext>
            </a:extLst>
          </p:cNvPr>
          <p:cNvSpPr>
            <a:spLocks noGrp="1"/>
          </p:cNvSpPr>
          <p:nvPr>
            <p:ph type="body" idx="1"/>
          </p:nvPr>
        </p:nvSpPr>
        <p:spPr/>
        <p:txBody>
          <a:bodyPr/>
          <a:lstStyle/>
          <a:p>
            <a:r>
              <a:t>Pour la démarche DevOps, j'ai mis en place une chaîne d'intégration continue complète.</a:t>
            </a:r>
          </a:p>
          <a:p>
            <a:endParaRPr/>
          </a:p>
          <a:p>
            <a:r>
              <a:t>D'abord les outils de qualité de code : Flake8 vérifie les conventions, et Black formate le code automatiquement.</a:t>
            </a:r>
          </a:p>
          <a:p>
            <a:endParaRPr/>
          </a:p>
          <a:p>
            <a:r>
              <a:t>Ensuite Pytest, qui lance mes 33 tests en une seule commande.</a:t>
            </a:r>
          </a:p>
          <a:p>
            <a:endParaRPr/>
          </a:p>
          <a:p>
            <a:r>
              <a:t>Et enfin GitHub Actions, qui se déclenche à chaque envoi de code, sur toutes les branches. Il enchaîne la vérification, le formatage, puis les tests, avec une vraie base PostgreSQL temporaire. Le dépôt a aussi Dependabot, qui ouvre automatiquement une correction dès qu'une dépendance a une faille connue.</a:t>
            </a:r>
          </a:p>
        </p:txBody>
      </p:sp>
      <p:sp>
        <p:nvSpPr>
          <p:cNvPr id="4" name="Espace réservé du numéro de diapositive 3">
            <a:extLst>
              <a:ext uri="{FF2B5EF4-FFF2-40B4-BE49-F238E27FC236}">
                <a16:creationId xmlns:a16="http://schemas.microsoft.com/office/drawing/2014/main" id="{1F948011-4DE8-A9F5-5602-B949A49FD6CC}"/>
              </a:ext>
            </a:extLst>
          </p:cNvPr>
          <p:cNvSpPr>
            <a:spLocks noGrp="1"/>
          </p:cNvSpPr>
          <p:nvPr>
            <p:ph type="sldNum" sz="quarter" idx="5"/>
          </p:nvPr>
        </p:nvSpPr>
        <p:spPr/>
        <p:txBody>
          <a:bodyPr/>
          <a:lstStyle/>
          <a:p>
            <a:fld id="{B61B8CCC-3852-4818-B35C-9D7E38B12BA3}" type="slidenum">
              <a:rPr lang="fr-FR" smtClean="0"/>
              <a:t>23</a:t>
            </a:fld>
            <a:endParaRPr lang="fr-FR"/>
          </a:p>
        </p:txBody>
      </p:sp>
    </p:spTree>
    <p:extLst>
      <p:ext uri="{BB962C8B-B14F-4D97-AF65-F5344CB8AC3E}">
        <p14:creationId xmlns:p14="http://schemas.microsoft.com/office/powerpoint/2010/main" val="19806326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Je fais aussi une veille technologique et sécurité en continu, surtout sur l'infrastructure et les dépendances.</a:t>
            </a:r>
          </a:p>
          <a:p>
            <a:endParaRPr/>
          </a:p>
          <a:p>
            <a:r>
              <a:t>Je suis les alertes Dependabot sur GitHub, les notes de version des outils que j'utilise, et les alertes de sécurité pour le serveur.</a:t>
            </a:r>
          </a:p>
          <a:p>
            <a:endParaRPr/>
          </a:p>
          <a:p>
            <a:r>
              <a:t>Un exemple concret : Dependabot m'a signalé plusieurs dépendances avec des failles connues. Je les ai mises à jour, après avoir vérifié que ça ne cassait rien.</a:t>
            </a:r>
          </a:p>
          <a:p>
            <a:endParaRPr/>
          </a:p>
          <a:p>
            <a:r>
              <a:t>Autre exemple, sur MongoDB : le compte que l'application utilise pour se connecter n'a que les droits nécessaires, jamais les droits d'administrateur du serveur.</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0DADB-0321-7485-A1BA-50930F66191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034DF27-CAA5-1A1E-9398-0308903E14FD}"/>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F07022E4-0EC6-AA17-141F-CCAD42E4849C}"/>
              </a:ext>
            </a:extLst>
          </p:cNvPr>
          <p:cNvSpPr>
            <a:spLocks noGrp="1"/>
          </p:cNvSpPr>
          <p:nvPr>
            <p:ph type="body" idx="1"/>
          </p:nvPr>
        </p:nvSpPr>
        <p:spPr/>
        <p:txBody>
          <a:bodyPr/>
          <a:lstStyle/>
          <a:p>
            <a:r>
              <a:t>La sécurité a été une priorité tout au long du développement.</a:t>
            </a:r>
          </a:p>
          <a:p>
            <a:endParaRPr/>
          </a:p>
          <a:p>
            <a:r>
              <a:t>D'abord les mots de passe : je les hache avec Bcrypt avant de les stocker, avec un sel aléatoire à chaque fois. Le mot de passe original ne transite jamais en clair.</a:t>
            </a:r>
          </a:p>
          <a:p>
            <a:endParaRPr/>
          </a:p>
          <a:p>
            <a:r>
              <a:t>Ensuite les sessions Flask, protégées par trois options : impossible d'y accéder en JavaScript, obligatoire en HTTPS, et protégées contre les attaques CSRF.</a:t>
            </a:r>
          </a:p>
          <a:p>
            <a:endParaRPr/>
          </a:p>
          <a:p>
            <a:r>
              <a:t>Vous pouvez le voir sur cette capture : c'est une vraie requête sur mon site en production, et le cookie renvoyé porte bien ces trois protections. Ce n'est pas juste une intention dans le code, c'est vérifiable en direct.</a:t>
            </a:r>
          </a:p>
          <a:p>
            <a:endParaRPr/>
          </a:p>
          <a:p>
            <a:r>
              <a:t>Toutes mes clés API sont dans un fichier qui n'est jamais mis sur GitHub. Et les routes sensibles redirigent vers la connexion si l'utilisateur n'est pas authentifié.</a:t>
            </a:r>
          </a:p>
          <a:p>
            <a:endParaRPr/>
          </a:p>
          <a:p>
            <a:r>
              <a:t>Le site tourne aussi entièrement en HTTPS, avec un certificat SSL.</a:t>
            </a:r>
          </a:p>
          <a:p>
            <a:endParaRPr/>
          </a:p>
          <a:p>
            <a:r>
              <a:t>Toutes ces mesures suivent les recommandations de l'OWASP Top 10 et de l'ANSSI, que j'ai appliquées dès le départ, pas ajoutées à la fin.</a:t>
            </a:r>
          </a:p>
        </p:txBody>
      </p:sp>
      <p:sp>
        <p:nvSpPr>
          <p:cNvPr id="4" name="Espace réservé du numéro de diapositive 3">
            <a:extLst>
              <a:ext uri="{FF2B5EF4-FFF2-40B4-BE49-F238E27FC236}">
                <a16:creationId xmlns:a16="http://schemas.microsoft.com/office/drawing/2014/main" id="{E6486E88-DE87-05D6-1D39-6924CB2F6743}"/>
              </a:ext>
            </a:extLst>
          </p:cNvPr>
          <p:cNvSpPr>
            <a:spLocks noGrp="1"/>
          </p:cNvSpPr>
          <p:nvPr>
            <p:ph type="sldNum" sz="quarter" idx="5"/>
          </p:nvPr>
        </p:nvSpPr>
        <p:spPr/>
        <p:txBody>
          <a:bodyPr/>
          <a:lstStyle/>
          <a:p>
            <a:fld id="{B61B8CCC-3852-4818-B35C-9D7E38B12BA3}" type="slidenum">
              <a:rPr lang="fr-FR" smtClean="0"/>
              <a:t>25</a:t>
            </a:fld>
            <a:endParaRPr lang="fr-FR"/>
          </a:p>
        </p:txBody>
      </p:sp>
    </p:spTree>
    <p:extLst>
      <p:ext uri="{BB962C8B-B14F-4D97-AF65-F5344CB8AC3E}">
        <p14:creationId xmlns:p14="http://schemas.microsoft.com/office/powerpoint/2010/main" val="3022367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7AE54-CBFE-DEC3-0883-6EA9D3C0649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127D1EB-32C2-150C-8404-EB0F8A3F1100}"/>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213A623B-C715-CADE-2AB4-516D730FD6DD}"/>
              </a:ext>
            </a:extLst>
          </p:cNvPr>
          <p:cNvSpPr>
            <a:spLocks noGrp="1"/>
          </p:cNvSpPr>
          <p:nvPr>
            <p:ph type="body" idx="1"/>
          </p:nvPr>
        </p:nvSpPr>
        <p:spPr/>
        <p:txBody>
          <a:bodyPr/>
          <a:lstStyle/>
          <a:p>
            <a:r>
              <a:t>Concernant le RGPD, j'ai appliqué le principe de minimisation : je ne collecte que ce qui est vraiment nécessaire.</a:t>
            </a:r>
          </a:p>
          <a:p>
            <a:endParaRPr/>
          </a:p>
          <a:p>
            <a:r>
              <a:t>Pour l'inscription, je demande le pseudo, le nom, l'email et le mot de passe. La photo de profil est optionnelle. Pour le sondage, seuls l'email et la préférence sont collectés.</a:t>
            </a:r>
          </a:p>
          <a:p>
            <a:endParaRPr/>
          </a:p>
          <a:p>
            <a:r>
              <a:t>Les utilisateurs peuvent modifier leur profil à tout moment. La suppression du compte se fait sur demande, traitée par un administrateur. Et aucune donnée n'est jamais revendue.</a:t>
            </a:r>
          </a:p>
          <a:p>
            <a:endParaRPr/>
          </a:p>
          <a:p>
            <a:r>
              <a:t>Techniquement, les mots de passe sont hashés, les communications sont chiffrées, et il n'y a aucun cookie tiers ni publicité sur le site.</a:t>
            </a:r>
          </a:p>
          <a:p>
            <a:endParaRPr/>
          </a:p>
          <a:p>
            <a:r>
              <a:t>J'ai aussi rédigé une page de mentions légales complète, accessible depuis le bas de chaque page.</a:t>
            </a:r>
          </a:p>
        </p:txBody>
      </p:sp>
      <p:sp>
        <p:nvSpPr>
          <p:cNvPr id="4" name="Espace réservé du numéro de diapositive 3">
            <a:extLst>
              <a:ext uri="{FF2B5EF4-FFF2-40B4-BE49-F238E27FC236}">
                <a16:creationId xmlns:a16="http://schemas.microsoft.com/office/drawing/2014/main" id="{64A740ED-64C7-C141-FDD0-D0FCC720103B}"/>
              </a:ext>
            </a:extLst>
          </p:cNvPr>
          <p:cNvSpPr>
            <a:spLocks noGrp="1"/>
          </p:cNvSpPr>
          <p:nvPr>
            <p:ph type="sldNum" sz="quarter" idx="5"/>
          </p:nvPr>
        </p:nvSpPr>
        <p:spPr/>
        <p:txBody>
          <a:bodyPr/>
          <a:lstStyle/>
          <a:p>
            <a:fld id="{B61B8CCC-3852-4818-B35C-9D7E38B12BA3}" type="slidenum">
              <a:rPr lang="fr-FR" smtClean="0"/>
              <a:t>26</a:t>
            </a:fld>
            <a:endParaRPr lang="fr-FR"/>
          </a:p>
        </p:txBody>
      </p:sp>
    </p:spTree>
    <p:extLst>
      <p:ext uri="{BB962C8B-B14F-4D97-AF65-F5344CB8AC3E}">
        <p14:creationId xmlns:p14="http://schemas.microsoft.com/office/powerpoint/2010/main" val="14079201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7E207-F7A0-ACB1-32DB-C37C581EC5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E17966C-73D5-F5F8-EB82-57B21E27B281}"/>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8BA63CFB-FEF2-9A4D-F993-D237CEFAB065}"/>
              </a:ext>
            </a:extLst>
          </p:cNvPr>
          <p:cNvSpPr>
            <a:spLocks noGrp="1"/>
          </p:cNvSpPr>
          <p:nvPr>
            <p:ph type="body" idx="1"/>
          </p:nvPr>
        </p:nvSpPr>
        <p:spPr/>
        <p:txBody>
          <a:bodyPr/>
          <a:lstStyle/>
          <a:p>
            <a:r>
              <a:t>Passons au déploiement. L'application tourne sur un serveur VPS que j'administre moi-même, sous Ubuntu, sur mon propre nom de domaine.</a:t>
            </a:r>
          </a:p>
          <a:p>
            <a:endParaRPr/>
          </a:p>
          <a:p>
            <a:r>
              <a:t>Le premier déploiement s'est fait en plusieurs étapes : préparation du serveur, récupération du code, installation des dépendances, mise en place de PostgreSQL et MongoDB, lancement de l'application avec Gunicorn, et configuration de nginx avec un certificat HTTPS.</a:t>
            </a:r>
          </a:p>
          <a:p>
            <a:endParaRPr/>
          </a:p>
          <a:p>
            <a:r>
              <a:t>Pour les mises à jour, un script automatise tout : récupération du code, redémarrage du service, et vérification que le site répond bien. Je préfère garder le déploiement manuel, pour garder le contrôle avant chaque mise en ligne.</a:t>
            </a:r>
          </a:p>
        </p:txBody>
      </p:sp>
      <p:sp>
        <p:nvSpPr>
          <p:cNvPr id="4" name="Espace réservé du numéro de diapositive 3">
            <a:extLst>
              <a:ext uri="{FF2B5EF4-FFF2-40B4-BE49-F238E27FC236}">
                <a16:creationId xmlns:a16="http://schemas.microsoft.com/office/drawing/2014/main" id="{FA8CBFF6-060E-D7D4-9E47-3B3CA418E62C}"/>
              </a:ext>
            </a:extLst>
          </p:cNvPr>
          <p:cNvSpPr>
            <a:spLocks noGrp="1"/>
          </p:cNvSpPr>
          <p:nvPr>
            <p:ph type="sldNum" sz="quarter" idx="5"/>
          </p:nvPr>
        </p:nvSpPr>
        <p:spPr/>
        <p:txBody>
          <a:bodyPr/>
          <a:lstStyle/>
          <a:p>
            <a:fld id="{B61B8CCC-3852-4818-B35C-9D7E38B12BA3}" type="slidenum">
              <a:rPr lang="fr-FR" smtClean="0"/>
              <a:t>27</a:t>
            </a:fld>
            <a:endParaRPr lang="fr-FR"/>
          </a:p>
        </p:txBody>
      </p:sp>
    </p:spTree>
    <p:extLst>
      <p:ext uri="{BB962C8B-B14F-4D97-AF65-F5344CB8AC3E}">
        <p14:creationId xmlns:p14="http://schemas.microsoft.com/office/powerpoint/2010/main" val="17053873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3078C-E574-C808-7751-03AA80FA7A9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F22430D-DF2D-58BB-39FC-747B2035D1B4}"/>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5794D51-697D-F85D-9776-346917ABF995}"/>
              </a:ext>
            </a:extLst>
          </p:cNvPr>
          <p:cNvSpPr>
            <a:spLocks noGrp="1"/>
          </p:cNvSpPr>
          <p:nvPr>
            <p:ph type="body" idx="1"/>
          </p:nvPr>
        </p:nvSpPr>
        <p:spPr/>
        <p:txBody>
          <a:bodyPr/>
          <a:lstStyle/>
          <a:p>
            <a:r>
              <a:t>Pour organiser mon projet, j'ai utilisé un tableau Kanban sur GitHub, avec trois colonnes : à faire, en cours, et terminé.</a:t>
            </a:r>
          </a:p>
          <a:p>
            <a:endParaRPr/>
          </a:p>
          <a:p>
            <a:r>
              <a:t>La colonne terminée regroupe les grandes étapes du projet : l'authentification, la qualité de code, la sécurisation, la conteneurisation avec Docker, et le déploiement.</a:t>
            </a:r>
          </a:p>
          <a:p>
            <a:endParaRPr/>
          </a:p>
          <a:p>
            <a:r>
              <a:t>Cet outil m'a permis d'avoir une vision claire de l'avancement, et de prioriser les tâches au fur et à mesure.</a:t>
            </a:r>
          </a:p>
        </p:txBody>
      </p:sp>
      <p:sp>
        <p:nvSpPr>
          <p:cNvPr id="4" name="Espace réservé du numéro de diapositive 3">
            <a:extLst>
              <a:ext uri="{FF2B5EF4-FFF2-40B4-BE49-F238E27FC236}">
                <a16:creationId xmlns:a16="http://schemas.microsoft.com/office/drawing/2014/main" id="{B28E0A60-AE10-80FF-40A9-FAE85093EABA}"/>
              </a:ext>
            </a:extLst>
          </p:cNvPr>
          <p:cNvSpPr>
            <a:spLocks noGrp="1"/>
          </p:cNvSpPr>
          <p:nvPr>
            <p:ph type="sldNum" sz="quarter" idx="5"/>
          </p:nvPr>
        </p:nvSpPr>
        <p:spPr/>
        <p:txBody>
          <a:bodyPr/>
          <a:lstStyle/>
          <a:p>
            <a:fld id="{B61B8CCC-3852-4818-B35C-9D7E38B12BA3}" type="slidenum">
              <a:rPr lang="fr-FR" smtClean="0"/>
              <a:t>28</a:t>
            </a:fld>
            <a:endParaRPr lang="fr-FR"/>
          </a:p>
        </p:txBody>
      </p:sp>
    </p:spTree>
    <p:extLst>
      <p:ext uri="{BB962C8B-B14F-4D97-AF65-F5344CB8AC3E}">
        <p14:creationId xmlns:p14="http://schemas.microsoft.com/office/powerpoint/2010/main" val="3103819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7AE07-8EFA-7631-337A-82F7B3BA0DD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BBF88AC-AD0B-8E99-254C-EEE5AFC190FC}"/>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1D09C93-A5AD-0B61-9F86-E2E43C5FF563}"/>
              </a:ext>
            </a:extLst>
          </p:cNvPr>
          <p:cNvSpPr>
            <a:spLocks noGrp="1"/>
          </p:cNvSpPr>
          <p:nvPr>
            <p:ph type="body" idx="1"/>
          </p:nvPr>
        </p:nvSpPr>
        <p:spPr/>
        <p:txBody>
          <a:bodyPr/>
          <a:lstStyle/>
          <a:p>
            <a:r>
              <a:t>Pour la gestion de version, j'ai utilisé Git et GitHub tout au long du projet.</a:t>
            </a:r>
          </a:p>
          <a:p>
            <a:endParaRPr/>
          </a:p>
          <a:p>
            <a:r>
              <a:t>Mes commits suivent une convention claire : feat pour une nouvelle fonctionnalité, fix pour une correction, refactor pour une réorganisation du code.</a:t>
            </a:r>
          </a:p>
          <a:p>
            <a:endParaRPr/>
          </a:p>
          <a:p>
            <a:r>
              <a:t>Par exemple, feat implémente la traçabilité, ou fix met à jour une dépendance signalée par Dependabot. Chaque commit correspond à une tâche précise.</a:t>
            </a:r>
          </a:p>
          <a:p>
            <a:endParaRPr/>
          </a:p>
          <a:p>
            <a:r>
              <a:t>Le dépôt est public sur GitHub, avec Dependabot activé pour signaler les failles de sécurité.</a:t>
            </a:r>
          </a:p>
        </p:txBody>
      </p:sp>
      <p:sp>
        <p:nvSpPr>
          <p:cNvPr id="4" name="Espace réservé du numéro de diapositive 3">
            <a:extLst>
              <a:ext uri="{FF2B5EF4-FFF2-40B4-BE49-F238E27FC236}">
                <a16:creationId xmlns:a16="http://schemas.microsoft.com/office/drawing/2014/main" id="{2226BD11-9FFF-2560-A61C-EE7734785CDA}"/>
              </a:ext>
            </a:extLst>
          </p:cNvPr>
          <p:cNvSpPr>
            <a:spLocks noGrp="1"/>
          </p:cNvSpPr>
          <p:nvPr>
            <p:ph type="sldNum" sz="quarter" idx="5"/>
          </p:nvPr>
        </p:nvSpPr>
        <p:spPr/>
        <p:txBody>
          <a:bodyPr/>
          <a:lstStyle/>
          <a:p>
            <a:fld id="{B61B8CCC-3852-4818-B35C-9D7E38B12BA3}" type="slidenum">
              <a:rPr lang="fr-FR" smtClean="0"/>
              <a:t>29</a:t>
            </a:fld>
            <a:endParaRPr lang="fr-FR"/>
          </a:p>
        </p:txBody>
      </p:sp>
    </p:spTree>
    <p:extLst>
      <p:ext uri="{BB962C8B-B14F-4D97-AF65-F5344CB8AC3E}">
        <p14:creationId xmlns:p14="http://schemas.microsoft.com/office/powerpoint/2010/main" val="12368524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la démonstration, un rapide bilan.</a:t>
            </a:r>
          </a:p>
          <a:p>
            <a:endParaRPr/>
          </a:p>
          <a:p>
            <a:r>
              <a:t>Ce que j'ai livré va bien au-delà de ce que j'avais imaginé au départ. Le projet est parti d'un simple catalogue pour devenir une application complète, et l'architecture a bien tenu face à cette croissance.</a:t>
            </a:r>
          </a:p>
          <a:p>
            <a:endParaRPr/>
          </a:p>
          <a:p>
            <a:r>
              <a:t>Sur le plan personnel, ce projet m'a fait passer par tout un cycle de développement, de l'analyse des besoins jusqu'à la mise en production, en gérant seul tous les rôles.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Je vous laisse maintenant découvrir AstroLearn en direct, sur le vrai site.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5FD03-EF11-D465-ED7A-ACCEB84752C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04BF5B9-C573-E436-A976-E6659C2860F2}"/>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3F1BCCF3-EE0A-02D5-659C-5479C8AC85B8}"/>
              </a:ext>
            </a:extLst>
          </p:cNvPr>
          <p:cNvSpPr>
            <a:spLocks noGrp="1"/>
          </p:cNvSpPr>
          <p:nvPr>
            <p:ph type="body" idx="1"/>
          </p:nvPr>
        </p:nvSpPr>
        <p:spPr/>
        <p:txBody>
          <a:bodyPr/>
          <a:lstStyle/>
          <a:p>
            <a:r>
              <a:rPr dirty="0"/>
              <a:t>Pour </a:t>
            </a:r>
            <a:r>
              <a:rPr dirty="0" err="1"/>
              <a:t>conclure</a:t>
            </a:r>
            <a:r>
              <a:rPr dirty="0"/>
              <a:t>, </a:t>
            </a:r>
            <a:r>
              <a:rPr dirty="0" err="1"/>
              <a:t>AstroLearn</a:t>
            </a:r>
            <a:r>
              <a:rPr dirty="0"/>
              <a:t> est un </a:t>
            </a:r>
            <a:r>
              <a:rPr dirty="0" err="1"/>
              <a:t>projet</a:t>
            </a:r>
            <a:r>
              <a:rPr dirty="0"/>
              <a:t> </a:t>
            </a:r>
            <a:r>
              <a:rPr dirty="0" err="1"/>
              <a:t>complet</a:t>
            </a:r>
            <a:r>
              <a:rPr dirty="0"/>
              <a:t>, </a:t>
            </a:r>
            <a:r>
              <a:rPr dirty="0" err="1"/>
              <a:t>développé</a:t>
            </a:r>
            <a:r>
              <a:rPr dirty="0"/>
              <a:t> de A à Z, de la conception </a:t>
            </a:r>
            <a:r>
              <a:rPr dirty="0" err="1"/>
              <a:t>jusqu'au</a:t>
            </a:r>
            <a:r>
              <a:rPr dirty="0"/>
              <a:t> </a:t>
            </a:r>
            <a:r>
              <a:rPr dirty="0" err="1"/>
              <a:t>déploiement</a:t>
            </a:r>
            <a:r>
              <a:rPr dirty="0"/>
              <a:t> </a:t>
            </a:r>
            <a:r>
              <a:rPr dirty="0" err="1"/>
              <a:t>en</a:t>
            </a:r>
            <a:r>
              <a:rPr dirty="0"/>
              <a:t> production.</a:t>
            </a:r>
          </a:p>
          <a:p>
            <a:endParaRPr dirty="0"/>
          </a:p>
          <a:p>
            <a:r>
              <a:rPr dirty="0"/>
              <a:t>Il </a:t>
            </a:r>
            <a:r>
              <a:rPr dirty="0" err="1"/>
              <a:t>couvre</a:t>
            </a:r>
            <a:r>
              <a:rPr dirty="0"/>
              <a:t> </a:t>
            </a:r>
            <a:r>
              <a:rPr dirty="0" err="1"/>
              <a:t>l'ensemble</a:t>
            </a:r>
            <a:r>
              <a:rPr dirty="0"/>
              <a:t> des </a:t>
            </a:r>
            <a:r>
              <a:rPr dirty="0" err="1"/>
              <a:t>onze</a:t>
            </a:r>
            <a:r>
              <a:rPr dirty="0"/>
              <a:t> </a:t>
            </a:r>
            <a:r>
              <a:rPr dirty="0" err="1"/>
              <a:t>compétences</a:t>
            </a:r>
            <a:r>
              <a:rPr dirty="0"/>
              <a:t> du </a:t>
            </a:r>
            <a:r>
              <a:rPr dirty="0" err="1"/>
              <a:t>titre</a:t>
            </a:r>
            <a:r>
              <a:rPr dirty="0"/>
              <a:t> RNCP </a:t>
            </a:r>
            <a:r>
              <a:rPr dirty="0" err="1"/>
              <a:t>niveau</a:t>
            </a:r>
            <a:r>
              <a:rPr dirty="0"/>
              <a:t> 5 : la configuration de </a:t>
            </a:r>
            <a:r>
              <a:rPr dirty="0" err="1"/>
              <a:t>l'environnement</a:t>
            </a:r>
            <a:r>
              <a:rPr dirty="0"/>
              <a:t>, la conception des interfaces, </a:t>
            </a:r>
            <a:r>
              <a:rPr dirty="0" err="1"/>
              <a:t>l'architecture</a:t>
            </a:r>
            <a:r>
              <a:rPr dirty="0"/>
              <a:t>, les deux bases de données, les APIs REST, </a:t>
            </a:r>
            <a:r>
              <a:rPr dirty="0" err="1"/>
              <a:t>l'intelligence</a:t>
            </a:r>
            <a:r>
              <a:rPr dirty="0"/>
              <a:t> </a:t>
            </a:r>
            <a:r>
              <a:rPr dirty="0" err="1"/>
              <a:t>artificielle</a:t>
            </a:r>
            <a:r>
              <a:rPr dirty="0"/>
              <a:t>, et les tests.</a:t>
            </a:r>
          </a:p>
          <a:p>
            <a:endParaRPr dirty="0"/>
          </a:p>
          <a:p>
            <a:r>
              <a:rPr dirty="0"/>
              <a:t>Ce qui rend </a:t>
            </a:r>
            <a:r>
              <a:rPr dirty="0" err="1"/>
              <a:t>ce</a:t>
            </a:r>
            <a:r>
              <a:rPr dirty="0"/>
              <a:t> </a:t>
            </a:r>
            <a:r>
              <a:rPr dirty="0" err="1"/>
              <a:t>projet</a:t>
            </a:r>
            <a:r>
              <a:rPr dirty="0"/>
              <a:t> particulier, </a:t>
            </a:r>
            <a:r>
              <a:rPr dirty="0" err="1"/>
              <a:t>c'est</a:t>
            </a:r>
            <a:r>
              <a:rPr dirty="0"/>
              <a:t> </a:t>
            </a:r>
            <a:r>
              <a:rPr dirty="0" err="1"/>
              <a:t>qu'il</a:t>
            </a:r>
            <a:r>
              <a:rPr dirty="0"/>
              <a:t> est </a:t>
            </a:r>
            <a:r>
              <a:rPr dirty="0" err="1"/>
              <a:t>vraiment</a:t>
            </a:r>
            <a:r>
              <a:rPr dirty="0"/>
              <a:t> </a:t>
            </a:r>
            <a:r>
              <a:rPr dirty="0" err="1"/>
              <a:t>en</a:t>
            </a:r>
            <a:r>
              <a:rPr dirty="0"/>
              <a:t> </a:t>
            </a:r>
            <a:r>
              <a:rPr dirty="0" err="1"/>
              <a:t>ligne</a:t>
            </a:r>
            <a:r>
              <a:rPr dirty="0"/>
              <a:t>, accessible à tout le monde. Ce </a:t>
            </a:r>
            <a:r>
              <a:rPr dirty="0" err="1"/>
              <a:t>n'est</a:t>
            </a:r>
            <a:r>
              <a:rPr dirty="0"/>
              <a:t> pas </a:t>
            </a:r>
            <a:r>
              <a:rPr dirty="0" err="1"/>
              <a:t>une</a:t>
            </a:r>
            <a:r>
              <a:rPr dirty="0"/>
              <a:t> maquette, </a:t>
            </a:r>
            <a:r>
              <a:rPr dirty="0" err="1"/>
              <a:t>c'est</a:t>
            </a:r>
            <a:r>
              <a:rPr dirty="0"/>
              <a:t> </a:t>
            </a:r>
            <a:r>
              <a:rPr dirty="0" err="1"/>
              <a:t>une</a:t>
            </a:r>
            <a:r>
              <a:rPr dirty="0"/>
              <a:t> </a:t>
            </a:r>
            <a:r>
              <a:rPr dirty="0" err="1"/>
              <a:t>vraie</a:t>
            </a:r>
            <a:r>
              <a:rPr dirty="0"/>
              <a:t> application, avec de </a:t>
            </a:r>
            <a:r>
              <a:rPr dirty="0" err="1"/>
              <a:t>vraies</a:t>
            </a:r>
            <a:r>
              <a:rPr dirty="0"/>
              <a:t> données NASA et </a:t>
            </a:r>
            <a:r>
              <a:rPr dirty="0" err="1"/>
              <a:t>une</a:t>
            </a:r>
            <a:r>
              <a:rPr dirty="0"/>
              <a:t> </a:t>
            </a:r>
            <a:r>
              <a:rPr dirty="0" err="1"/>
              <a:t>vraie</a:t>
            </a:r>
            <a:r>
              <a:rPr dirty="0"/>
              <a:t> IA.</a:t>
            </a:r>
          </a:p>
          <a:p>
            <a:endParaRPr dirty="0"/>
          </a:p>
          <a:p>
            <a:r>
              <a:rPr dirty="0"/>
              <a:t>Voilà pour la </a:t>
            </a:r>
            <a:r>
              <a:rPr dirty="0" err="1"/>
              <a:t>présentation</a:t>
            </a:r>
            <a:r>
              <a:rPr dirty="0"/>
              <a:t> </a:t>
            </a:r>
            <a:r>
              <a:rPr dirty="0" err="1"/>
              <a:t>d'AstroLearn</a:t>
            </a:r>
            <a:r>
              <a:rPr dirty="0"/>
              <a:t>. Merci de </a:t>
            </a:r>
            <a:r>
              <a:rPr dirty="0" err="1"/>
              <a:t>votre</a:t>
            </a:r>
            <a:r>
              <a:rPr dirty="0"/>
              <a:t> attention, je suis prêt à </a:t>
            </a:r>
            <a:r>
              <a:rPr dirty="0" err="1"/>
              <a:t>répondre</a:t>
            </a:r>
            <a:r>
              <a:rPr dirty="0"/>
              <a:t> à </a:t>
            </a:r>
            <a:r>
              <a:rPr dirty="0" err="1"/>
              <a:t>vos</a:t>
            </a:r>
            <a:r>
              <a:rPr dirty="0"/>
              <a:t> questions.</a:t>
            </a:r>
          </a:p>
        </p:txBody>
      </p:sp>
      <p:sp>
        <p:nvSpPr>
          <p:cNvPr id="4" name="Espace réservé du numéro de diapositive 3">
            <a:extLst>
              <a:ext uri="{FF2B5EF4-FFF2-40B4-BE49-F238E27FC236}">
                <a16:creationId xmlns:a16="http://schemas.microsoft.com/office/drawing/2014/main" id="{A29F2E53-9235-D780-66FD-62C20839C91B}"/>
              </a:ext>
            </a:extLst>
          </p:cNvPr>
          <p:cNvSpPr>
            <a:spLocks noGrp="1"/>
          </p:cNvSpPr>
          <p:nvPr>
            <p:ph type="sldNum" sz="quarter" idx="5"/>
          </p:nvPr>
        </p:nvSpPr>
        <p:spPr/>
        <p:txBody>
          <a:bodyPr/>
          <a:lstStyle/>
          <a:p>
            <a:fld id="{B61B8CCC-3852-4818-B35C-9D7E38B12BA3}" type="slidenum">
              <a:rPr lang="fr-FR" smtClean="0"/>
              <a:t>32</a:t>
            </a:fld>
            <a:endParaRPr lang="fr-FR"/>
          </a:p>
        </p:txBody>
      </p:sp>
    </p:spTree>
    <p:extLst>
      <p:ext uri="{BB962C8B-B14F-4D97-AF65-F5344CB8AC3E}">
        <p14:creationId xmlns:p14="http://schemas.microsoft.com/office/powerpoint/2010/main" val="3719013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3DC499-1726-3355-DE28-DA491C197C3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4667839-919E-50AF-01C4-AEE05B5B19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80FE81D6-3D72-39BC-5629-DF48BF43A6FA}"/>
              </a:ext>
            </a:extLst>
          </p:cNvPr>
          <p:cNvSpPr>
            <a:spLocks noGrp="1"/>
          </p:cNvSpPr>
          <p:nvPr>
            <p:ph type="dt" sz="half" idx="10"/>
          </p:nvPr>
        </p:nvSpPr>
        <p:spPr/>
        <p:txBody>
          <a:bodyPr/>
          <a:lstStyle/>
          <a:p>
            <a:fld id="{2D5934FE-CBF2-4266-87F4-618BC26513AE}" type="datetimeFigureOut">
              <a:rPr lang="fr-FR" smtClean="0"/>
              <a:t>19/08/2026</a:t>
            </a:fld>
            <a:endParaRPr lang="fr-FR"/>
          </a:p>
        </p:txBody>
      </p:sp>
      <p:sp>
        <p:nvSpPr>
          <p:cNvPr id="5" name="Espace réservé du pied de page 4">
            <a:extLst>
              <a:ext uri="{FF2B5EF4-FFF2-40B4-BE49-F238E27FC236}">
                <a16:creationId xmlns:a16="http://schemas.microsoft.com/office/drawing/2014/main" id="{A5CC85EC-F54E-E3F6-77BC-0081BB397C1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B0A37F7-40A1-FDEC-7F35-5FCC30F2E4C4}"/>
              </a:ext>
            </a:extLst>
          </p:cNvPr>
          <p:cNvSpPr>
            <a:spLocks noGrp="1"/>
          </p:cNvSpPr>
          <p:nvPr>
            <p:ph type="sldNum" sz="quarter" idx="12"/>
          </p:nvPr>
        </p:nvSpPr>
        <p:spPr/>
        <p:txBody>
          <a:bodyPr/>
          <a:lstStyle/>
          <a:p>
            <a:fld id="{C4488F74-78F1-4A55-BBC0-8B12C245025F}" type="slidenum">
              <a:rPr lang="fr-FR" smtClean="0"/>
              <a:t>‹N°›</a:t>
            </a:fld>
            <a:endParaRPr lang="fr-FR"/>
          </a:p>
        </p:txBody>
      </p:sp>
    </p:spTree>
    <p:extLst>
      <p:ext uri="{BB962C8B-B14F-4D97-AF65-F5344CB8AC3E}">
        <p14:creationId xmlns:p14="http://schemas.microsoft.com/office/powerpoint/2010/main" val="349897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041B3B-D12A-B733-0631-A0B4E37E8C8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6337726-1B1D-2BFA-1605-F629B4351B4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C117EB0-99E8-DC5E-0F6C-3D749498312F}"/>
              </a:ext>
            </a:extLst>
          </p:cNvPr>
          <p:cNvSpPr>
            <a:spLocks noGrp="1"/>
          </p:cNvSpPr>
          <p:nvPr>
            <p:ph type="dt" sz="half" idx="10"/>
          </p:nvPr>
        </p:nvSpPr>
        <p:spPr/>
        <p:txBody>
          <a:bodyPr/>
          <a:lstStyle/>
          <a:p>
            <a:fld id="{2D5934FE-CBF2-4266-87F4-618BC26513AE}" type="datetimeFigureOut">
              <a:rPr lang="fr-FR" smtClean="0"/>
              <a:t>19/08/2026</a:t>
            </a:fld>
            <a:endParaRPr lang="fr-FR"/>
          </a:p>
        </p:txBody>
      </p:sp>
      <p:sp>
        <p:nvSpPr>
          <p:cNvPr id="5" name="Espace réservé du pied de page 4">
            <a:extLst>
              <a:ext uri="{FF2B5EF4-FFF2-40B4-BE49-F238E27FC236}">
                <a16:creationId xmlns:a16="http://schemas.microsoft.com/office/drawing/2014/main" id="{9F91A294-8C2A-E890-D05D-FB7B3A02614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6D93EAF-B0BB-45A0-9F45-936ED18CC51F}"/>
              </a:ext>
            </a:extLst>
          </p:cNvPr>
          <p:cNvSpPr>
            <a:spLocks noGrp="1"/>
          </p:cNvSpPr>
          <p:nvPr>
            <p:ph type="sldNum" sz="quarter" idx="12"/>
          </p:nvPr>
        </p:nvSpPr>
        <p:spPr/>
        <p:txBody>
          <a:bodyPr/>
          <a:lstStyle/>
          <a:p>
            <a:fld id="{C4488F74-78F1-4A55-BBC0-8B12C245025F}" type="slidenum">
              <a:rPr lang="fr-FR" smtClean="0"/>
              <a:t>‹N°›</a:t>
            </a:fld>
            <a:endParaRPr lang="fr-FR"/>
          </a:p>
        </p:txBody>
      </p:sp>
    </p:spTree>
    <p:extLst>
      <p:ext uri="{BB962C8B-B14F-4D97-AF65-F5344CB8AC3E}">
        <p14:creationId xmlns:p14="http://schemas.microsoft.com/office/powerpoint/2010/main" val="2666374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FD0C32-AF54-301B-C9CA-360977BF044A}"/>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F2CAA550-4335-0E6A-42D8-30DDC8F365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F747615C-E8C2-8C82-33E7-2AB425A446C3}"/>
              </a:ext>
            </a:extLst>
          </p:cNvPr>
          <p:cNvSpPr>
            <a:spLocks noGrp="1"/>
          </p:cNvSpPr>
          <p:nvPr>
            <p:ph type="dt" sz="half" idx="10"/>
          </p:nvPr>
        </p:nvSpPr>
        <p:spPr/>
        <p:txBody>
          <a:bodyPr/>
          <a:lstStyle/>
          <a:p>
            <a:fld id="{2D5934FE-CBF2-4266-87F4-618BC26513AE}" type="datetimeFigureOut">
              <a:rPr lang="fr-FR" smtClean="0"/>
              <a:t>19/08/2026</a:t>
            </a:fld>
            <a:endParaRPr lang="fr-FR"/>
          </a:p>
        </p:txBody>
      </p:sp>
      <p:sp>
        <p:nvSpPr>
          <p:cNvPr id="5" name="Espace réservé du pied de page 4">
            <a:extLst>
              <a:ext uri="{FF2B5EF4-FFF2-40B4-BE49-F238E27FC236}">
                <a16:creationId xmlns:a16="http://schemas.microsoft.com/office/drawing/2014/main" id="{B999045A-2D8B-B45B-AFD9-8EF0945AC61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B858DFF-7F0B-50B1-94F0-C8FF9E99A370}"/>
              </a:ext>
            </a:extLst>
          </p:cNvPr>
          <p:cNvSpPr>
            <a:spLocks noGrp="1"/>
          </p:cNvSpPr>
          <p:nvPr>
            <p:ph type="sldNum" sz="quarter" idx="12"/>
          </p:nvPr>
        </p:nvSpPr>
        <p:spPr/>
        <p:txBody>
          <a:bodyPr/>
          <a:lstStyle/>
          <a:p>
            <a:fld id="{C4488F74-78F1-4A55-BBC0-8B12C245025F}" type="slidenum">
              <a:rPr lang="fr-FR" smtClean="0"/>
              <a:t>‹N°›</a:t>
            </a:fld>
            <a:endParaRPr lang="fr-FR"/>
          </a:p>
        </p:txBody>
      </p:sp>
    </p:spTree>
    <p:extLst>
      <p:ext uri="{BB962C8B-B14F-4D97-AF65-F5344CB8AC3E}">
        <p14:creationId xmlns:p14="http://schemas.microsoft.com/office/powerpoint/2010/main" val="1041679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F725A3-C10F-19C6-B694-6D65D7FD5E0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2202580-D5F0-F0E9-D251-5337400F0EB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ABEDA21-BEE3-5E86-0118-F28FA529738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A97D21F-7805-0CF2-EB0B-6BFA7FBDC316}"/>
              </a:ext>
            </a:extLst>
          </p:cNvPr>
          <p:cNvSpPr>
            <a:spLocks noGrp="1"/>
          </p:cNvSpPr>
          <p:nvPr>
            <p:ph type="dt" sz="half" idx="10"/>
          </p:nvPr>
        </p:nvSpPr>
        <p:spPr/>
        <p:txBody>
          <a:bodyPr/>
          <a:lstStyle/>
          <a:p>
            <a:fld id="{2D5934FE-CBF2-4266-87F4-618BC26513AE}" type="datetimeFigureOut">
              <a:rPr lang="fr-FR" smtClean="0"/>
              <a:t>19/08/2026</a:t>
            </a:fld>
            <a:endParaRPr lang="fr-FR"/>
          </a:p>
        </p:txBody>
      </p:sp>
      <p:sp>
        <p:nvSpPr>
          <p:cNvPr id="6" name="Espace réservé du pied de page 5">
            <a:extLst>
              <a:ext uri="{FF2B5EF4-FFF2-40B4-BE49-F238E27FC236}">
                <a16:creationId xmlns:a16="http://schemas.microsoft.com/office/drawing/2014/main" id="{8AFE432C-6CC3-5052-7394-139EAB4057F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E3E3ACC-A09A-CD95-15DF-FB8C935D1790}"/>
              </a:ext>
            </a:extLst>
          </p:cNvPr>
          <p:cNvSpPr>
            <a:spLocks noGrp="1"/>
          </p:cNvSpPr>
          <p:nvPr>
            <p:ph type="sldNum" sz="quarter" idx="12"/>
          </p:nvPr>
        </p:nvSpPr>
        <p:spPr/>
        <p:txBody>
          <a:bodyPr/>
          <a:lstStyle/>
          <a:p>
            <a:fld id="{C4488F74-78F1-4A55-BBC0-8B12C245025F}" type="slidenum">
              <a:rPr lang="fr-FR" smtClean="0"/>
              <a:t>‹N°›</a:t>
            </a:fld>
            <a:endParaRPr lang="fr-FR"/>
          </a:p>
        </p:txBody>
      </p:sp>
    </p:spTree>
    <p:extLst>
      <p:ext uri="{BB962C8B-B14F-4D97-AF65-F5344CB8AC3E}">
        <p14:creationId xmlns:p14="http://schemas.microsoft.com/office/powerpoint/2010/main" val="2384736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5ED9FB-8C10-4986-5570-30238B9B7990}"/>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FFA235B-EAA6-F934-82E1-B5CAF39968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51A0B48-4B2A-331D-FE88-AB4E35CDC2F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61328628-37FD-2CF6-070B-897D8C8C09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F9E14BC-7DCA-9303-11AE-532BF81808F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87C67324-5CED-F4F6-E45B-EC276D652542}"/>
              </a:ext>
            </a:extLst>
          </p:cNvPr>
          <p:cNvSpPr>
            <a:spLocks noGrp="1"/>
          </p:cNvSpPr>
          <p:nvPr>
            <p:ph type="dt" sz="half" idx="10"/>
          </p:nvPr>
        </p:nvSpPr>
        <p:spPr/>
        <p:txBody>
          <a:bodyPr/>
          <a:lstStyle/>
          <a:p>
            <a:fld id="{2D5934FE-CBF2-4266-87F4-618BC26513AE}" type="datetimeFigureOut">
              <a:rPr lang="fr-FR" smtClean="0"/>
              <a:t>19/08/2026</a:t>
            </a:fld>
            <a:endParaRPr lang="fr-FR"/>
          </a:p>
        </p:txBody>
      </p:sp>
      <p:sp>
        <p:nvSpPr>
          <p:cNvPr id="8" name="Espace réservé du pied de page 7">
            <a:extLst>
              <a:ext uri="{FF2B5EF4-FFF2-40B4-BE49-F238E27FC236}">
                <a16:creationId xmlns:a16="http://schemas.microsoft.com/office/drawing/2014/main" id="{518415CF-CA99-7365-EAD9-5DFC32235EB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BEE8C95-82B2-702D-9B8C-25875C3863A8}"/>
              </a:ext>
            </a:extLst>
          </p:cNvPr>
          <p:cNvSpPr>
            <a:spLocks noGrp="1"/>
          </p:cNvSpPr>
          <p:nvPr>
            <p:ph type="sldNum" sz="quarter" idx="12"/>
          </p:nvPr>
        </p:nvSpPr>
        <p:spPr/>
        <p:txBody>
          <a:bodyPr/>
          <a:lstStyle/>
          <a:p>
            <a:fld id="{C4488F74-78F1-4A55-BBC0-8B12C245025F}" type="slidenum">
              <a:rPr lang="fr-FR" smtClean="0"/>
              <a:t>‹N°›</a:t>
            </a:fld>
            <a:endParaRPr lang="fr-FR"/>
          </a:p>
        </p:txBody>
      </p:sp>
    </p:spTree>
    <p:extLst>
      <p:ext uri="{BB962C8B-B14F-4D97-AF65-F5344CB8AC3E}">
        <p14:creationId xmlns:p14="http://schemas.microsoft.com/office/powerpoint/2010/main" val="2306392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EF45D2-F888-C4A8-4602-8307C139D95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C2D2362E-38CE-2887-E4CA-59E730C77D61}"/>
              </a:ext>
            </a:extLst>
          </p:cNvPr>
          <p:cNvSpPr>
            <a:spLocks noGrp="1"/>
          </p:cNvSpPr>
          <p:nvPr>
            <p:ph type="dt" sz="half" idx="10"/>
          </p:nvPr>
        </p:nvSpPr>
        <p:spPr/>
        <p:txBody>
          <a:bodyPr/>
          <a:lstStyle/>
          <a:p>
            <a:fld id="{2D5934FE-CBF2-4266-87F4-618BC26513AE}" type="datetimeFigureOut">
              <a:rPr lang="fr-FR" smtClean="0"/>
              <a:t>19/08/2026</a:t>
            </a:fld>
            <a:endParaRPr lang="fr-FR"/>
          </a:p>
        </p:txBody>
      </p:sp>
      <p:sp>
        <p:nvSpPr>
          <p:cNvPr id="4" name="Espace réservé du pied de page 3">
            <a:extLst>
              <a:ext uri="{FF2B5EF4-FFF2-40B4-BE49-F238E27FC236}">
                <a16:creationId xmlns:a16="http://schemas.microsoft.com/office/drawing/2014/main" id="{ACE0AD5E-EA13-13FB-FDF4-2EC888ED8C6E}"/>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1EC3E82-B823-18A4-3346-A7B5A0A14C23}"/>
              </a:ext>
            </a:extLst>
          </p:cNvPr>
          <p:cNvSpPr>
            <a:spLocks noGrp="1"/>
          </p:cNvSpPr>
          <p:nvPr>
            <p:ph type="sldNum" sz="quarter" idx="12"/>
          </p:nvPr>
        </p:nvSpPr>
        <p:spPr/>
        <p:txBody>
          <a:bodyPr/>
          <a:lstStyle/>
          <a:p>
            <a:fld id="{C4488F74-78F1-4A55-BBC0-8B12C245025F}" type="slidenum">
              <a:rPr lang="fr-FR" smtClean="0"/>
              <a:t>‹N°›</a:t>
            </a:fld>
            <a:endParaRPr lang="fr-FR"/>
          </a:p>
        </p:txBody>
      </p:sp>
    </p:spTree>
    <p:extLst>
      <p:ext uri="{BB962C8B-B14F-4D97-AF65-F5344CB8AC3E}">
        <p14:creationId xmlns:p14="http://schemas.microsoft.com/office/powerpoint/2010/main" val="820665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D8BCEE5-21E3-0E71-DD53-0344342BE5B7}"/>
              </a:ext>
            </a:extLst>
          </p:cNvPr>
          <p:cNvSpPr>
            <a:spLocks noGrp="1"/>
          </p:cNvSpPr>
          <p:nvPr>
            <p:ph type="dt" sz="half" idx="10"/>
          </p:nvPr>
        </p:nvSpPr>
        <p:spPr/>
        <p:txBody>
          <a:bodyPr/>
          <a:lstStyle/>
          <a:p>
            <a:fld id="{2D5934FE-CBF2-4266-87F4-618BC26513AE}" type="datetimeFigureOut">
              <a:rPr lang="fr-FR" smtClean="0"/>
              <a:t>19/08/2026</a:t>
            </a:fld>
            <a:endParaRPr lang="fr-FR"/>
          </a:p>
        </p:txBody>
      </p:sp>
      <p:sp>
        <p:nvSpPr>
          <p:cNvPr id="3" name="Espace réservé du pied de page 2">
            <a:extLst>
              <a:ext uri="{FF2B5EF4-FFF2-40B4-BE49-F238E27FC236}">
                <a16:creationId xmlns:a16="http://schemas.microsoft.com/office/drawing/2014/main" id="{487E0130-E6E3-3C6D-7253-7269C2766B9B}"/>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50231E0D-B648-427D-CE21-214752B6C1EF}"/>
              </a:ext>
            </a:extLst>
          </p:cNvPr>
          <p:cNvSpPr>
            <a:spLocks noGrp="1"/>
          </p:cNvSpPr>
          <p:nvPr>
            <p:ph type="sldNum" sz="quarter" idx="12"/>
          </p:nvPr>
        </p:nvSpPr>
        <p:spPr/>
        <p:txBody>
          <a:bodyPr/>
          <a:lstStyle/>
          <a:p>
            <a:fld id="{C4488F74-78F1-4A55-BBC0-8B12C245025F}" type="slidenum">
              <a:rPr lang="fr-FR" smtClean="0"/>
              <a:t>‹N°›</a:t>
            </a:fld>
            <a:endParaRPr lang="fr-FR"/>
          </a:p>
        </p:txBody>
      </p:sp>
    </p:spTree>
    <p:extLst>
      <p:ext uri="{BB962C8B-B14F-4D97-AF65-F5344CB8AC3E}">
        <p14:creationId xmlns:p14="http://schemas.microsoft.com/office/powerpoint/2010/main" val="15393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F434D3-E135-5B11-02BA-A4D36F2E03F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948AABB1-DFA6-6851-8EA7-3E8C556ACA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CE264176-C90D-46CA-B42A-11E200E864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3C67CCC-BB5A-A5E9-3CA2-800B26E7597B}"/>
              </a:ext>
            </a:extLst>
          </p:cNvPr>
          <p:cNvSpPr>
            <a:spLocks noGrp="1"/>
          </p:cNvSpPr>
          <p:nvPr>
            <p:ph type="dt" sz="half" idx="10"/>
          </p:nvPr>
        </p:nvSpPr>
        <p:spPr/>
        <p:txBody>
          <a:bodyPr/>
          <a:lstStyle/>
          <a:p>
            <a:fld id="{2D5934FE-CBF2-4266-87F4-618BC26513AE}" type="datetimeFigureOut">
              <a:rPr lang="fr-FR" smtClean="0"/>
              <a:t>19/08/2026</a:t>
            </a:fld>
            <a:endParaRPr lang="fr-FR"/>
          </a:p>
        </p:txBody>
      </p:sp>
      <p:sp>
        <p:nvSpPr>
          <p:cNvPr id="6" name="Espace réservé du pied de page 5">
            <a:extLst>
              <a:ext uri="{FF2B5EF4-FFF2-40B4-BE49-F238E27FC236}">
                <a16:creationId xmlns:a16="http://schemas.microsoft.com/office/drawing/2014/main" id="{5429DEEF-46D2-594B-9FAA-A8302EA359F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8B98089-4717-DB30-00F9-AA4FE935DF9B}"/>
              </a:ext>
            </a:extLst>
          </p:cNvPr>
          <p:cNvSpPr>
            <a:spLocks noGrp="1"/>
          </p:cNvSpPr>
          <p:nvPr>
            <p:ph type="sldNum" sz="quarter" idx="12"/>
          </p:nvPr>
        </p:nvSpPr>
        <p:spPr/>
        <p:txBody>
          <a:bodyPr/>
          <a:lstStyle/>
          <a:p>
            <a:fld id="{C4488F74-78F1-4A55-BBC0-8B12C245025F}" type="slidenum">
              <a:rPr lang="fr-FR" smtClean="0"/>
              <a:t>‹N°›</a:t>
            </a:fld>
            <a:endParaRPr lang="fr-FR"/>
          </a:p>
        </p:txBody>
      </p:sp>
    </p:spTree>
    <p:extLst>
      <p:ext uri="{BB962C8B-B14F-4D97-AF65-F5344CB8AC3E}">
        <p14:creationId xmlns:p14="http://schemas.microsoft.com/office/powerpoint/2010/main" val="252460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526862-4042-8837-551C-2E74FD6F728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7D92EF0A-A951-EDF1-E707-0AB873FF63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D36B2B9-8A74-25F1-84DB-EDA24DDDE2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092A998-3AFC-3C29-8351-A32D87F05C92}"/>
              </a:ext>
            </a:extLst>
          </p:cNvPr>
          <p:cNvSpPr>
            <a:spLocks noGrp="1"/>
          </p:cNvSpPr>
          <p:nvPr>
            <p:ph type="dt" sz="half" idx="10"/>
          </p:nvPr>
        </p:nvSpPr>
        <p:spPr/>
        <p:txBody>
          <a:bodyPr/>
          <a:lstStyle/>
          <a:p>
            <a:fld id="{2D5934FE-CBF2-4266-87F4-618BC26513AE}" type="datetimeFigureOut">
              <a:rPr lang="fr-FR" smtClean="0"/>
              <a:t>19/08/2026</a:t>
            </a:fld>
            <a:endParaRPr lang="fr-FR"/>
          </a:p>
        </p:txBody>
      </p:sp>
      <p:sp>
        <p:nvSpPr>
          <p:cNvPr id="6" name="Espace réservé du pied de page 5">
            <a:extLst>
              <a:ext uri="{FF2B5EF4-FFF2-40B4-BE49-F238E27FC236}">
                <a16:creationId xmlns:a16="http://schemas.microsoft.com/office/drawing/2014/main" id="{0D7A1DB5-A71D-6A4C-D195-6BBEFDFCE1F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EFD18E6-F691-D771-CFE4-6119D0B8A676}"/>
              </a:ext>
            </a:extLst>
          </p:cNvPr>
          <p:cNvSpPr>
            <a:spLocks noGrp="1"/>
          </p:cNvSpPr>
          <p:nvPr>
            <p:ph type="sldNum" sz="quarter" idx="12"/>
          </p:nvPr>
        </p:nvSpPr>
        <p:spPr/>
        <p:txBody>
          <a:bodyPr/>
          <a:lstStyle/>
          <a:p>
            <a:fld id="{C4488F74-78F1-4A55-BBC0-8B12C245025F}" type="slidenum">
              <a:rPr lang="fr-FR" smtClean="0"/>
              <a:t>‹N°›</a:t>
            </a:fld>
            <a:endParaRPr lang="fr-FR"/>
          </a:p>
        </p:txBody>
      </p:sp>
    </p:spTree>
    <p:extLst>
      <p:ext uri="{BB962C8B-B14F-4D97-AF65-F5344CB8AC3E}">
        <p14:creationId xmlns:p14="http://schemas.microsoft.com/office/powerpoint/2010/main" val="2194158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477DE0-C3D6-9ADF-082A-38B728FE0E5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A236351-F1B2-0818-2761-33A4DE2EE76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00E86EC-D604-2502-6C71-32C15FF1480D}"/>
              </a:ext>
            </a:extLst>
          </p:cNvPr>
          <p:cNvSpPr>
            <a:spLocks noGrp="1"/>
          </p:cNvSpPr>
          <p:nvPr>
            <p:ph type="dt" sz="half" idx="10"/>
          </p:nvPr>
        </p:nvSpPr>
        <p:spPr/>
        <p:txBody>
          <a:bodyPr/>
          <a:lstStyle/>
          <a:p>
            <a:fld id="{2D5934FE-CBF2-4266-87F4-618BC26513AE}" type="datetimeFigureOut">
              <a:rPr lang="fr-FR" smtClean="0"/>
              <a:t>19/08/2026</a:t>
            </a:fld>
            <a:endParaRPr lang="fr-FR"/>
          </a:p>
        </p:txBody>
      </p:sp>
      <p:sp>
        <p:nvSpPr>
          <p:cNvPr id="5" name="Espace réservé du pied de page 4">
            <a:extLst>
              <a:ext uri="{FF2B5EF4-FFF2-40B4-BE49-F238E27FC236}">
                <a16:creationId xmlns:a16="http://schemas.microsoft.com/office/drawing/2014/main" id="{A84FBFD0-E15E-BA61-44D1-3023B41E5D5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A5CFE9-10CE-F8DF-A43F-CF17F58DD448}"/>
              </a:ext>
            </a:extLst>
          </p:cNvPr>
          <p:cNvSpPr>
            <a:spLocks noGrp="1"/>
          </p:cNvSpPr>
          <p:nvPr>
            <p:ph type="sldNum" sz="quarter" idx="12"/>
          </p:nvPr>
        </p:nvSpPr>
        <p:spPr/>
        <p:txBody>
          <a:bodyPr/>
          <a:lstStyle/>
          <a:p>
            <a:fld id="{C4488F74-78F1-4A55-BBC0-8B12C245025F}" type="slidenum">
              <a:rPr lang="fr-FR" smtClean="0"/>
              <a:t>‹N°›</a:t>
            </a:fld>
            <a:endParaRPr lang="fr-FR"/>
          </a:p>
        </p:txBody>
      </p:sp>
    </p:spTree>
    <p:extLst>
      <p:ext uri="{BB962C8B-B14F-4D97-AF65-F5344CB8AC3E}">
        <p14:creationId xmlns:p14="http://schemas.microsoft.com/office/powerpoint/2010/main" val="2570286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D174CF7-2535-AF10-C0FB-948E11DCC3B8}"/>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9229760-135A-5C22-6FB2-C5A8A537835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9DFD598-8861-00C2-4096-B990651B1B34}"/>
              </a:ext>
            </a:extLst>
          </p:cNvPr>
          <p:cNvSpPr>
            <a:spLocks noGrp="1"/>
          </p:cNvSpPr>
          <p:nvPr>
            <p:ph type="dt" sz="half" idx="10"/>
          </p:nvPr>
        </p:nvSpPr>
        <p:spPr/>
        <p:txBody>
          <a:bodyPr/>
          <a:lstStyle/>
          <a:p>
            <a:fld id="{2D5934FE-CBF2-4266-87F4-618BC26513AE}" type="datetimeFigureOut">
              <a:rPr lang="fr-FR" smtClean="0"/>
              <a:t>19/08/2026</a:t>
            </a:fld>
            <a:endParaRPr lang="fr-FR"/>
          </a:p>
        </p:txBody>
      </p:sp>
      <p:sp>
        <p:nvSpPr>
          <p:cNvPr id="5" name="Espace réservé du pied de page 4">
            <a:extLst>
              <a:ext uri="{FF2B5EF4-FFF2-40B4-BE49-F238E27FC236}">
                <a16:creationId xmlns:a16="http://schemas.microsoft.com/office/drawing/2014/main" id="{574E5A28-1162-24F2-09EE-5F87B8FA981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11B84AF-BA49-61B6-B0CD-22A8CFE3ACA4}"/>
              </a:ext>
            </a:extLst>
          </p:cNvPr>
          <p:cNvSpPr>
            <a:spLocks noGrp="1"/>
          </p:cNvSpPr>
          <p:nvPr>
            <p:ph type="sldNum" sz="quarter" idx="12"/>
          </p:nvPr>
        </p:nvSpPr>
        <p:spPr/>
        <p:txBody>
          <a:bodyPr/>
          <a:lstStyle/>
          <a:p>
            <a:fld id="{C4488F74-78F1-4A55-BBC0-8B12C245025F}" type="slidenum">
              <a:rPr lang="fr-FR" smtClean="0"/>
              <a:t>‹N°›</a:t>
            </a:fld>
            <a:endParaRPr lang="fr-FR"/>
          </a:p>
        </p:txBody>
      </p:sp>
    </p:spTree>
    <p:extLst>
      <p:ext uri="{BB962C8B-B14F-4D97-AF65-F5344CB8AC3E}">
        <p14:creationId xmlns:p14="http://schemas.microsoft.com/office/powerpoint/2010/main" val="1627588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8EA878B-95FC-AC6D-866D-A8715D8177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58BC896-14BA-063B-C91D-5B13765585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DE13A7A-9742-9AD5-A6AA-8DAB24DDE1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5934FE-CBF2-4266-87F4-618BC26513AE}" type="datetimeFigureOut">
              <a:rPr lang="fr-FR" smtClean="0"/>
              <a:t>19/08/2026</a:t>
            </a:fld>
            <a:endParaRPr lang="fr-FR"/>
          </a:p>
        </p:txBody>
      </p:sp>
      <p:sp>
        <p:nvSpPr>
          <p:cNvPr id="5" name="Espace réservé du pied de page 4">
            <a:extLst>
              <a:ext uri="{FF2B5EF4-FFF2-40B4-BE49-F238E27FC236}">
                <a16:creationId xmlns:a16="http://schemas.microsoft.com/office/drawing/2014/main" id="{B6B0F8B4-D5EA-F18B-E6DC-7CA95CA5B7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A73B7748-52DB-400B-C546-0E71DAECE3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488F74-78F1-4A55-BBC0-8B12C245025F}" type="slidenum">
              <a:rPr lang="fr-FR" smtClean="0"/>
              <a:t>‹N°›</a:t>
            </a:fld>
            <a:endParaRPr lang="fr-FR"/>
          </a:p>
        </p:txBody>
      </p:sp>
    </p:spTree>
    <p:extLst>
      <p:ext uri="{BB962C8B-B14F-4D97-AF65-F5344CB8AC3E}">
        <p14:creationId xmlns:p14="http://schemas.microsoft.com/office/powerpoint/2010/main" val="12828838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524"/>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1EC90B-114B-3DC5-FA5D-A38ED1171E6F}"/>
              </a:ext>
            </a:extLst>
          </p:cNvPr>
          <p:cNvSpPr>
            <a:spLocks noGrp="1"/>
          </p:cNvSpPr>
          <p:nvPr>
            <p:ph type="ctrTitle"/>
          </p:nvPr>
        </p:nvSpPr>
        <p:spPr>
          <a:xfrm>
            <a:off x="1524000" y="1790359"/>
            <a:ext cx="9144000" cy="1275315"/>
          </a:xfrm>
        </p:spPr>
        <p:txBody>
          <a:bodyPr>
            <a:normAutofit fontScale="90000"/>
          </a:bodyPr>
          <a:lstStyle/>
          <a:p>
            <a:r>
              <a:rPr lang="fr-FR" sz="8800" b="1" dirty="0">
                <a:solidFill>
                  <a:srgbClr val="FF8811"/>
                </a:solidFill>
                <a:latin typeface="Inter bold"/>
              </a:rPr>
              <a:t>ASTROLEARN</a:t>
            </a:r>
          </a:p>
        </p:txBody>
      </p:sp>
      <p:sp>
        <p:nvSpPr>
          <p:cNvPr id="3" name="Sous-titre 2">
            <a:extLst>
              <a:ext uri="{FF2B5EF4-FFF2-40B4-BE49-F238E27FC236}">
                <a16:creationId xmlns:a16="http://schemas.microsoft.com/office/drawing/2014/main" id="{717F680E-FF9D-37E9-E2CF-B3C2C7AA885F}"/>
              </a:ext>
            </a:extLst>
          </p:cNvPr>
          <p:cNvSpPr>
            <a:spLocks noGrp="1"/>
          </p:cNvSpPr>
          <p:nvPr>
            <p:ph type="subTitle" idx="1"/>
          </p:nvPr>
        </p:nvSpPr>
        <p:spPr>
          <a:xfrm>
            <a:off x="1524000" y="3319245"/>
            <a:ext cx="9144000" cy="512762"/>
          </a:xfrm>
        </p:spPr>
        <p:txBody>
          <a:bodyPr/>
          <a:lstStyle/>
          <a:p>
            <a:r>
              <a:rPr lang="en-US" dirty="0">
                <a:solidFill>
                  <a:srgbClr val="E0E6F7"/>
                </a:solidFill>
              </a:rPr>
              <a:t>Une application web éducative sur l'astronomie</a:t>
            </a:r>
          </a:p>
        </p:txBody>
      </p:sp>
      <p:sp>
        <p:nvSpPr>
          <p:cNvPr id="7" name="ZoneTexte 6">
            <a:extLst>
              <a:ext uri="{FF2B5EF4-FFF2-40B4-BE49-F238E27FC236}">
                <a16:creationId xmlns:a16="http://schemas.microsoft.com/office/drawing/2014/main" id="{DDB30B8F-FE95-CF10-4492-7A6B0777C9A3}"/>
              </a:ext>
            </a:extLst>
          </p:cNvPr>
          <p:cNvSpPr txBox="1"/>
          <p:nvPr/>
        </p:nvSpPr>
        <p:spPr>
          <a:xfrm>
            <a:off x="10782300" y="6032500"/>
            <a:ext cx="698500" cy="369332"/>
          </a:xfrm>
          <a:prstGeom prst="rect">
            <a:avLst/>
          </a:prstGeom>
          <a:noFill/>
        </p:spPr>
        <p:txBody>
          <a:bodyPr wrap="square" rtlCol="0">
            <a:spAutoFit/>
          </a:bodyPr>
          <a:lstStyle/>
          <a:p>
            <a:r>
              <a:rPr lang="fr-FR" dirty="0"/>
              <a:t>1</a:t>
            </a:r>
          </a:p>
        </p:txBody>
      </p:sp>
      <p:pic>
        <p:nvPicPr>
          <p:cNvPr id="9" name="Image 8">
            <a:extLst>
              <a:ext uri="{FF2B5EF4-FFF2-40B4-BE49-F238E27FC236}">
                <a16:creationId xmlns:a16="http://schemas.microsoft.com/office/drawing/2014/main" id="{56E95C3C-3FA3-5980-E39D-3A46026E11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075" y="-589286"/>
            <a:ext cx="3714750" cy="3714750"/>
          </a:xfrm>
          <a:prstGeom prst="rect">
            <a:avLst/>
          </a:prstGeom>
        </p:spPr>
      </p:pic>
      <p:sp>
        <p:nvSpPr>
          <p:cNvPr id="10" name="Sous-titre 2">
            <a:extLst>
              <a:ext uri="{FF2B5EF4-FFF2-40B4-BE49-F238E27FC236}">
                <a16:creationId xmlns:a16="http://schemas.microsoft.com/office/drawing/2014/main" id="{87A0016A-554F-C0AF-3D38-2EECAF55F151}"/>
              </a:ext>
            </a:extLst>
          </p:cNvPr>
          <p:cNvSpPr txBox="1">
            <a:spLocks/>
          </p:cNvSpPr>
          <p:nvPr/>
        </p:nvSpPr>
        <p:spPr>
          <a:xfrm>
            <a:off x="1638300" y="6133670"/>
            <a:ext cx="9144000" cy="512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dirty="0">
                <a:solidFill>
                  <a:srgbClr val="E0E6F7"/>
                </a:solidFill>
              </a:rPr>
              <a:t>https://astrolearn.nayaweb.fr</a:t>
            </a:r>
          </a:p>
        </p:txBody>
      </p:sp>
    </p:spTree>
    <p:extLst>
      <p:ext uri="{BB962C8B-B14F-4D97-AF65-F5344CB8AC3E}">
        <p14:creationId xmlns:p14="http://schemas.microsoft.com/office/powerpoint/2010/main" val="2163271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E747DF72-31FF-DC50-6D17-C0961FFFDD66}"/>
              </a:ext>
            </a:extLst>
          </p:cNvPr>
          <p:cNvSpPr txBox="1"/>
          <p:nvPr/>
        </p:nvSpPr>
        <p:spPr>
          <a:xfrm>
            <a:off x="11131550" y="6223000"/>
            <a:ext cx="349250" cy="369332"/>
          </a:xfrm>
          <a:prstGeom prst="rect">
            <a:avLst/>
          </a:prstGeom>
          <a:noFill/>
        </p:spPr>
        <p:txBody>
          <a:bodyPr wrap="square" rtlCol="0">
            <a:spAutoFit/>
          </a:bodyPr>
          <a:lstStyle/>
          <a:p>
            <a:r>
              <a:rPr lang="fr-FR" dirty="0">
                <a:solidFill>
                  <a:schemeClr val="accent2"/>
                </a:solidFill>
              </a:rPr>
              <a:t>2</a:t>
            </a:r>
          </a:p>
        </p:txBody>
      </p:sp>
      <p:sp>
        <p:nvSpPr>
          <p:cNvPr id="12" name="Titre 11">
            <a:extLst>
              <a:ext uri="{FF2B5EF4-FFF2-40B4-BE49-F238E27FC236}">
                <a16:creationId xmlns:a16="http://schemas.microsoft.com/office/drawing/2014/main" id="{1E607D06-1745-FC11-B575-28A4CE5E68BD}"/>
              </a:ext>
            </a:extLst>
          </p:cNvPr>
          <p:cNvSpPr>
            <a:spLocks noGrp="1"/>
          </p:cNvSpPr>
          <p:nvPr>
            <p:ph type="title"/>
          </p:nvPr>
        </p:nvSpPr>
        <p:spPr>
          <a:xfrm>
            <a:off x="965200" y="50800"/>
            <a:ext cx="10515600" cy="1325563"/>
          </a:xfrm>
        </p:spPr>
        <p:txBody>
          <a:bodyPr/>
          <a:lstStyle/>
          <a:p>
            <a:pPr algn="ctr"/>
            <a:r>
              <a:rPr lang="fr-FR" b="1" dirty="0">
                <a:latin typeface="Inter bold"/>
              </a:rPr>
              <a:t>Sommaire</a:t>
            </a:r>
          </a:p>
        </p:txBody>
      </p:sp>
      <p:sp>
        <p:nvSpPr>
          <p:cNvPr id="5" name="Rectangle 3">
            <a:extLst>
              <a:ext uri="{FF2B5EF4-FFF2-40B4-BE49-F238E27FC236}">
                <a16:creationId xmlns:a16="http://schemas.microsoft.com/office/drawing/2014/main" id="{FB3E5FF4-B043-AE89-12E5-F185805D82B7}"/>
              </a:ext>
            </a:extLst>
          </p:cNvPr>
          <p:cNvSpPr>
            <a:spLocks noChangeArrowheads="1"/>
          </p:cNvSpPr>
          <p:nvPr/>
        </p:nvSpPr>
        <p:spPr bwMode="auto">
          <a:xfrm>
            <a:off x="3305165" y="1178692"/>
            <a:ext cx="4394152"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fr-FR" sz="1600" b="1" dirty="0">
                <a:solidFill>
                  <a:srgbClr val="FF8811"/>
                </a:solidFill>
                <a:latin typeface="Poppins" panose="00000500000000000000" pitchFamily="2" charset="0"/>
                <a:cs typeface="Poppins" panose="00000500000000000000" pitchFamily="2" charset="0"/>
              </a:rPr>
              <a:t>1. Présentation du projet</a:t>
            </a:r>
          </a:p>
          <a:p>
            <a:endParaRPr lang="fr-FR" sz="1600" b="1" dirty="0">
              <a:solidFill>
                <a:srgbClr val="FF8811"/>
              </a:solidFill>
              <a:latin typeface="Poppins" panose="00000500000000000000" pitchFamily="2" charset="0"/>
              <a:cs typeface="Poppins" panose="00000500000000000000" pitchFamily="2" charset="0"/>
            </a:endParaRPr>
          </a:p>
          <a:p>
            <a:r>
              <a:rPr lang="fr-FR" sz="1600" b="1" dirty="0">
                <a:solidFill>
                  <a:srgbClr val="FF8811"/>
                </a:solidFill>
                <a:latin typeface="Poppins" panose="00000500000000000000" pitchFamily="2" charset="0"/>
                <a:cs typeface="Poppins" panose="00000500000000000000" pitchFamily="2" charset="0"/>
              </a:rPr>
              <a:t>2. Conception &amp; maquettage</a:t>
            </a:r>
          </a:p>
          <a:p>
            <a:endParaRPr lang="fr-FR" sz="1600" b="1" dirty="0">
              <a:solidFill>
                <a:srgbClr val="FF8811"/>
              </a:solidFill>
              <a:latin typeface="Poppins" panose="00000500000000000000" pitchFamily="2" charset="0"/>
              <a:cs typeface="Poppins" panose="00000500000000000000" pitchFamily="2" charset="0"/>
            </a:endParaRPr>
          </a:p>
          <a:p>
            <a:r>
              <a:rPr lang="fr-FR" sz="1600" b="1" dirty="0">
                <a:solidFill>
                  <a:srgbClr val="FF8811"/>
                </a:solidFill>
                <a:latin typeface="Poppins" panose="00000500000000000000" pitchFamily="2" charset="0"/>
                <a:cs typeface="Poppins" panose="00000500000000000000" pitchFamily="2" charset="0"/>
              </a:rPr>
              <a:t>3. Architecture &amp; base de données</a:t>
            </a:r>
          </a:p>
          <a:p>
            <a:endParaRPr lang="fr-FR" sz="1600" b="1" dirty="0">
              <a:solidFill>
                <a:srgbClr val="FF8811"/>
              </a:solidFill>
              <a:latin typeface="Poppins" panose="00000500000000000000" pitchFamily="2" charset="0"/>
              <a:cs typeface="Poppins" panose="00000500000000000000" pitchFamily="2" charset="0"/>
            </a:endParaRPr>
          </a:p>
          <a:p>
            <a:r>
              <a:rPr lang="fr-FR" sz="1600" b="1" dirty="0">
                <a:solidFill>
                  <a:srgbClr val="FF8811"/>
                </a:solidFill>
                <a:latin typeface="Poppins" panose="00000500000000000000" pitchFamily="2" charset="0"/>
                <a:cs typeface="Poppins" panose="00000500000000000000" pitchFamily="2" charset="0"/>
              </a:rPr>
              <a:t>4. Développement &amp; accès aux données</a:t>
            </a:r>
          </a:p>
          <a:p>
            <a:endParaRPr lang="fr-FR" sz="1600" b="1" dirty="0">
              <a:solidFill>
                <a:srgbClr val="FF8811"/>
              </a:solidFill>
              <a:latin typeface="Poppins" panose="00000500000000000000" pitchFamily="2" charset="0"/>
              <a:cs typeface="Poppins" panose="00000500000000000000" pitchFamily="2" charset="0"/>
            </a:endParaRPr>
          </a:p>
          <a:p>
            <a:r>
              <a:rPr lang="fr-FR" sz="1600" b="1" dirty="0">
                <a:solidFill>
                  <a:srgbClr val="FF8811"/>
                </a:solidFill>
                <a:latin typeface="Poppins" panose="00000500000000000000" pitchFamily="2" charset="0"/>
                <a:cs typeface="Poppins" panose="00000500000000000000" pitchFamily="2" charset="0"/>
              </a:rPr>
              <a:t>5, Tests &amp; jeu d’essai</a:t>
            </a:r>
          </a:p>
          <a:p>
            <a:endParaRPr lang="fr-FR" sz="1600" b="1" dirty="0">
              <a:solidFill>
                <a:srgbClr val="FF8811"/>
              </a:solidFill>
              <a:latin typeface="Poppins" panose="00000500000000000000" pitchFamily="2" charset="0"/>
              <a:cs typeface="Poppins" panose="00000500000000000000" pitchFamily="2" charset="0"/>
            </a:endParaRPr>
          </a:p>
          <a:p>
            <a:r>
              <a:rPr lang="fr-FR" sz="1600" b="1" dirty="0">
                <a:solidFill>
                  <a:srgbClr val="FF8811"/>
                </a:solidFill>
                <a:latin typeface="Poppins" panose="00000500000000000000" pitchFamily="2" charset="0"/>
                <a:cs typeface="Poppins" panose="00000500000000000000" pitchFamily="2" charset="0"/>
              </a:rPr>
              <a:t>6. Sécurité &amp; RGPD</a:t>
            </a:r>
          </a:p>
          <a:p>
            <a:endParaRPr lang="fr-FR" sz="1600" b="1" dirty="0">
              <a:solidFill>
                <a:srgbClr val="FF8811"/>
              </a:solidFill>
              <a:latin typeface="Poppins" panose="00000500000000000000" pitchFamily="2" charset="0"/>
              <a:cs typeface="Poppins" panose="00000500000000000000" pitchFamily="2" charset="0"/>
            </a:endParaRPr>
          </a:p>
          <a:p>
            <a:r>
              <a:rPr lang="fr-FR" sz="1600" b="1" dirty="0">
                <a:solidFill>
                  <a:srgbClr val="FF8811"/>
                </a:solidFill>
                <a:latin typeface="Poppins" panose="00000500000000000000" pitchFamily="2" charset="0"/>
                <a:cs typeface="Poppins" panose="00000500000000000000" pitchFamily="2" charset="0"/>
              </a:rPr>
              <a:t>7. Déploiement &amp; DevOps</a:t>
            </a:r>
          </a:p>
          <a:p>
            <a:endParaRPr lang="fr-FR" sz="1600" b="1" dirty="0">
              <a:solidFill>
                <a:srgbClr val="FF8811"/>
              </a:solidFill>
              <a:latin typeface="Poppins" panose="00000500000000000000" pitchFamily="2" charset="0"/>
              <a:cs typeface="Poppins" panose="00000500000000000000" pitchFamily="2" charset="0"/>
            </a:endParaRPr>
          </a:p>
          <a:p>
            <a:r>
              <a:rPr lang="fr-FR" sz="1600" b="1" dirty="0">
                <a:solidFill>
                  <a:srgbClr val="FF8811"/>
                </a:solidFill>
                <a:latin typeface="Poppins" panose="00000500000000000000" pitchFamily="2" charset="0"/>
                <a:cs typeface="Poppins" panose="00000500000000000000" pitchFamily="2" charset="0"/>
              </a:rPr>
              <a:t>8. Gestion de projet </a:t>
            </a:r>
          </a:p>
          <a:p>
            <a:endParaRPr lang="fr-FR" sz="1600" b="1" dirty="0">
              <a:solidFill>
                <a:srgbClr val="FF8811"/>
              </a:solidFill>
              <a:latin typeface="Poppins" panose="00000500000000000000" pitchFamily="2" charset="0"/>
              <a:cs typeface="Poppins" panose="00000500000000000000" pitchFamily="2" charset="0"/>
            </a:endParaRPr>
          </a:p>
          <a:p>
            <a:r>
              <a:rPr lang="fr-FR" sz="1600" b="1" dirty="0">
                <a:solidFill>
                  <a:srgbClr val="FF8811"/>
                </a:solidFill>
                <a:latin typeface="Poppins" panose="00000500000000000000" pitchFamily="2" charset="0"/>
                <a:cs typeface="Poppins" panose="00000500000000000000" pitchFamily="2" charset="0"/>
              </a:rPr>
              <a:t>9. Veille technologique</a:t>
            </a:r>
          </a:p>
          <a:p>
            <a:endParaRPr lang="fr-FR" sz="1600" b="1" dirty="0">
              <a:solidFill>
                <a:srgbClr val="FF8811"/>
              </a:solidFill>
              <a:latin typeface="Poppins" panose="00000500000000000000" pitchFamily="2" charset="0"/>
              <a:cs typeface="Poppins" panose="00000500000000000000" pitchFamily="2" charset="0"/>
            </a:endParaRPr>
          </a:p>
          <a:p>
            <a:r>
              <a:rPr lang="fr-FR" sz="1600" b="1" dirty="0">
                <a:solidFill>
                  <a:srgbClr val="FF8811"/>
                </a:solidFill>
                <a:latin typeface="Poppins" panose="00000500000000000000" pitchFamily="2" charset="0"/>
                <a:cs typeface="Poppins" panose="00000500000000000000" pitchFamily="2" charset="0"/>
              </a:rPr>
              <a:t>10. Bilan</a:t>
            </a:r>
          </a:p>
          <a:p>
            <a:endParaRPr lang="fr-FR" sz="1600" b="1" dirty="0">
              <a:solidFill>
                <a:srgbClr val="FF8811"/>
              </a:solidFill>
              <a:latin typeface="Poppins" panose="00000500000000000000" pitchFamily="2" charset="0"/>
              <a:cs typeface="Poppins" panose="00000500000000000000" pitchFamily="2" charset="0"/>
            </a:endParaRPr>
          </a:p>
          <a:p>
            <a:r>
              <a:rPr lang="fr-FR" sz="1600" b="1" dirty="0">
                <a:solidFill>
                  <a:srgbClr val="FF8811"/>
                </a:solidFill>
                <a:latin typeface="Poppins" panose="00000500000000000000" pitchFamily="2" charset="0"/>
                <a:cs typeface="Poppins" panose="00000500000000000000" pitchFamily="2" charset="0"/>
              </a:rPr>
              <a:t>11. Démonstration</a:t>
            </a:r>
          </a:p>
        </p:txBody>
      </p:sp>
    </p:spTree>
    <p:extLst>
      <p:ext uri="{BB962C8B-B14F-4D97-AF65-F5344CB8AC3E}">
        <p14:creationId xmlns:p14="http://schemas.microsoft.com/office/powerpoint/2010/main" val="4268851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61500-614D-8598-5F22-F06169AEBBFE}"/>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D0B5986E-E5A5-1E4E-2CAB-7547307D1F82}"/>
              </a:ext>
            </a:extLst>
          </p:cNvPr>
          <p:cNvSpPr txBox="1"/>
          <p:nvPr/>
        </p:nvSpPr>
        <p:spPr>
          <a:xfrm>
            <a:off x="11131550" y="6223000"/>
            <a:ext cx="349250" cy="369332"/>
          </a:xfrm>
          <a:prstGeom prst="rect">
            <a:avLst/>
          </a:prstGeom>
          <a:noFill/>
        </p:spPr>
        <p:txBody>
          <a:bodyPr wrap="square" rtlCol="0">
            <a:spAutoFit/>
          </a:bodyPr>
          <a:lstStyle/>
          <a:p>
            <a:r>
              <a:rPr lang="fr-FR" dirty="0">
                <a:solidFill>
                  <a:schemeClr val="accent2"/>
                </a:solidFill>
              </a:rPr>
              <a:t>3</a:t>
            </a:r>
          </a:p>
        </p:txBody>
      </p:sp>
      <p:sp>
        <p:nvSpPr>
          <p:cNvPr id="2" name="Rectangle : coins arrondis 1">
            <a:extLst>
              <a:ext uri="{FF2B5EF4-FFF2-40B4-BE49-F238E27FC236}">
                <a16:creationId xmlns:a16="http://schemas.microsoft.com/office/drawing/2014/main" id="{156CA969-7259-AA1E-44D7-5EBCE933EFE1}"/>
              </a:ext>
            </a:extLst>
          </p:cNvPr>
          <p:cNvSpPr/>
          <p:nvPr/>
        </p:nvSpPr>
        <p:spPr>
          <a:xfrm>
            <a:off x="177800" y="1778000"/>
            <a:ext cx="3797300" cy="3784600"/>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u="sng"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Contexte</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Projet individuel réalisé pour ma certification RNCP Concepteur Développeur d'Applications</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Développé sur plusieurs mois, de décembre 2025 à juillet 2026</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Parti d'une version simple, enrichie progressivement</a:t>
            </a:r>
          </a:p>
        </p:txBody>
      </p:sp>
      <p:sp>
        <p:nvSpPr>
          <p:cNvPr id="3" name="Rectangle : coins arrondis 2">
            <a:extLst>
              <a:ext uri="{FF2B5EF4-FFF2-40B4-BE49-F238E27FC236}">
                <a16:creationId xmlns:a16="http://schemas.microsoft.com/office/drawing/2014/main" id="{9B398D49-3B8B-1788-8F65-54A713725135}"/>
              </a:ext>
            </a:extLst>
          </p:cNvPr>
          <p:cNvSpPr/>
          <p:nvPr/>
        </p:nvSpPr>
        <p:spPr>
          <a:xfrm>
            <a:off x="4197350" y="1778000"/>
            <a:ext cx="3797300" cy="3784600"/>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u="sng"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Objectif</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Plateforme web dynamique, responsive et sécurisée sur l'astronomie</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Catalogue d'objets célestes et carte 3D du système solaire</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Assistant IA</a:t>
            </a:r>
          </a:p>
        </p:txBody>
      </p:sp>
      <p:sp>
        <p:nvSpPr>
          <p:cNvPr id="4" name="Rectangle : coins arrondis 3">
            <a:extLst>
              <a:ext uri="{FF2B5EF4-FFF2-40B4-BE49-F238E27FC236}">
                <a16:creationId xmlns:a16="http://schemas.microsoft.com/office/drawing/2014/main" id="{836E4505-7E15-4955-D835-3EE7F53CEA2E}"/>
              </a:ext>
            </a:extLst>
          </p:cNvPr>
          <p:cNvSpPr/>
          <p:nvPr/>
        </p:nvSpPr>
        <p:spPr>
          <a:xfrm>
            <a:off x="8216900" y="1778000"/>
            <a:ext cx="3797300" cy="3784600"/>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u="sng" dirty="0">
                <a:effectLst>
                  <a:outerShdw blurRad="38100" dist="38100" dir="2700000" algn="tl">
                    <a:srgbClr val="000000">
                      <a:alpha val="43137"/>
                    </a:srgbClr>
                  </a:outerShdw>
                </a:effectLst>
                <a:latin typeface="Poppins" panose="00000500000000000000" pitchFamily="2" charset="0"/>
                <a:cs typeface="Poppins" panose="00000500000000000000" pitchFamily="2" charset="0"/>
              </a:rPr>
              <a:t>Résultat</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Application complète : comptes, favoris, propositions modérées, commentaires, espace admin</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Deux bases de données : PostgreSQL et MongoDB</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Déployée en production sur un VPS</a:t>
            </a:r>
          </a:p>
        </p:txBody>
      </p:sp>
      <p:sp>
        <p:nvSpPr>
          <p:cNvPr id="7" name="Rectangle : coins arrondis 6">
            <a:extLst>
              <a:ext uri="{FF2B5EF4-FFF2-40B4-BE49-F238E27FC236}">
                <a16:creationId xmlns:a16="http://schemas.microsoft.com/office/drawing/2014/main" id="{02EBFF11-0556-355E-9F3F-20D3E984386A}"/>
              </a:ext>
            </a:extLst>
          </p:cNvPr>
          <p:cNvSpPr/>
          <p:nvPr/>
        </p:nvSpPr>
        <p:spPr>
          <a:xfrm>
            <a:off x="177800" y="171450"/>
            <a:ext cx="2485390" cy="6830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b="1" dirty="0">
                <a:latin typeface="Inter bold"/>
              </a:rPr>
              <a:t>Présentation du projet</a:t>
            </a:r>
            <a:endParaRPr lang="fr-FR" dirty="0"/>
          </a:p>
        </p:txBody>
      </p:sp>
    </p:spTree>
    <p:extLst>
      <p:ext uri="{BB962C8B-B14F-4D97-AF65-F5344CB8AC3E}">
        <p14:creationId xmlns:p14="http://schemas.microsoft.com/office/powerpoint/2010/main" val="3963249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2FE99-1FB5-D10C-9AE9-A6F67507A9F7}"/>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E16B36B6-8EF5-D977-5567-0DEBC1CF6BAC}"/>
              </a:ext>
            </a:extLst>
          </p:cNvPr>
          <p:cNvSpPr txBox="1"/>
          <p:nvPr/>
        </p:nvSpPr>
        <p:spPr>
          <a:xfrm>
            <a:off x="11131550" y="6223000"/>
            <a:ext cx="349250" cy="369332"/>
          </a:xfrm>
          <a:prstGeom prst="rect">
            <a:avLst/>
          </a:prstGeom>
          <a:noFill/>
        </p:spPr>
        <p:txBody>
          <a:bodyPr wrap="square" rtlCol="0">
            <a:spAutoFit/>
          </a:bodyPr>
          <a:lstStyle/>
          <a:p>
            <a:r>
              <a:rPr lang="fr-FR" dirty="0">
                <a:solidFill>
                  <a:schemeClr val="accent2"/>
                </a:solidFill>
              </a:rPr>
              <a:t>4</a:t>
            </a:r>
          </a:p>
        </p:txBody>
      </p:sp>
      <p:sp>
        <p:nvSpPr>
          <p:cNvPr id="12" name="Titre 11">
            <a:extLst>
              <a:ext uri="{FF2B5EF4-FFF2-40B4-BE49-F238E27FC236}">
                <a16:creationId xmlns:a16="http://schemas.microsoft.com/office/drawing/2014/main" id="{1523E570-0D80-4491-6625-063A303D251D}"/>
              </a:ext>
            </a:extLst>
          </p:cNvPr>
          <p:cNvSpPr>
            <a:spLocks noGrp="1"/>
          </p:cNvSpPr>
          <p:nvPr>
            <p:ph type="title"/>
          </p:nvPr>
        </p:nvSpPr>
        <p:spPr>
          <a:xfrm>
            <a:off x="965200" y="50800"/>
            <a:ext cx="10515600" cy="1325563"/>
          </a:xfrm>
        </p:spPr>
        <p:txBody>
          <a:bodyPr/>
          <a:lstStyle/>
          <a:p>
            <a:pPr algn="ctr"/>
            <a:r>
              <a:rPr lang="fr-FR" b="1" dirty="0">
                <a:latin typeface="Inter bold"/>
              </a:rPr>
              <a:t>Stack Technique</a:t>
            </a:r>
          </a:p>
        </p:txBody>
      </p:sp>
      <p:sp>
        <p:nvSpPr>
          <p:cNvPr id="5" name="Ellipse 4">
            <a:extLst>
              <a:ext uri="{FF2B5EF4-FFF2-40B4-BE49-F238E27FC236}">
                <a16:creationId xmlns:a16="http://schemas.microsoft.com/office/drawing/2014/main" id="{76D9F699-9373-2877-0856-0E5110D934BF}"/>
              </a:ext>
            </a:extLst>
          </p:cNvPr>
          <p:cNvSpPr/>
          <p:nvPr/>
        </p:nvSpPr>
        <p:spPr>
          <a:xfrm>
            <a:off x="838200" y="1511300"/>
            <a:ext cx="4699000" cy="2552700"/>
          </a:xfrm>
          <a:prstGeom prst="ellipse">
            <a:avLst/>
          </a:prstGeom>
          <a:solidFill>
            <a:schemeClr val="accent1">
              <a:lumMod val="5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Poppins" panose="00000500000000000000" pitchFamily="2" charset="0"/>
                <a:cs typeface="Poppins" panose="00000500000000000000" pitchFamily="2" charset="0"/>
              </a:rPr>
              <a:t>Back-End</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 Python 3.12</a:t>
            </a:r>
          </a:p>
          <a:p>
            <a:pPr algn="ctr"/>
            <a:r>
              <a:rPr lang="fr-FR" b="1" dirty="0">
                <a:latin typeface="Poppins" panose="00000500000000000000" pitchFamily="2" charset="0"/>
                <a:cs typeface="Poppins" panose="00000500000000000000" pitchFamily="2" charset="0"/>
              </a:rPr>
              <a:t>⚗️ Flask 3.1</a:t>
            </a:r>
          </a:p>
          <a:p>
            <a:pPr algn="ctr"/>
            <a:r>
              <a:rPr lang="fr-FR" b="1" dirty="0">
                <a:latin typeface="Poppins" panose="00000500000000000000" pitchFamily="2" charset="0"/>
                <a:cs typeface="Poppins" panose="00000500000000000000" pitchFamily="2" charset="0"/>
              </a:rPr>
              <a:t>🔵 PostgreSQL + psycopg2</a:t>
            </a:r>
          </a:p>
          <a:p>
            <a:pPr algn="ctr"/>
            <a:r>
              <a:rPr lang="fr-FR" b="1" dirty="0">
                <a:latin typeface="Poppins" panose="00000500000000000000" pitchFamily="2" charset="0"/>
                <a:cs typeface="Poppins" panose="00000500000000000000" pitchFamily="2" charset="0"/>
              </a:rPr>
              <a:t>🍃 MongoDB + pymongo</a:t>
            </a:r>
          </a:p>
          <a:p>
            <a:pPr algn="ctr"/>
            <a:r>
              <a:rPr lang="fr-FR" b="1" dirty="0">
                <a:latin typeface="Poppins" panose="00000500000000000000" pitchFamily="2" charset="0"/>
                <a:cs typeface="Poppins" panose="00000500000000000000" pitchFamily="2" charset="0"/>
              </a:rPr>
              <a:t>🔒 Bcrypt (sécurité)</a:t>
            </a:r>
          </a:p>
        </p:txBody>
      </p:sp>
      <p:sp>
        <p:nvSpPr>
          <p:cNvPr id="6" name="Ellipse 5">
            <a:extLst>
              <a:ext uri="{FF2B5EF4-FFF2-40B4-BE49-F238E27FC236}">
                <a16:creationId xmlns:a16="http://schemas.microsoft.com/office/drawing/2014/main" id="{AB9BEB4A-0D94-B30E-4F9B-D6527E3C31F6}"/>
              </a:ext>
            </a:extLst>
          </p:cNvPr>
          <p:cNvSpPr/>
          <p:nvPr/>
        </p:nvSpPr>
        <p:spPr>
          <a:xfrm>
            <a:off x="6607175" y="1511300"/>
            <a:ext cx="4699000" cy="2552700"/>
          </a:xfrm>
          <a:prstGeom prst="ellipse">
            <a:avLst/>
          </a:prstGeom>
          <a:solidFill>
            <a:schemeClr val="accent1">
              <a:lumMod val="5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err="1">
                <a:latin typeface="Poppins" panose="00000500000000000000" pitchFamily="2" charset="0"/>
                <a:cs typeface="Poppins" panose="00000500000000000000" pitchFamily="2" charset="0"/>
              </a:rPr>
              <a:t>Front-End</a:t>
            </a:r>
            <a:endParaRPr lang="fr-FR" b="1" dirty="0">
              <a:latin typeface="Poppins" panose="00000500000000000000" pitchFamily="2" charset="0"/>
              <a:cs typeface="Poppins" panose="00000500000000000000" pitchFamily="2" charset="0"/>
            </a:endParaRPr>
          </a:p>
          <a:p>
            <a:pPr algn="ctr"/>
            <a:endParaRPr lang="fr-FR" dirty="0">
              <a:latin typeface="Poppins" panose="00000500000000000000" pitchFamily="2" charset="0"/>
              <a:cs typeface="Poppins" panose="00000500000000000000" pitchFamily="2" charset="0"/>
            </a:endParaRPr>
          </a:p>
          <a:p>
            <a:r>
              <a:rPr lang="fr-FR" dirty="0">
                <a:latin typeface="Poppins" panose="00000500000000000000" pitchFamily="2" charset="0"/>
                <a:cs typeface="Poppins" panose="00000500000000000000" pitchFamily="2" charset="0"/>
              </a:rPr>
              <a:t>🎨 </a:t>
            </a:r>
            <a:r>
              <a:rPr lang="fr-FR" dirty="0" err="1">
                <a:latin typeface="Poppins" panose="00000500000000000000" pitchFamily="2" charset="0"/>
                <a:cs typeface="Poppins" panose="00000500000000000000" pitchFamily="2" charset="0"/>
              </a:rPr>
              <a:t>Tailwind</a:t>
            </a:r>
            <a:r>
              <a:rPr lang="fr-FR" dirty="0">
                <a:latin typeface="Poppins" panose="00000500000000000000" pitchFamily="2" charset="0"/>
                <a:cs typeface="Poppins" panose="00000500000000000000" pitchFamily="2" charset="0"/>
              </a:rPr>
              <a:t> CSS</a:t>
            </a:r>
          </a:p>
          <a:p>
            <a:r>
              <a:rPr lang="fr-FR" dirty="0">
                <a:latin typeface="Poppins" panose="00000500000000000000" pitchFamily="2" charset="0"/>
                <a:cs typeface="Poppins" panose="00000500000000000000" pitchFamily="2" charset="0"/>
              </a:rPr>
              <a:t>🌐 Jinja2 (</a:t>
            </a:r>
            <a:r>
              <a:rPr lang="fr-FR" dirty="0" err="1">
                <a:latin typeface="Poppins" panose="00000500000000000000" pitchFamily="2" charset="0"/>
                <a:cs typeface="Poppins" panose="00000500000000000000" pitchFamily="2" charset="0"/>
              </a:rPr>
              <a:t>templates</a:t>
            </a:r>
            <a:r>
              <a:rPr lang="fr-FR" dirty="0">
                <a:latin typeface="Poppins" panose="00000500000000000000" pitchFamily="2" charset="0"/>
                <a:cs typeface="Poppins" panose="00000500000000000000" pitchFamily="2" charset="0"/>
              </a:rPr>
              <a:t>)</a:t>
            </a:r>
          </a:p>
          <a:p>
            <a:r>
              <a:rPr lang="fr-FR" dirty="0">
                <a:latin typeface="Poppins" panose="00000500000000000000" pitchFamily="2" charset="0"/>
                <a:cs typeface="Poppins" panose="00000500000000000000" pitchFamily="2" charset="0"/>
              </a:rPr>
              <a:t>🪐 Three.js (3D)</a:t>
            </a:r>
          </a:p>
          <a:p>
            <a:r>
              <a:rPr lang="fr-FR" dirty="0">
                <a:latin typeface="Poppins" panose="00000500000000000000" pitchFamily="2" charset="0"/>
                <a:cs typeface="Poppins" panose="00000500000000000000" pitchFamily="2" charset="0"/>
              </a:rPr>
              <a:t>⚡ JavaScript </a:t>
            </a:r>
            <a:r>
              <a:rPr lang="fr-FR" dirty="0" err="1">
                <a:latin typeface="Poppins" panose="00000500000000000000" pitchFamily="2" charset="0"/>
                <a:cs typeface="Poppins" panose="00000500000000000000" pitchFamily="2" charset="0"/>
              </a:rPr>
              <a:t>Vanilla</a:t>
            </a:r>
            <a:endParaRPr lang="fr-FR" dirty="0">
              <a:latin typeface="Poppins" panose="00000500000000000000" pitchFamily="2" charset="0"/>
              <a:cs typeface="Poppins" panose="00000500000000000000" pitchFamily="2" charset="0"/>
            </a:endParaRPr>
          </a:p>
        </p:txBody>
      </p:sp>
      <p:sp>
        <p:nvSpPr>
          <p:cNvPr id="7" name="Ellipse 6">
            <a:extLst>
              <a:ext uri="{FF2B5EF4-FFF2-40B4-BE49-F238E27FC236}">
                <a16:creationId xmlns:a16="http://schemas.microsoft.com/office/drawing/2014/main" id="{6B06B2C6-35FA-037C-1879-D27F000372C6}"/>
              </a:ext>
            </a:extLst>
          </p:cNvPr>
          <p:cNvSpPr/>
          <p:nvPr/>
        </p:nvSpPr>
        <p:spPr>
          <a:xfrm>
            <a:off x="838200" y="4198937"/>
            <a:ext cx="4699000" cy="2552700"/>
          </a:xfrm>
          <a:prstGeom prst="ellipse">
            <a:avLst/>
          </a:prstGeom>
          <a:solidFill>
            <a:schemeClr val="accent1">
              <a:lumMod val="5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Poppins" panose="00000500000000000000" pitchFamily="2" charset="0"/>
                <a:cs typeface="Poppins" panose="00000500000000000000" pitchFamily="2" charset="0"/>
              </a:rPr>
              <a:t>APIs &amp; IA</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 Google Gemini 2.5 Flash</a:t>
            </a:r>
          </a:p>
          <a:p>
            <a:pPr algn="ctr"/>
            <a:r>
              <a:rPr lang="fr-FR" b="1" dirty="0">
                <a:latin typeface="Poppins" panose="00000500000000000000" pitchFamily="2" charset="0"/>
                <a:cs typeface="Poppins" panose="00000500000000000000" pitchFamily="2" charset="0"/>
              </a:rPr>
              <a:t>🚀 NASA Images API</a:t>
            </a:r>
          </a:p>
          <a:p>
            <a:pPr algn="ctr"/>
            <a:r>
              <a:rPr lang="fr-FR" b="1" dirty="0">
                <a:latin typeface="Poppins" panose="00000500000000000000" pitchFamily="2" charset="0"/>
                <a:cs typeface="Poppins" panose="00000500000000000000" pitchFamily="2" charset="0"/>
              </a:rPr>
              <a:t>📋 Tally (formulaire de sondage)</a:t>
            </a:r>
          </a:p>
        </p:txBody>
      </p:sp>
      <p:sp>
        <p:nvSpPr>
          <p:cNvPr id="9" name="Ellipse 8">
            <a:extLst>
              <a:ext uri="{FF2B5EF4-FFF2-40B4-BE49-F238E27FC236}">
                <a16:creationId xmlns:a16="http://schemas.microsoft.com/office/drawing/2014/main" id="{CE6EFC39-5DC1-572D-613A-DA22D4EC2355}"/>
              </a:ext>
            </a:extLst>
          </p:cNvPr>
          <p:cNvSpPr/>
          <p:nvPr/>
        </p:nvSpPr>
        <p:spPr>
          <a:xfrm>
            <a:off x="6607175" y="4198937"/>
            <a:ext cx="4699000" cy="2552700"/>
          </a:xfrm>
          <a:prstGeom prst="ellipse">
            <a:avLst/>
          </a:prstGeom>
          <a:solidFill>
            <a:schemeClr val="accent1">
              <a:lumMod val="5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Poppins" panose="00000500000000000000" pitchFamily="2" charset="0"/>
                <a:cs typeface="Poppins" panose="00000500000000000000" pitchFamily="2" charset="0"/>
              </a:rPr>
              <a:t>DevOps &amp; Outils</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 VPS OVH, Ubuntu 22.04 LTS</a:t>
            </a:r>
          </a:p>
          <a:p>
            <a:pPr algn="ctr"/>
            <a:r>
              <a:rPr lang="fr-FR" b="1" dirty="0">
                <a:latin typeface="Poppins" panose="00000500000000000000" pitchFamily="2" charset="0"/>
                <a:cs typeface="Poppins" panose="00000500000000000000" pitchFamily="2" charset="0"/>
              </a:rPr>
              <a:t>🟢 Gunicorn + nginx</a:t>
            </a:r>
          </a:p>
          <a:p>
            <a:pPr algn="ctr"/>
            <a:r>
              <a:rPr lang="fr-FR" b="1" dirty="0">
                <a:latin typeface="Poppins" panose="00000500000000000000" pitchFamily="2" charset="0"/>
                <a:cs typeface="Poppins" panose="00000500000000000000" pitchFamily="2" charset="0"/>
              </a:rPr>
              <a:t>🔐 HTTPS Let's Encrypt</a:t>
            </a:r>
          </a:p>
          <a:p>
            <a:pPr algn="ctr"/>
            <a:r>
              <a:rPr lang="fr-FR" b="1" dirty="0">
                <a:latin typeface="Poppins" panose="00000500000000000000" pitchFamily="2" charset="0"/>
                <a:cs typeface="Poppins" panose="00000500000000000000" pitchFamily="2" charset="0"/>
              </a:rPr>
              <a:t>🐳 Docker (dev &amp; CI)</a:t>
            </a:r>
          </a:p>
          <a:p>
            <a:pPr algn="ctr"/>
            <a:r>
              <a:rPr lang="fr-FR" b="1" dirty="0">
                <a:latin typeface="Poppins" panose="00000500000000000000" pitchFamily="2" charset="0"/>
                <a:cs typeface="Poppins" panose="00000500000000000000" pitchFamily="2" charset="0"/>
              </a:rPr>
              <a:t>🐙 Git / GitHub Actions</a:t>
            </a:r>
          </a:p>
        </p:txBody>
      </p:sp>
    </p:spTree>
    <p:extLst>
      <p:ext uri="{BB962C8B-B14F-4D97-AF65-F5344CB8AC3E}">
        <p14:creationId xmlns:p14="http://schemas.microsoft.com/office/powerpoint/2010/main" val="2152150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F7A65389-56DE-0594-0B2E-CB86EB300AD4}"/>
              </a:ext>
            </a:extLst>
          </p:cNvPr>
          <p:cNvSpPr txBox="1"/>
          <p:nvPr/>
        </p:nvSpPr>
        <p:spPr>
          <a:xfrm>
            <a:off x="11131550" y="6223000"/>
            <a:ext cx="450850" cy="369332"/>
          </a:xfrm>
          <a:prstGeom prst="rect">
            <a:avLst/>
          </a:prstGeom>
          <a:noFill/>
        </p:spPr>
        <p:txBody>
          <a:bodyPr wrap="square" rtlCol="0">
            <a:spAutoFit/>
          </a:bodyPr>
          <a:lstStyle/>
          <a:p>
            <a:r>
              <a:rPr lang="fr-FR" dirty="0">
                <a:solidFill>
                  <a:schemeClr val="accent2"/>
                </a:solidFill>
              </a:rPr>
              <a:t>5</a:t>
            </a:r>
          </a:p>
        </p:txBody>
      </p:sp>
      <p:sp>
        <p:nvSpPr>
          <p:cNvPr id="2" name="Rectangle : coins arrondis 1">
            <a:extLst>
              <a:ext uri="{FF2B5EF4-FFF2-40B4-BE49-F238E27FC236}">
                <a16:creationId xmlns:a16="http://schemas.microsoft.com/office/drawing/2014/main" id="{F560E46C-8593-A92E-7477-78E0DF6251AF}"/>
              </a:ext>
            </a:extLst>
          </p:cNvPr>
          <p:cNvSpPr/>
          <p:nvPr/>
        </p:nvSpPr>
        <p:spPr>
          <a:xfrm>
            <a:off x="177800" y="975122"/>
            <a:ext cx="3787733" cy="5000000"/>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b="1" dirty="0">
                <a:latin typeface="Poppins"/>
                <a:cs typeface="Poppins"/>
              </a:rPr>
              <a:t>Visiteur</a:t>
            </a:r>
          </a:p>
          <a:p>
            <a:pPr algn="ctr">
              <a:buNone/>
            </a:pPr>
            <a:endParaRPr lang="fr-FR" b="1" dirty="0">
              <a:latin typeface="Poppins"/>
            </a:endParaRPr>
          </a:p>
          <a:p>
            <a:pPr marL="285750" indent="-285750">
              <a:buFont typeface="Wingdings"/>
              <a:buChar char="Ø"/>
            </a:pPr>
            <a:r>
              <a:rPr lang="fr-FR" dirty="0">
                <a:latin typeface="Poppins"/>
              </a:rPr>
              <a:t>Non authentifié</a:t>
            </a:r>
          </a:p>
          <a:p>
            <a:pPr marL="285750" indent="-285750">
              <a:buFont typeface="Wingdings"/>
              <a:buChar char="Ø"/>
            </a:pPr>
            <a:endParaRPr lang="fr-FR" dirty="0"/>
          </a:p>
          <a:p>
            <a:pPr marL="285750" indent="-285750">
              <a:buFont typeface="Wingdings"/>
              <a:buChar char="Ø"/>
            </a:pPr>
            <a:r>
              <a:rPr lang="fr-FR" dirty="0">
                <a:latin typeface="Poppins"/>
              </a:rPr>
              <a:t>Consulter le catalogue et les fiches objets</a:t>
            </a:r>
          </a:p>
          <a:p>
            <a:pPr marL="285750" indent="-285750">
              <a:buFont typeface="Wingdings"/>
              <a:buChar char="Ø"/>
            </a:pPr>
            <a:endParaRPr lang="fr-FR" dirty="0"/>
          </a:p>
          <a:p>
            <a:pPr marL="285750" indent="-285750">
              <a:buFont typeface="Wingdings"/>
              <a:buChar char="Ø"/>
            </a:pPr>
            <a:r>
              <a:rPr lang="fr-FR" dirty="0">
                <a:latin typeface="Poppins"/>
              </a:rPr>
              <a:t>Utiliser l'assistant AstroIA</a:t>
            </a:r>
          </a:p>
          <a:p>
            <a:pPr marL="285750" indent="-285750">
              <a:buFont typeface="Wingdings"/>
              <a:buChar char="Ø"/>
            </a:pPr>
            <a:endParaRPr lang="fr-FR" dirty="0"/>
          </a:p>
          <a:p>
            <a:pPr marL="285750" indent="-285750">
              <a:buFont typeface="Wingdings"/>
              <a:buChar char="Ø"/>
            </a:pPr>
            <a:r>
              <a:rPr lang="fr-FR" dirty="0">
                <a:latin typeface="Poppins"/>
              </a:rPr>
              <a:t>Répondre au sondage</a:t>
            </a:r>
          </a:p>
          <a:p>
            <a:pPr marL="285750" indent="-285750">
              <a:buFont typeface="Wingdings"/>
              <a:buChar char="Ø"/>
            </a:pPr>
            <a:endParaRPr lang="fr-FR" dirty="0"/>
          </a:p>
          <a:p>
            <a:pPr marL="285750" indent="-285750">
              <a:buFont typeface="Wingdings"/>
              <a:buChar char="Ø"/>
            </a:pPr>
            <a:r>
              <a:rPr lang="fr-FR" dirty="0">
                <a:latin typeface="Poppins"/>
              </a:rPr>
              <a:t>Créer un compte / se connecter</a:t>
            </a:r>
          </a:p>
        </p:txBody>
      </p:sp>
      <p:sp>
        <p:nvSpPr>
          <p:cNvPr id="5" name="Rectangle : coins arrondis 1">
            <a:extLst>
              <a:ext uri="{FF2B5EF4-FFF2-40B4-BE49-F238E27FC236}">
                <a16:creationId xmlns:a16="http://schemas.microsoft.com/office/drawing/2014/main" id="{F560E46C-8593-A92E-7477-78E0DF6251AF}"/>
              </a:ext>
            </a:extLst>
          </p:cNvPr>
          <p:cNvSpPr/>
          <p:nvPr/>
        </p:nvSpPr>
        <p:spPr>
          <a:xfrm>
            <a:off x="4202133" y="975122"/>
            <a:ext cx="3787733" cy="5000000"/>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b="1" dirty="0">
                <a:latin typeface="Poppins"/>
                <a:cs typeface="Poppins"/>
              </a:rPr>
              <a:t>Utilisateur</a:t>
            </a:r>
          </a:p>
          <a:p>
            <a:pPr algn="ctr">
              <a:buNone/>
            </a:pPr>
            <a:endParaRPr lang="fr-FR" b="1" dirty="0">
              <a:latin typeface="Poppins"/>
            </a:endParaRPr>
          </a:p>
          <a:p>
            <a:pPr marL="285750" indent="-285750">
              <a:buFont typeface="Wingdings"/>
              <a:buChar char="Ø"/>
            </a:pPr>
            <a:r>
              <a:rPr lang="fr-FR" dirty="0">
                <a:latin typeface="Poppins"/>
              </a:rPr>
              <a:t>Compte inscrit</a:t>
            </a:r>
          </a:p>
          <a:p>
            <a:pPr marL="285750" indent="-285750">
              <a:buFont typeface="Wingdings"/>
              <a:buChar char="Ø"/>
            </a:pPr>
            <a:endParaRPr lang="fr-FR" dirty="0"/>
          </a:p>
          <a:p>
            <a:pPr marL="285750" indent="-285750">
              <a:buFont typeface="Wingdings"/>
              <a:buChar char="Ø"/>
            </a:pPr>
            <a:r>
              <a:rPr lang="fr-FR" dirty="0">
                <a:latin typeface="Poppins"/>
              </a:rPr>
              <a:t>Modifier son profil</a:t>
            </a:r>
          </a:p>
          <a:p>
            <a:pPr marL="285750" indent="-285750">
              <a:buFont typeface="Wingdings"/>
              <a:buChar char="Ø"/>
            </a:pPr>
            <a:endParaRPr lang="fr-FR" dirty="0"/>
          </a:p>
          <a:p>
            <a:pPr marL="285750" indent="-285750">
              <a:buFont typeface="Wingdings"/>
              <a:buChar char="Ø"/>
            </a:pPr>
            <a:r>
              <a:rPr lang="fr-FR" dirty="0">
                <a:latin typeface="Poppins"/>
              </a:rPr>
              <a:t>Ajouter / retirer un favori</a:t>
            </a:r>
          </a:p>
          <a:p>
            <a:pPr marL="285750" indent="-285750">
              <a:buFont typeface="Wingdings"/>
              <a:buChar char="Ø"/>
            </a:pPr>
            <a:endParaRPr lang="fr-FR" dirty="0"/>
          </a:p>
          <a:p>
            <a:pPr marL="285750" indent="-285750">
              <a:buFont typeface="Wingdings"/>
              <a:buChar char="Ø"/>
            </a:pPr>
            <a:r>
              <a:rPr lang="fr-FR" dirty="0">
                <a:latin typeface="Poppins"/>
              </a:rPr>
              <a:t>Proposer un objet céleste</a:t>
            </a:r>
          </a:p>
          <a:p>
            <a:pPr marL="285750" indent="-285750">
              <a:buFont typeface="Wingdings"/>
              <a:buChar char="Ø"/>
            </a:pPr>
            <a:endParaRPr lang="fr-FR" dirty="0"/>
          </a:p>
          <a:p>
            <a:pPr marL="285750" indent="-285750">
              <a:buFont typeface="Wingdings"/>
              <a:buChar char="Ø"/>
            </a:pPr>
            <a:r>
              <a:rPr lang="fr-FR" dirty="0">
                <a:latin typeface="Poppins"/>
              </a:rPr>
              <a:t>Commenter un objet / répondre</a:t>
            </a:r>
          </a:p>
        </p:txBody>
      </p:sp>
      <p:sp>
        <p:nvSpPr>
          <p:cNvPr id="3" name="Rectangle : coins arrondis 2">
            <a:extLst>
              <a:ext uri="{FF2B5EF4-FFF2-40B4-BE49-F238E27FC236}">
                <a16:creationId xmlns:a16="http://schemas.microsoft.com/office/drawing/2014/main" id="{8FFB9E2C-B888-6ADA-B9C2-BA6DEECA387C}"/>
              </a:ext>
            </a:extLst>
          </p:cNvPr>
          <p:cNvSpPr/>
          <p:nvPr/>
        </p:nvSpPr>
        <p:spPr>
          <a:xfrm>
            <a:off x="8226466" y="975122"/>
            <a:ext cx="3787733" cy="5000000"/>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b="1" dirty="0">
                <a:latin typeface="Poppins"/>
                <a:cs typeface="Poppins"/>
              </a:rPr>
              <a:t>Administrateur</a:t>
            </a:r>
          </a:p>
          <a:p>
            <a:pPr algn="ctr">
              <a:buNone/>
            </a:pPr>
            <a:endParaRPr lang="fr-FR" b="1" dirty="0">
              <a:latin typeface="Poppins"/>
            </a:endParaRPr>
          </a:p>
          <a:p>
            <a:pPr marL="285750" indent="-285750">
              <a:buFont typeface="Wingdings"/>
              <a:buChar char="Ø"/>
            </a:pPr>
            <a:r>
              <a:rPr lang="fr-FR" dirty="0">
                <a:latin typeface="Poppins"/>
              </a:rPr>
              <a:t>Compte distinct de la table UTILISATEUR</a:t>
            </a:r>
          </a:p>
          <a:p>
            <a:pPr marL="285750" indent="-285750">
              <a:buFont typeface="Wingdings"/>
              <a:buChar char="Ø"/>
            </a:pPr>
            <a:endParaRPr lang="fr-FR" dirty="0"/>
          </a:p>
          <a:p>
            <a:pPr marL="285750" indent="-285750">
              <a:buFont typeface="Wingdings"/>
              <a:buChar char="Ø"/>
            </a:pPr>
            <a:r>
              <a:rPr lang="fr-FR" dirty="0">
                <a:latin typeface="Poppins"/>
              </a:rPr>
              <a:t>Gère le catalogue et les comptes</a:t>
            </a:r>
          </a:p>
          <a:p>
            <a:pPr marL="285750" indent="-285750">
              <a:buFont typeface="Wingdings"/>
              <a:buChar char="Ø"/>
            </a:pPr>
            <a:endParaRPr lang="fr-FR" dirty="0"/>
          </a:p>
          <a:p>
            <a:pPr marL="285750" indent="-285750">
              <a:buFont typeface="Wingdings"/>
              <a:buChar char="Ø"/>
            </a:pPr>
            <a:r>
              <a:rPr lang="fr-FR" dirty="0">
                <a:latin typeface="Poppins"/>
              </a:rPr>
              <a:t>Modère commentaires et propositions</a:t>
            </a:r>
          </a:p>
          <a:p>
            <a:pPr marL="285750" indent="-285750">
              <a:buFont typeface="Wingdings"/>
              <a:buChar char="Ø"/>
            </a:pPr>
            <a:endParaRPr lang="fr-FR" dirty="0"/>
          </a:p>
          <a:p>
            <a:pPr marL="285750" indent="-285750">
              <a:buFont typeface="Wingdings"/>
              <a:buChar char="Ø"/>
            </a:pPr>
            <a:r>
              <a:rPr lang="fr-FR" dirty="0">
                <a:latin typeface="Poppins"/>
              </a:rPr>
              <a:t>Consulte la traçabilité de saisie</a:t>
            </a:r>
          </a:p>
          <a:p>
            <a:pPr marL="285750" indent="-285750">
              <a:buFont typeface="Wingdings"/>
              <a:buChar char="Ø"/>
            </a:pPr>
            <a:endParaRPr lang="fr-FR" dirty="0"/>
          </a:p>
          <a:p>
            <a:pPr marL="285750" indent="-285750">
              <a:buFont typeface="Wingdings"/>
              <a:buChar char="Ø"/>
            </a:pPr>
            <a:r>
              <a:rPr lang="fr-FR" dirty="0">
                <a:latin typeface="Poppins"/>
              </a:rPr>
              <a:t>N'a pas accès aux favoris / propositions</a:t>
            </a:r>
          </a:p>
        </p:txBody>
      </p:sp>
      <p:sp>
        <p:nvSpPr>
          <p:cNvPr id="4" name="Rectangle : coins arrondis 3">
            <a:extLst>
              <a:ext uri="{FF2B5EF4-FFF2-40B4-BE49-F238E27FC236}">
                <a16:creationId xmlns:a16="http://schemas.microsoft.com/office/drawing/2014/main" id="{0816F8C2-9027-4253-9E8B-1C168CCB01F6}"/>
              </a:ext>
            </a:extLst>
          </p:cNvPr>
          <p:cNvSpPr/>
          <p:nvPr/>
        </p:nvSpPr>
        <p:spPr>
          <a:xfrm>
            <a:off x="177800" y="171450"/>
            <a:ext cx="1925320" cy="6830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b="1" dirty="0">
                <a:latin typeface="Inter bold"/>
                <a:cs typeface="Poppins" panose="00000500000000000000" pitchFamily="2" charset="0"/>
              </a:rPr>
              <a:t>Utilisateurs &amp; rôles</a:t>
            </a:r>
            <a:r>
              <a:rPr lang="fr-FR" b="1" dirty="0">
                <a:latin typeface="Inter bold"/>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1F0B1474-6E8B-EF8A-3C77-3A183180FD37}"/>
              </a:ext>
            </a:extLst>
          </p:cNvPr>
          <p:cNvSpPr txBox="1"/>
          <p:nvPr/>
        </p:nvSpPr>
        <p:spPr>
          <a:xfrm>
            <a:off x="11131550" y="6223000"/>
            <a:ext cx="349250" cy="369332"/>
          </a:xfrm>
          <a:prstGeom prst="rect">
            <a:avLst/>
          </a:prstGeom>
          <a:noFill/>
        </p:spPr>
        <p:txBody>
          <a:bodyPr wrap="square" rtlCol="0">
            <a:spAutoFit/>
          </a:bodyPr>
          <a:lstStyle/>
          <a:p>
            <a:r>
              <a:rPr lang="fr-FR" dirty="0">
                <a:solidFill>
                  <a:schemeClr val="accent2"/>
                </a:solidFill>
              </a:rPr>
              <a:t>6</a:t>
            </a:r>
          </a:p>
        </p:txBody>
      </p:sp>
      <p:sp>
        <p:nvSpPr>
          <p:cNvPr id="12" name="Titre 11">
            <a:extLst>
              <a:ext uri="{FF2B5EF4-FFF2-40B4-BE49-F238E27FC236}">
                <a16:creationId xmlns:a16="http://schemas.microsoft.com/office/drawing/2014/main" id="{664D575D-1A16-FAA0-FEE6-9E2B011AA9DB}"/>
              </a:ext>
            </a:extLst>
          </p:cNvPr>
          <p:cNvSpPr>
            <a:spLocks noGrp="1"/>
          </p:cNvSpPr>
          <p:nvPr>
            <p:ph type="title"/>
          </p:nvPr>
        </p:nvSpPr>
        <p:spPr>
          <a:xfrm>
            <a:off x="965200" y="50800"/>
            <a:ext cx="10515600" cy="1325563"/>
          </a:xfrm>
        </p:spPr>
        <p:txBody>
          <a:bodyPr/>
          <a:lstStyle/>
          <a:p>
            <a:r>
              <a:t>Arborescence d'écrans (Sitemap)</a:t>
            </a:r>
          </a:p>
        </p:txBody>
      </p:sp>
      <p:pic>
        <p:nvPicPr>
          <p:cNvPr id="5" name="Espace réservé du contenu 4">
            <a:extLst>
              <a:ext uri="{FF2B5EF4-FFF2-40B4-BE49-F238E27FC236}">
                <a16:creationId xmlns:a16="http://schemas.microsoft.com/office/drawing/2014/main" id="{E367611B-0772-CADF-0F50-C7F1DC4C342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315" y="2421924"/>
            <a:ext cx="12176685" cy="2218034"/>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AA96D-C943-13EA-10B9-00B21996CA6E}"/>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EE6AA505-7B19-9721-B47F-B015A49588F6}"/>
              </a:ext>
            </a:extLst>
          </p:cNvPr>
          <p:cNvSpPr txBox="1"/>
          <p:nvPr/>
        </p:nvSpPr>
        <p:spPr>
          <a:xfrm>
            <a:off x="11131550" y="6223000"/>
            <a:ext cx="349250" cy="369332"/>
          </a:xfrm>
          <a:prstGeom prst="rect">
            <a:avLst/>
          </a:prstGeom>
          <a:noFill/>
        </p:spPr>
        <p:txBody>
          <a:bodyPr wrap="square" rtlCol="0">
            <a:spAutoFit/>
          </a:bodyPr>
          <a:lstStyle/>
          <a:p>
            <a:r>
              <a:rPr lang="fr-FR" dirty="0">
                <a:solidFill>
                  <a:schemeClr val="accent2"/>
                </a:solidFill>
              </a:rPr>
              <a:t>7</a:t>
            </a:r>
          </a:p>
        </p:txBody>
      </p:sp>
      <p:sp>
        <p:nvSpPr>
          <p:cNvPr id="12" name="Titre 11">
            <a:extLst>
              <a:ext uri="{FF2B5EF4-FFF2-40B4-BE49-F238E27FC236}">
                <a16:creationId xmlns:a16="http://schemas.microsoft.com/office/drawing/2014/main" id="{3FBB7089-0A2B-AF64-EF12-403BB0EFDC09}"/>
              </a:ext>
            </a:extLst>
          </p:cNvPr>
          <p:cNvSpPr>
            <a:spLocks noGrp="1"/>
          </p:cNvSpPr>
          <p:nvPr>
            <p:ph type="title"/>
          </p:nvPr>
        </p:nvSpPr>
        <p:spPr>
          <a:xfrm>
            <a:off x="-3985623" y="1213395"/>
            <a:ext cx="10515600" cy="1325563"/>
          </a:xfrm>
        </p:spPr>
        <p:txBody>
          <a:bodyPr/>
          <a:lstStyle/>
          <a:p>
            <a:pPr algn="ctr"/>
            <a:r>
              <a:rPr lang="fr-FR" b="1" dirty="0">
                <a:latin typeface="Inter bold"/>
              </a:rPr>
              <a:t>Zoning</a:t>
            </a:r>
          </a:p>
        </p:txBody>
      </p:sp>
      <p:pic>
        <p:nvPicPr>
          <p:cNvPr id="10" name="Espace réservé du contenu 4">
            <a:extLst>
              <a:ext uri="{FF2B5EF4-FFF2-40B4-BE49-F238E27FC236}">
                <a16:creationId xmlns:a16="http://schemas.microsoft.com/office/drawing/2014/main" id="{60FDCABF-F91B-6FC7-B079-D8283B53FA9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638696" y="171451"/>
            <a:ext cx="6853245" cy="6542858"/>
          </a:xfrm>
        </p:spPr>
      </p:pic>
      <p:sp>
        <p:nvSpPr>
          <p:cNvPr id="2" name="Rectangle : coins arrondis 1">
            <a:extLst>
              <a:ext uri="{FF2B5EF4-FFF2-40B4-BE49-F238E27FC236}">
                <a16:creationId xmlns:a16="http://schemas.microsoft.com/office/drawing/2014/main" id="{9D1ECDF8-534F-2450-38E7-6630E8A78B7E}"/>
              </a:ext>
            </a:extLst>
          </p:cNvPr>
          <p:cNvSpPr/>
          <p:nvPr/>
        </p:nvSpPr>
        <p:spPr>
          <a:xfrm>
            <a:off x="177800" y="171450"/>
            <a:ext cx="1422400" cy="6830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b="1" dirty="0">
                <a:latin typeface="Inter bold"/>
              </a:rPr>
              <a:t>Conception</a:t>
            </a:r>
            <a:endParaRPr lang="fr-FR" dirty="0"/>
          </a:p>
        </p:txBody>
      </p:sp>
    </p:spTree>
    <p:extLst>
      <p:ext uri="{BB962C8B-B14F-4D97-AF65-F5344CB8AC3E}">
        <p14:creationId xmlns:p14="http://schemas.microsoft.com/office/powerpoint/2010/main" val="3568037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47863-BCB4-A4D7-96CE-1064B0991EA2}"/>
            </a:ext>
          </a:extLst>
        </p:cNvPr>
        <p:cNvGrpSpPr/>
        <p:nvPr/>
      </p:nvGrpSpPr>
      <p:grpSpPr>
        <a:xfrm>
          <a:off x="0" y="0"/>
          <a:ext cx="0" cy="0"/>
          <a:chOff x="0" y="0"/>
          <a:chExt cx="0" cy="0"/>
        </a:xfrm>
      </p:grpSpPr>
      <p:pic>
        <p:nvPicPr>
          <p:cNvPr id="4" name="Espace réservé du contenu 4">
            <a:extLst>
              <a:ext uri="{FF2B5EF4-FFF2-40B4-BE49-F238E27FC236}">
                <a16:creationId xmlns:a16="http://schemas.microsoft.com/office/drawing/2014/main" id="{AC5D9BB4-A612-262B-C669-8A7BA5A0CC2E}"/>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207624" y="263202"/>
            <a:ext cx="10743110" cy="6331596"/>
          </a:xfrm>
        </p:spPr>
      </p:pic>
      <p:sp>
        <p:nvSpPr>
          <p:cNvPr id="8" name="ZoneTexte 7">
            <a:extLst>
              <a:ext uri="{FF2B5EF4-FFF2-40B4-BE49-F238E27FC236}">
                <a16:creationId xmlns:a16="http://schemas.microsoft.com/office/drawing/2014/main" id="{496DEF17-122A-A9A8-C3D6-01D2356522F4}"/>
              </a:ext>
            </a:extLst>
          </p:cNvPr>
          <p:cNvSpPr txBox="1"/>
          <p:nvPr/>
        </p:nvSpPr>
        <p:spPr>
          <a:xfrm>
            <a:off x="11363198" y="6410132"/>
            <a:ext cx="349250" cy="369332"/>
          </a:xfrm>
          <a:prstGeom prst="rect">
            <a:avLst/>
          </a:prstGeom>
          <a:noFill/>
        </p:spPr>
        <p:txBody>
          <a:bodyPr wrap="square" rtlCol="0">
            <a:spAutoFit/>
          </a:bodyPr>
          <a:lstStyle/>
          <a:p>
            <a:r>
              <a:rPr lang="fr-FR" dirty="0">
                <a:solidFill>
                  <a:schemeClr val="accent2"/>
                </a:solidFill>
              </a:rPr>
              <a:t>8</a:t>
            </a:r>
          </a:p>
        </p:txBody>
      </p:sp>
      <p:sp>
        <p:nvSpPr>
          <p:cNvPr id="12" name="Titre 11">
            <a:extLst>
              <a:ext uri="{FF2B5EF4-FFF2-40B4-BE49-F238E27FC236}">
                <a16:creationId xmlns:a16="http://schemas.microsoft.com/office/drawing/2014/main" id="{AC0F5C3E-4BB7-9694-799C-7E8954E97E79}"/>
              </a:ext>
            </a:extLst>
          </p:cNvPr>
          <p:cNvSpPr>
            <a:spLocks noGrp="1"/>
          </p:cNvSpPr>
          <p:nvPr>
            <p:ph type="title"/>
          </p:nvPr>
        </p:nvSpPr>
        <p:spPr>
          <a:xfrm>
            <a:off x="-3534990" y="263202"/>
            <a:ext cx="10515600" cy="1325563"/>
          </a:xfrm>
        </p:spPr>
        <p:txBody>
          <a:bodyPr/>
          <a:lstStyle/>
          <a:p>
            <a:pPr algn="ctr"/>
            <a:r>
              <a:rPr lang="fr-FR" b="1" dirty="0">
                <a:latin typeface="Inter bold"/>
              </a:rPr>
              <a:t>Wireframe</a:t>
            </a:r>
          </a:p>
        </p:txBody>
      </p:sp>
    </p:spTree>
    <p:extLst>
      <p:ext uri="{BB962C8B-B14F-4D97-AF65-F5344CB8AC3E}">
        <p14:creationId xmlns:p14="http://schemas.microsoft.com/office/powerpoint/2010/main" val="4158839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A6173-D202-C63B-E575-317C89BB61B2}"/>
            </a:ext>
          </a:extLst>
        </p:cNvPr>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22A503F4-9365-D78C-2FEC-EA6413A6AC8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14950" y="224710"/>
            <a:ext cx="6408579" cy="6408579"/>
          </a:xfrm>
          <a:prstGeom prst="rect">
            <a:avLst/>
          </a:prstGeom>
        </p:spPr>
      </p:pic>
      <p:sp>
        <p:nvSpPr>
          <p:cNvPr id="8" name="ZoneTexte 7">
            <a:extLst>
              <a:ext uri="{FF2B5EF4-FFF2-40B4-BE49-F238E27FC236}">
                <a16:creationId xmlns:a16="http://schemas.microsoft.com/office/drawing/2014/main" id="{6170EC55-C2A9-7FAD-CCCA-8CFF9DE4A683}"/>
              </a:ext>
            </a:extLst>
          </p:cNvPr>
          <p:cNvSpPr txBox="1"/>
          <p:nvPr/>
        </p:nvSpPr>
        <p:spPr>
          <a:xfrm>
            <a:off x="11374279" y="6263957"/>
            <a:ext cx="349250" cy="369332"/>
          </a:xfrm>
          <a:prstGeom prst="rect">
            <a:avLst/>
          </a:prstGeom>
          <a:noFill/>
        </p:spPr>
        <p:txBody>
          <a:bodyPr wrap="square" rtlCol="0">
            <a:spAutoFit/>
          </a:bodyPr>
          <a:lstStyle/>
          <a:p>
            <a:r>
              <a:rPr lang="fr-FR" dirty="0">
                <a:solidFill>
                  <a:schemeClr val="accent2"/>
                </a:solidFill>
              </a:rPr>
              <a:t>9</a:t>
            </a:r>
          </a:p>
        </p:txBody>
      </p:sp>
      <p:sp>
        <p:nvSpPr>
          <p:cNvPr id="12" name="Titre 11">
            <a:extLst>
              <a:ext uri="{FF2B5EF4-FFF2-40B4-BE49-F238E27FC236}">
                <a16:creationId xmlns:a16="http://schemas.microsoft.com/office/drawing/2014/main" id="{B028D94D-8247-61D2-5D30-19626BF640AC}"/>
              </a:ext>
            </a:extLst>
          </p:cNvPr>
          <p:cNvSpPr>
            <a:spLocks noGrp="1"/>
          </p:cNvSpPr>
          <p:nvPr>
            <p:ph type="title"/>
          </p:nvPr>
        </p:nvSpPr>
        <p:spPr>
          <a:xfrm>
            <a:off x="-622300" y="265668"/>
            <a:ext cx="5937250" cy="1325563"/>
          </a:xfrm>
        </p:spPr>
        <p:txBody>
          <a:bodyPr/>
          <a:lstStyle/>
          <a:p>
            <a:pPr algn="ctr"/>
            <a:r>
              <a:rPr lang="fr-FR" b="1" dirty="0">
                <a:latin typeface="Inter bold"/>
              </a:rPr>
              <a:t>Charte Graphique</a:t>
            </a:r>
          </a:p>
        </p:txBody>
      </p:sp>
      <p:sp>
        <p:nvSpPr>
          <p:cNvPr id="9" name="Rectangle 8">
            <a:extLst>
              <a:ext uri="{FF2B5EF4-FFF2-40B4-BE49-F238E27FC236}">
                <a16:creationId xmlns:a16="http://schemas.microsoft.com/office/drawing/2014/main" id="{5EEDF993-95DC-D911-769C-2934F617757E}"/>
              </a:ext>
            </a:extLst>
          </p:cNvPr>
          <p:cNvSpPr/>
          <p:nvPr/>
        </p:nvSpPr>
        <p:spPr>
          <a:xfrm>
            <a:off x="1600200" y="1376363"/>
            <a:ext cx="2184400" cy="1341437"/>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133412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2A694-363E-07C4-5FA8-7DD4B7AA221F}"/>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1F0B1474-6E8B-EF8A-3C77-3A183180FD37}"/>
              </a:ext>
            </a:extLst>
          </p:cNvPr>
          <p:cNvSpPr txBox="1"/>
          <p:nvPr/>
        </p:nvSpPr>
        <p:spPr>
          <a:xfrm>
            <a:off x="11131550" y="6223000"/>
            <a:ext cx="584962" cy="369332"/>
          </a:xfrm>
          <a:prstGeom prst="rect">
            <a:avLst/>
          </a:prstGeom>
          <a:noFill/>
        </p:spPr>
        <p:txBody>
          <a:bodyPr wrap="square" rtlCol="0">
            <a:spAutoFit/>
          </a:bodyPr>
          <a:lstStyle/>
          <a:p>
            <a:r>
              <a:rPr lang="fr-FR" dirty="0">
                <a:solidFill>
                  <a:schemeClr val="accent2"/>
                </a:solidFill>
              </a:rPr>
              <a:t>10</a:t>
            </a:r>
          </a:p>
        </p:txBody>
      </p:sp>
      <p:sp>
        <p:nvSpPr>
          <p:cNvPr id="12" name="Titre 11">
            <a:extLst>
              <a:ext uri="{FF2B5EF4-FFF2-40B4-BE49-F238E27FC236}">
                <a16:creationId xmlns:a16="http://schemas.microsoft.com/office/drawing/2014/main" id="{664D575D-1A16-FAA0-FEE6-9E2B011AA9DB}"/>
              </a:ext>
            </a:extLst>
          </p:cNvPr>
          <p:cNvSpPr>
            <a:spLocks noGrp="1"/>
          </p:cNvSpPr>
          <p:nvPr>
            <p:ph type="title"/>
          </p:nvPr>
        </p:nvSpPr>
        <p:spPr>
          <a:xfrm>
            <a:off x="965200" y="50800"/>
            <a:ext cx="10515600" cy="1325563"/>
          </a:xfrm>
        </p:spPr>
        <p:txBody>
          <a:bodyPr/>
          <a:lstStyle/>
          <a:p>
            <a:pPr algn="ctr"/>
            <a:r>
              <a:rPr lang="fr-FR" b="1" dirty="0">
                <a:latin typeface="Inter bold"/>
              </a:rPr>
              <a:t>Maquette FIGMA</a:t>
            </a:r>
          </a:p>
        </p:txBody>
      </p:sp>
      <p:pic>
        <p:nvPicPr>
          <p:cNvPr id="5" name="Espace réservé du contenu 4">
            <a:extLst>
              <a:ext uri="{FF2B5EF4-FFF2-40B4-BE49-F238E27FC236}">
                <a16:creationId xmlns:a16="http://schemas.microsoft.com/office/drawing/2014/main" id="{E367611B-0772-CADF-0F50-C7F1DC4C342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10006" y="1024986"/>
            <a:ext cx="9225987" cy="5549392"/>
          </a:xfrm>
        </p:spPr>
      </p:pic>
    </p:spTree>
    <p:extLst>
      <p:ext uri="{BB962C8B-B14F-4D97-AF65-F5344CB8AC3E}">
        <p14:creationId xmlns:p14="http://schemas.microsoft.com/office/powerpoint/2010/main" val="3167181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0DD84-B9FA-1188-00D9-CF5E9B45E9E9}"/>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CFC15EF2-FE98-CE33-CD7D-4D1649BAF667}"/>
              </a:ext>
            </a:extLst>
          </p:cNvPr>
          <p:cNvSpPr>
            <a:spLocks noGrp="1"/>
          </p:cNvSpPr>
          <p:nvPr>
            <p:ph type="title"/>
          </p:nvPr>
        </p:nvSpPr>
        <p:spPr>
          <a:xfrm>
            <a:off x="-812800" y="0"/>
            <a:ext cx="10515600" cy="1325563"/>
          </a:xfrm>
        </p:spPr>
        <p:txBody>
          <a:bodyPr/>
          <a:lstStyle/>
          <a:p>
            <a:pPr algn="ctr"/>
            <a:r>
              <a:rPr lang="fr-FR" b="1" dirty="0">
                <a:latin typeface="Inter bold"/>
              </a:rPr>
              <a:t>Diagramme UML</a:t>
            </a:r>
          </a:p>
        </p:txBody>
      </p:sp>
      <p:sp>
        <p:nvSpPr>
          <p:cNvPr id="8" name="ZoneTexte 7">
            <a:extLst>
              <a:ext uri="{FF2B5EF4-FFF2-40B4-BE49-F238E27FC236}">
                <a16:creationId xmlns:a16="http://schemas.microsoft.com/office/drawing/2014/main" id="{81B851B7-1472-276D-6E2B-80F780B25009}"/>
              </a:ext>
            </a:extLst>
          </p:cNvPr>
          <p:cNvSpPr txBox="1"/>
          <p:nvPr/>
        </p:nvSpPr>
        <p:spPr>
          <a:xfrm>
            <a:off x="11131550" y="6223000"/>
            <a:ext cx="487426" cy="369332"/>
          </a:xfrm>
          <a:prstGeom prst="rect">
            <a:avLst/>
          </a:prstGeom>
          <a:noFill/>
        </p:spPr>
        <p:txBody>
          <a:bodyPr wrap="square" rtlCol="0">
            <a:spAutoFit/>
          </a:bodyPr>
          <a:lstStyle/>
          <a:p>
            <a:r>
              <a:rPr lang="fr-FR" dirty="0">
                <a:solidFill>
                  <a:schemeClr val="accent2"/>
                </a:solidFill>
              </a:rPr>
              <a:t>11</a:t>
            </a:r>
          </a:p>
        </p:txBody>
      </p:sp>
      <p:sp>
        <p:nvSpPr>
          <p:cNvPr id="2" name="Rectangle : coins arrondis 1">
            <a:extLst>
              <a:ext uri="{FF2B5EF4-FFF2-40B4-BE49-F238E27FC236}">
                <a16:creationId xmlns:a16="http://schemas.microsoft.com/office/drawing/2014/main" id="{75E18791-FA86-FB83-3E7E-16C421EFE19A}"/>
              </a:ext>
            </a:extLst>
          </p:cNvPr>
          <p:cNvSpPr/>
          <p:nvPr/>
        </p:nvSpPr>
        <p:spPr>
          <a:xfrm>
            <a:off x="177800" y="171450"/>
            <a:ext cx="1593850" cy="6830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b="1" dirty="0">
                <a:latin typeface="Inter bold"/>
              </a:rPr>
              <a:t>Architecture </a:t>
            </a:r>
            <a:endParaRPr lang="fr-FR" dirty="0"/>
          </a:p>
        </p:txBody>
      </p:sp>
      <p:pic>
        <p:nvPicPr>
          <p:cNvPr id="10" name="Image 9">
            <a:extLst>
              <a:ext uri="{FF2B5EF4-FFF2-40B4-BE49-F238E27FC236}">
                <a16:creationId xmlns:a16="http://schemas.microsoft.com/office/drawing/2014/main" id="{13519A24-E48B-69F9-2ECF-7051894DA5DA}"/>
              </a:ext>
            </a:extLst>
          </p:cNvPr>
          <p:cNvPicPr>
            <a:picLocks noChangeAspect="1"/>
          </p:cNvPicPr>
          <p:nvPr/>
        </p:nvPicPr>
        <p:blipFill>
          <a:blip r:embed="rId3">
            <a:extLst>
              <a:ext uri="{28A0092B-C50C-407E-A947-70E740481C1C}">
                <a14:useLocalDpi xmlns:a14="http://schemas.microsoft.com/office/drawing/2010/main" val="0"/>
              </a:ext>
            </a:extLst>
          </a:blip>
          <a:srcRect t="-126" b="45918"/>
          <a:stretch>
            <a:fillRect/>
          </a:stretch>
        </p:blipFill>
        <p:spPr>
          <a:xfrm>
            <a:off x="698465" y="1142999"/>
            <a:ext cx="4227865" cy="5565253"/>
          </a:xfrm>
          <a:prstGeom prst="rect">
            <a:avLst/>
          </a:prstGeom>
        </p:spPr>
      </p:pic>
      <p:pic>
        <p:nvPicPr>
          <p:cNvPr id="15" name="Image 14">
            <a:extLst>
              <a:ext uri="{FF2B5EF4-FFF2-40B4-BE49-F238E27FC236}">
                <a16:creationId xmlns:a16="http://schemas.microsoft.com/office/drawing/2014/main" id="{AE7B8149-BDAF-DEA9-4F37-BC2AC616D507}"/>
              </a:ext>
            </a:extLst>
          </p:cNvPr>
          <p:cNvPicPr>
            <a:picLocks noChangeAspect="1"/>
          </p:cNvPicPr>
          <p:nvPr/>
        </p:nvPicPr>
        <p:blipFill>
          <a:blip r:embed="rId4">
            <a:extLst>
              <a:ext uri="{28A0092B-C50C-407E-A947-70E740481C1C}">
                <a14:useLocalDpi xmlns:a14="http://schemas.microsoft.com/office/drawing/2010/main" val="0"/>
              </a:ext>
            </a:extLst>
          </a:blip>
          <a:srcRect t="56167" b="-376"/>
          <a:stretch>
            <a:fillRect/>
          </a:stretch>
        </p:blipFill>
        <p:spPr>
          <a:xfrm>
            <a:off x="6203583" y="1325563"/>
            <a:ext cx="4767948" cy="5118437"/>
          </a:xfrm>
          <a:prstGeom prst="rect">
            <a:avLst/>
          </a:prstGeom>
        </p:spPr>
      </p:pic>
    </p:spTree>
    <p:extLst>
      <p:ext uri="{BB962C8B-B14F-4D97-AF65-F5344CB8AC3E}">
        <p14:creationId xmlns:p14="http://schemas.microsoft.com/office/powerpoint/2010/main" val="2857158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29D18-D10A-DE95-45F7-E427DAE87EFF}"/>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86F031BC-DAB8-1700-B350-768A006FA709}"/>
              </a:ext>
            </a:extLst>
          </p:cNvPr>
          <p:cNvSpPr txBox="1"/>
          <p:nvPr/>
        </p:nvSpPr>
        <p:spPr>
          <a:xfrm>
            <a:off x="11131550" y="6223000"/>
            <a:ext cx="450850" cy="369332"/>
          </a:xfrm>
          <a:prstGeom prst="rect">
            <a:avLst/>
          </a:prstGeom>
          <a:noFill/>
        </p:spPr>
        <p:txBody>
          <a:bodyPr wrap="square" rtlCol="0">
            <a:spAutoFit/>
          </a:bodyPr>
          <a:lstStyle/>
          <a:p>
            <a:r>
              <a:rPr lang="fr-FR" dirty="0">
                <a:solidFill>
                  <a:schemeClr val="accent2"/>
                </a:solidFill>
              </a:rPr>
              <a:t>12</a:t>
            </a:r>
          </a:p>
        </p:txBody>
      </p:sp>
      <p:sp>
        <p:nvSpPr>
          <p:cNvPr id="12" name="Titre 11">
            <a:extLst>
              <a:ext uri="{FF2B5EF4-FFF2-40B4-BE49-F238E27FC236}">
                <a16:creationId xmlns:a16="http://schemas.microsoft.com/office/drawing/2014/main" id="{4BD0D25B-81E2-930D-945D-E99D12E36C55}"/>
              </a:ext>
            </a:extLst>
          </p:cNvPr>
          <p:cNvSpPr>
            <a:spLocks noGrp="1"/>
          </p:cNvSpPr>
          <p:nvPr>
            <p:ph type="title"/>
          </p:nvPr>
        </p:nvSpPr>
        <p:spPr>
          <a:xfrm>
            <a:off x="965200" y="50800"/>
            <a:ext cx="10515600" cy="1325563"/>
          </a:xfrm>
        </p:spPr>
        <p:txBody>
          <a:bodyPr/>
          <a:lstStyle/>
          <a:p>
            <a:pPr algn="ctr"/>
            <a:r>
              <a:rPr lang="fr-FR" b="1" dirty="0">
                <a:latin typeface="Inter bold"/>
              </a:rPr>
              <a:t>Architecture MVC</a:t>
            </a:r>
          </a:p>
        </p:txBody>
      </p:sp>
      <p:pic>
        <p:nvPicPr>
          <p:cNvPr id="6" name="Espace réservé du contenu 5">
            <a:extLst>
              <a:ext uri="{FF2B5EF4-FFF2-40B4-BE49-F238E27FC236}">
                <a16:creationId xmlns:a16="http://schemas.microsoft.com/office/drawing/2014/main" id="{745B50CF-3A06-DFCE-2F46-F9115E6AA0B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929904" y="1056887"/>
            <a:ext cx="10249052" cy="5441450"/>
          </a:xfrm>
          <a:prstGeom prst="rect">
            <a:avLst/>
          </a:prstGeom>
        </p:spPr>
      </p:pic>
    </p:spTree>
    <p:extLst>
      <p:ext uri="{BB962C8B-B14F-4D97-AF65-F5344CB8AC3E}">
        <p14:creationId xmlns:p14="http://schemas.microsoft.com/office/powerpoint/2010/main" val="3495514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45106-375D-7BEB-EAF7-0231563D8EBB}"/>
            </a:ext>
          </a:extLst>
        </p:cNvPr>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DD235298-8332-EC41-2633-904E0607B64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4596428" y="0"/>
            <a:ext cx="7616650" cy="6858000"/>
          </a:xfrm>
          <a:prstGeom prst="rect">
            <a:avLst/>
          </a:prstGeom>
        </p:spPr>
      </p:pic>
      <p:sp>
        <p:nvSpPr>
          <p:cNvPr id="8" name="ZoneTexte 7">
            <a:extLst>
              <a:ext uri="{FF2B5EF4-FFF2-40B4-BE49-F238E27FC236}">
                <a16:creationId xmlns:a16="http://schemas.microsoft.com/office/drawing/2014/main" id="{73833864-418B-10D3-2667-707A0463828B}"/>
              </a:ext>
            </a:extLst>
          </p:cNvPr>
          <p:cNvSpPr txBox="1"/>
          <p:nvPr/>
        </p:nvSpPr>
        <p:spPr>
          <a:xfrm>
            <a:off x="10922000" y="6113272"/>
            <a:ext cx="558800" cy="369332"/>
          </a:xfrm>
          <a:prstGeom prst="rect">
            <a:avLst/>
          </a:prstGeom>
          <a:noFill/>
        </p:spPr>
        <p:txBody>
          <a:bodyPr wrap="square" rtlCol="0">
            <a:spAutoFit/>
          </a:bodyPr>
          <a:lstStyle/>
          <a:p>
            <a:r>
              <a:rPr lang="fr-FR" dirty="0">
                <a:solidFill>
                  <a:schemeClr val="accent2"/>
                </a:solidFill>
              </a:rPr>
              <a:t>13</a:t>
            </a:r>
          </a:p>
        </p:txBody>
      </p:sp>
      <p:sp>
        <p:nvSpPr>
          <p:cNvPr id="12" name="Titre 11">
            <a:extLst>
              <a:ext uri="{FF2B5EF4-FFF2-40B4-BE49-F238E27FC236}">
                <a16:creationId xmlns:a16="http://schemas.microsoft.com/office/drawing/2014/main" id="{537DE29B-6B80-A3F0-C83D-A95516D3D275}"/>
              </a:ext>
            </a:extLst>
          </p:cNvPr>
          <p:cNvSpPr>
            <a:spLocks noGrp="1"/>
          </p:cNvSpPr>
          <p:nvPr>
            <p:ph type="title"/>
          </p:nvPr>
        </p:nvSpPr>
        <p:spPr>
          <a:xfrm>
            <a:off x="-2908849" y="2766218"/>
            <a:ext cx="10515600" cy="1325563"/>
          </a:xfrm>
        </p:spPr>
        <p:txBody>
          <a:bodyPr/>
          <a:lstStyle/>
          <a:p>
            <a:pPr algn="ctr"/>
            <a:r>
              <a:rPr lang="fr-FR" b="1" dirty="0">
                <a:latin typeface="Inter bold"/>
              </a:rPr>
              <a:t>MCD</a:t>
            </a:r>
            <a:br>
              <a:rPr lang="fr-FR" b="1" dirty="0">
                <a:latin typeface="Inter bold"/>
              </a:rPr>
            </a:br>
            <a:r>
              <a:rPr lang="fr-FR" sz="2400" b="1" dirty="0">
                <a:latin typeface="Inter bold"/>
              </a:rPr>
              <a:t>Modèle Conceptuel de Données</a:t>
            </a:r>
          </a:p>
        </p:txBody>
      </p:sp>
    </p:spTree>
    <p:extLst>
      <p:ext uri="{BB962C8B-B14F-4D97-AF65-F5344CB8AC3E}">
        <p14:creationId xmlns:p14="http://schemas.microsoft.com/office/powerpoint/2010/main" val="2162212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42902-981D-D14D-46CD-701959DFFBD4}"/>
            </a:ext>
          </a:extLst>
        </p:cNvPr>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843A82AF-F04E-CAF8-FE46-054ED890221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4055928" y="0"/>
            <a:ext cx="8136072" cy="6880199"/>
          </a:xfrm>
          <a:prstGeom prst="rect">
            <a:avLst/>
          </a:prstGeom>
        </p:spPr>
      </p:pic>
      <p:sp>
        <p:nvSpPr>
          <p:cNvPr id="12" name="Titre 11">
            <a:extLst>
              <a:ext uri="{FF2B5EF4-FFF2-40B4-BE49-F238E27FC236}">
                <a16:creationId xmlns:a16="http://schemas.microsoft.com/office/drawing/2014/main" id="{F97D336E-CCF9-C9A7-8BB0-08109B55D336}"/>
              </a:ext>
            </a:extLst>
          </p:cNvPr>
          <p:cNvSpPr>
            <a:spLocks noGrp="1"/>
          </p:cNvSpPr>
          <p:nvPr>
            <p:ph type="title"/>
          </p:nvPr>
        </p:nvSpPr>
        <p:spPr>
          <a:xfrm>
            <a:off x="-3257930" y="2766218"/>
            <a:ext cx="10515600" cy="1325563"/>
          </a:xfrm>
        </p:spPr>
        <p:txBody>
          <a:bodyPr/>
          <a:lstStyle/>
          <a:p>
            <a:pPr algn="ctr"/>
            <a:r>
              <a:rPr lang="fr-FR" b="1" dirty="0">
                <a:latin typeface="Inter bold"/>
              </a:rPr>
              <a:t>MLD </a:t>
            </a:r>
            <a:br>
              <a:rPr lang="fr-FR" b="1" dirty="0">
                <a:latin typeface="Inter bold"/>
              </a:rPr>
            </a:br>
            <a:r>
              <a:rPr lang="fr-FR" sz="2400" b="1" dirty="0">
                <a:latin typeface="Inter bold"/>
              </a:rPr>
              <a:t>Modèle Logique de Données</a:t>
            </a:r>
          </a:p>
        </p:txBody>
      </p:sp>
      <p:sp>
        <p:nvSpPr>
          <p:cNvPr id="2" name="ZoneTexte 1">
            <a:extLst>
              <a:ext uri="{FF2B5EF4-FFF2-40B4-BE49-F238E27FC236}">
                <a16:creationId xmlns:a16="http://schemas.microsoft.com/office/drawing/2014/main" id="{8D01180F-942C-4AA5-4129-C0FD7F83AC02}"/>
              </a:ext>
            </a:extLst>
          </p:cNvPr>
          <p:cNvSpPr txBox="1"/>
          <p:nvPr/>
        </p:nvSpPr>
        <p:spPr>
          <a:xfrm>
            <a:off x="10312400" y="6259576"/>
            <a:ext cx="558800" cy="369332"/>
          </a:xfrm>
          <a:prstGeom prst="rect">
            <a:avLst/>
          </a:prstGeom>
          <a:noFill/>
        </p:spPr>
        <p:txBody>
          <a:bodyPr wrap="square" rtlCol="0">
            <a:spAutoFit/>
          </a:bodyPr>
          <a:lstStyle/>
          <a:p>
            <a:r>
              <a:rPr lang="fr-FR" dirty="0">
                <a:solidFill>
                  <a:schemeClr val="accent2"/>
                </a:solidFill>
              </a:rPr>
              <a:t>14</a:t>
            </a:r>
          </a:p>
        </p:txBody>
      </p:sp>
    </p:spTree>
    <p:extLst>
      <p:ext uri="{BB962C8B-B14F-4D97-AF65-F5344CB8AC3E}">
        <p14:creationId xmlns:p14="http://schemas.microsoft.com/office/powerpoint/2010/main" val="2876032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C276A-844A-D5C6-F108-40512B895585}"/>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DE9B2AD7-EA8F-44C9-6E2D-58E29167D5FB}"/>
              </a:ext>
            </a:extLst>
          </p:cNvPr>
          <p:cNvPicPr>
            <a:picLocks noChangeAspect="1"/>
          </p:cNvPicPr>
          <p:nvPr/>
        </p:nvPicPr>
        <p:blipFill>
          <a:blip r:embed="rId3">
            <a:extLst>
              <a:ext uri="{28A0092B-C50C-407E-A947-70E740481C1C}">
                <a14:useLocalDpi xmlns:a14="http://schemas.microsoft.com/office/drawing/2010/main" val="0"/>
              </a:ext>
            </a:extLst>
          </a:blip>
          <a:srcRect t="62330" r="-273" b="-19814"/>
          <a:stretch>
            <a:fillRect/>
          </a:stretch>
        </p:blipFill>
        <p:spPr>
          <a:xfrm>
            <a:off x="7681333" y="1332000"/>
            <a:ext cx="4392000" cy="6228000"/>
          </a:xfrm>
          <a:prstGeom prst="rect">
            <a:avLst/>
          </a:prstGeom>
        </p:spPr>
      </p:pic>
      <p:sp>
        <p:nvSpPr>
          <p:cNvPr id="12" name="Titre 11">
            <a:extLst>
              <a:ext uri="{FF2B5EF4-FFF2-40B4-BE49-F238E27FC236}">
                <a16:creationId xmlns:a16="http://schemas.microsoft.com/office/drawing/2014/main" id="{CC4B816D-3247-611B-6C93-D1A0036759B4}"/>
              </a:ext>
            </a:extLst>
          </p:cNvPr>
          <p:cNvSpPr>
            <a:spLocks noGrp="1"/>
          </p:cNvSpPr>
          <p:nvPr>
            <p:ph type="title"/>
          </p:nvPr>
        </p:nvSpPr>
        <p:spPr>
          <a:xfrm>
            <a:off x="-3754637" y="2766218"/>
            <a:ext cx="10515600" cy="1325563"/>
          </a:xfrm>
        </p:spPr>
        <p:txBody>
          <a:bodyPr>
            <a:normAutofit fontScale="90000"/>
          </a:bodyPr>
          <a:lstStyle/>
          <a:p>
            <a:pPr algn="ctr"/>
            <a:r>
              <a:rPr lang="fr-FR" b="1" dirty="0">
                <a:latin typeface="Inter bold"/>
              </a:rPr>
              <a:t>MPD </a:t>
            </a:r>
            <a:br>
              <a:rPr lang="fr-FR" b="1" dirty="0">
                <a:latin typeface="Inter bold"/>
              </a:rPr>
            </a:br>
            <a:r>
              <a:rPr lang="fr-FR" sz="2400" b="1" dirty="0">
                <a:latin typeface="Inter bold"/>
              </a:rPr>
              <a:t>Modèle Physique </a:t>
            </a:r>
            <a:br>
              <a:rPr lang="fr-FR" sz="2400" b="1" dirty="0">
                <a:latin typeface="Inter bold"/>
              </a:rPr>
            </a:br>
            <a:r>
              <a:rPr lang="fr-FR" sz="2400" b="1" dirty="0">
                <a:latin typeface="Inter bold"/>
              </a:rPr>
              <a:t>de Données</a:t>
            </a:r>
          </a:p>
        </p:txBody>
      </p:sp>
      <p:sp>
        <p:nvSpPr>
          <p:cNvPr id="9" name="ZoneTexte 8">
            <a:extLst>
              <a:ext uri="{FF2B5EF4-FFF2-40B4-BE49-F238E27FC236}">
                <a16:creationId xmlns:a16="http://schemas.microsoft.com/office/drawing/2014/main" id="{67D0518E-F0FB-9D44-B94B-1AAAA8C7F4E8}"/>
              </a:ext>
            </a:extLst>
          </p:cNvPr>
          <p:cNvSpPr txBox="1"/>
          <p:nvPr/>
        </p:nvSpPr>
        <p:spPr>
          <a:xfrm>
            <a:off x="11341100" y="6146800"/>
            <a:ext cx="558800" cy="369332"/>
          </a:xfrm>
          <a:prstGeom prst="rect">
            <a:avLst/>
          </a:prstGeom>
          <a:noFill/>
        </p:spPr>
        <p:txBody>
          <a:bodyPr wrap="square" rtlCol="0">
            <a:spAutoFit/>
          </a:bodyPr>
          <a:lstStyle/>
          <a:p>
            <a:r>
              <a:rPr lang="fr-FR" dirty="0">
                <a:solidFill>
                  <a:schemeClr val="accent2"/>
                </a:solidFill>
              </a:rPr>
              <a:t>15</a:t>
            </a:r>
          </a:p>
        </p:txBody>
      </p:sp>
      <p:pic>
        <p:nvPicPr>
          <p:cNvPr id="3" name="Image 2">
            <a:extLst>
              <a:ext uri="{FF2B5EF4-FFF2-40B4-BE49-F238E27FC236}">
                <a16:creationId xmlns:a16="http://schemas.microsoft.com/office/drawing/2014/main" id="{4DD640A1-22A2-01C6-2812-97B805829DE0}"/>
              </a:ext>
            </a:extLst>
          </p:cNvPr>
          <p:cNvPicPr>
            <a:picLocks noChangeAspect="1"/>
          </p:cNvPicPr>
          <p:nvPr/>
        </p:nvPicPr>
        <p:blipFill>
          <a:blip r:embed="rId3">
            <a:extLst>
              <a:ext uri="{28A0092B-C50C-407E-A947-70E740481C1C}">
                <a14:useLocalDpi xmlns:a14="http://schemas.microsoft.com/office/drawing/2010/main" val="0"/>
              </a:ext>
            </a:extLst>
          </a:blip>
          <a:srcRect t="10" b="36868"/>
          <a:stretch>
            <a:fillRect/>
          </a:stretch>
        </p:blipFill>
        <p:spPr>
          <a:xfrm>
            <a:off x="3139822" y="0"/>
            <a:ext cx="4380039" cy="6840000"/>
          </a:xfrm>
          <a:prstGeom prst="rect">
            <a:avLst/>
          </a:prstGeom>
        </p:spPr>
      </p:pic>
    </p:spTree>
    <p:extLst>
      <p:ext uri="{BB962C8B-B14F-4D97-AF65-F5344CB8AC3E}">
        <p14:creationId xmlns:p14="http://schemas.microsoft.com/office/powerpoint/2010/main" val="1588277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F7A65389-56DE-0594-0B2E-CB86EB300AD4}"/>
              </a:ext>
            </a:extLst>
          </p:cNvPr>
          <p:cNvSpPr txBox="1"/>
          <p:nvPr/>
        </p:nvSpPr>
        <p:spPr>
          <a:xfrm>
            <a:off x="11131550" y="6223000"/>
            <a:ext cx="450850" cy="369332"/>
          </a:xfrm>
          <a:prstGeom prst="rect">
            <a:avLst/>
          </a:prstGeom>
          <a:noFill/>
        </p:spPr>
        <p:txBody>
          <a:bodyPr wrap="square" rtlCol="0">
            <a:spAutoFit/>
          </a:bodyPr>
          <a:lstStyle/>
          <a:p>
            <a:r>
              <a:rPr lang="fr-FR" dirty="0">
                <a:solidFill>
                  <a:schemeClr val="accent2"/>
                </a:solidFill>
              </a:rPr>
              <a:t>16</a:t>
            </a:r>
          </a:p>
        </p:txBody>
      </p:sp>
      <p:sp>
        <p:nvSpPr>
          <p:cNvPr id="12" name="Titre 11">
            <a:extLst>
              <a:ext uri="{FF2B5EF4-FFF2-40B4-BE49-F238E27FC236}">
                <a16:creationId xmlns:a16="http://schemas.microsoft.com/office/drawing/2014/main" id="{5EF55F97-DB9B-B67D-1417-2266445DA820}"/>
              </a:ext>
            </a:extLst>
          </p:cNvPr>
          <p:cNvSpPr>
            <a:spLocks noGrp="1"/>
          </p:cNvSpPr>
          <p:nvPr>
            <p:ph type="title"/>
          </p:nvPr>
        </p:nvSpPr>
        <p:spPr>
          <a:xfrm>
            <a:off x="965200" y="50800"/>
            <a:ext cx="10515600" cy="1325563"/>
          </a:xfrm>
        </p:spPr>
        <p:txBody>
          <a:bodyPr/>
          <a:lstStyle/>
          <a:p>
            <a:pPr algn="ctr"/>
            <a:r>
              <a:rPr lang="fr-FR" b="1" dirty="0">
                <a:latin typeface="Inter bold"/>
              </a:rPr>
              <a:t>Accès aux données SQL et NoSQL</a:t>
            </a:r>
          </a:p>
        </p:txBody>
      </p:sp>
      <p:sp>
        <p:nvSpPr>
          <p:cNvPr id="2" name="Rectangle : coins arrondis 1">
            <a:extLst>
              <a:ext uri="{FF2B5EF4-FFF2-40B4-BE49-F238E27FC236}">
                <a16:creationId xmlns:a16="http://schemas.microsoft.com/office/drawing/2014/main" id="{F560E46C-8593-A92E-7477-78E0DF6251AF}"/>
              </a:ext>
            </a:extLst>
          </p:cNvPr>
          <p:cNvSpPr/>
          <p:nvPr/>
        </p:nvSpPr>
        <p:spPr>
          <a:xfrm>
            <a:off x="190500" y="1426329"/>
            <a:ext cx="3181350" cy="4570968"/>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b="1" dirty="0">
                <a:latin typeface="Poppins" panose="00000500000000000000" pitchFamily="2" charset="0"/>
                <a:cs typeface="Poppins" panose="00000500000000000000" pitchFamily="2" charset="0"/>
              </a:rPr>
              <a:t>PostgreSQL  Relationnel</a:t>
            </a:r>
          </a:p>
          <a:p>
            <a:pPr algn="ctr">
              <a:buNone/>
            </a:pPr>
            <a:endParaRPr lang="fr-FR" b="1" dirty="0">
              <a:latin typeface="Poppins" panose="00000500000000000000" pitchFamily="2" charset="0"/>
              <a:cs typeface="Poppins" panose="00000500000000000000" pitchFamily="2" charset="0"/>
            </a:endParaRPr>
          </a:p>
          <a:p>
            <a:pPr algn="ctr">
              <a:buNone/>
            </a:pPr>
            <a:r>
              <a:rPr lang="fr-FR" b="1" dirty="0">
                <a:latin typeface="Poppins" panose="00000500000000000000" pitchFamily="2" charset="0"/>
                <a:cs typeface="Poppins" panose="00000500000000000000" pitchFamily="2" charset="0"/>
              </a:rPr>
              <a:t>psycopg2, curseur en dictionnaire</a:t>
            </a:r>
          </a:p>
          <a:p>
            <a:pPr algn="ctr">
              <a:buNone/>
            </a:pPr>
            <a:endParaRPr lang="fr-FR" b="1" dirty="0">
              <a:latin typeface="Poppins" panose="00000500000000000000" pitchFamily="2" charset="0"/>
              <a:cs typeface="Poppins" panose="00000500000000000000" pitchFamily="2" charset="0"/>
            </a:endParaRPr>
          </a:p>
          <a:p>
            <a:pPr algn="ctr">
              <a:buNone/>
            </a:pPr>
            <a:r>
              <a:rPr lang="fr-FR" b="1" dirty="0">
                <a:latin typeface="Poppins" panose="00000500000000000000" pitchFamily="2" charset="0"/>
                <a:cs typeface="Poppins" panose="00000500000000000000" pitchFamily="2" charset="0"/>
              </a:rPr>
              <a:t>Requêtes paramétrées, transactions sécurisées</a:t>
            </a:r>
          </a:p>
          <a:p>
            <a:pPr algn="ctr">
              <a:buNone/>
            </a:pPr>
            <a:endParaRPr lang="fr-FR" b="1" dirty="0">
              <a:latin typeface="Poppins" panose="00000500000000000000" pitchFamily="2" charset="0"/>
              <a:cs typeface="Poppins" panose="00000500000000000000" pitchFamily="2" charset="0"/>
            </a:endParaRPr>
          </a:p>
          <a:p>
            <a:pPr algn="ctr">
              <a:buNone/>
            </a:pPr>
            <a:r>
              <a:rPr lang="fr-FR" b="1" dirty="0">
                <a:latin typeface="Poppins" panose="00000500000000000000" pitchFamily="2" charset="0"/>
                <a:cs typeface="Poppins" panose="00000500000000000000" pitchFamily="2" charset="0"/>
              </a:rPr>
              <a:t>Catalogue, comptes, propositions</a:t>
            </a:r>
          </a:p>
        </p:txBody>
      </p:sp>
      <p:sp>
        <p:nvSpPr>
          <p:cNvPr id="3" name="Rectangle : coins arrondis 2">
            <a:extLst>
              <a:ext uri="{FF2B5EF4-FFF2-40B4-BE49-F238E27FC236}">
                <a16:creationId xmlns:a16="http://schemas.microsoft.com/office/drawing/2014/main" id="{8FFB9E2C-B888-6ADA-B9C2-BA6DEECA387C}"/>
              </a:ext>
            </a:extLst>
          </p:cNvPr>
          <p:cNvSpPr/>
          <p:nvPr/>
        </p:nvSpPr>
        <p:spPr>
          <a:xfrm>
            <a:off x="3549650" y="1426329"/>
            <a:ext cx="3181350" cy="4659868"/>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Poppins" panose="00000500000000000000" pitchFamily="2" charset="0"/>
                <a:cs typeface="Poppins" panose="00000500000000000000" pitchFamily="2" charset="0"/>
              </a:rPr>
              <a:t>MongoDB  NoSQL</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pymongo, un document par objet céleste</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Arbre de commentaires imbriqués</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CommentaireService, mise à jour en une fois</a:t>
            </a:r>
          </a:p>
        </p:txBody>
      </p:sp>
      <p:pic>
        <p:nvPicPr>
          <p:cNvPr id="6" name="Image 5">
            <a:extLst>
              <a:ext uri="{FF2B5EF4-FFF2-40B4-BE49-F238E27FC236}">
                <a16:creationId xmlns:a16="http://schemas.microsoft.com/office/drawing/2014/main" id="{1BD2D07D-D270-0533-23EB-58C992DEAE53}"/>
              </a:ext>
            </a:extLst>
          </p:cNvPr>
          <p:cNvPicPr>
            <a:picLocks noChangeAspect="1"/>
          </p:cNvPicPr>
          <p:nvPr/>
        </p:nvPicPr>
        <p:blipFill>
          <a:blip r:embed="rId3">
            <a:extLst>
              <a:ext uri="{28A0092B-C50C-407E-A947-70E740481C1C}">
                <a14:useLocalDpi xmlns:a14="http://schemas.microsoft.com/office/drawing/2010/main" val="0"/>
              </a:ext>
            </a:extLst>
          </a:blip>
          <a:srcRect t="3057" b="3057"/>
          <a:stretch/>
        </p:blipFill>
        <p:spPr>
          <a:xfrm>
            <a:off x="6908800" y="1426329"/>
            <a:ext cx="4932000" cy="4570968"/>
          </a:xfrm>
          <a:prstGeom prst="rect">
            <a:avLst/>
          </a:prstGeom>
        </p:spPr>
      </p:pic>
      <p:sp>
        <p:nvSpPr>
          <p:cNvPr id="4" name="Rectangle : coins arrondis 3">
            <a:extLst>
              <a:ext uri="{FF2B5EF4-FFF2-40B4-BE49-F238E27FC236}">
                <a16:creationId xmlns:a16="http://schemas.microsoft.com/office/drawing/2014/main" id="{0816F8C2-9027-4253-9E8B-1C168CCB01F6}"/>
              </a:ext>
            </a:extLst>
          </p:cNvPr>
          <p:cNvSpPr/>
          <p:nvPr/>
        </p:nvSpPr>
        <p:spPr>
          <a:xfrm>
            <a:off x="177800" y="171450"/>
            <a:ext cx="1925320" cy="6830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b="1" dirty="0">
                <a:latin typeface="Inter bold"/>
                <a:cs typeface="Poppins" panose="00000500000000000000" pitchFamily="2" charset="0"/>
              </a:rPr>
              <a:t>Accès aux données</a:t>
            </a:r>
            <a:r>
              <a:rPr lang="fr-FR" b="1" dirty="0">
                <a:latin typeface="Inter bold"/>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5509E-28EC-5BF2-A139-432FBA11CE23}"/>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68112905-684A-AAE6-F121-6A3CF1286558}"/>
              </a:ext>
            </a:extLst>
          </p:cNvPr>
          <p:cNvSpPr>
            <a:spLocks noGrp="1"/>
          </p:cNvSpPr>
          <p:nvPr>
            <p:ph type="title"/>
          </p:nvPr>
        </p:nvSpPr>
        <p:spPr>
          <a:xfrm>
            <a:off x="838200" y="96170"/>
            <a:ext cx="10515600" cy="1325563"/>
          </a:xfrm>
        </p:spPr>
        <p:txBody>
          <a:bodyPr/>
          <a:lstStyle/>
          <a:p>
            <a:pPr algn="ctr"/>
            <a:r>
              <a:rPr lang="fr-FR" b="1" dirty="0" err="1">
                <a:latin typeface="Inter bold"/>
              </a:rPr>
              <a:t>Front-End</a:t>
            </a:r>
            <a:r>
              <a:rPr lang="fr-FR" b="1" dirty="0">
                <a:latin typeface="Inter bold"/>
              </a:rPr>
              <a:t>  </a:t>
            </a:r>
            <a:endParaRPr lang="fr-FR" sz="2400" b="1" dirty="0">
              <a:latin typeface="Inter bold"/>
            </a:endParaRPr>
          </a:p>
        </p:txBody>
      </p:sp>
      <p:sp>
        <p:nvSpPr>
          <p:cNvPr id="7" name="ZoneTexte 6">
            <a:extLst>
              <a:ext uri="{FF2B5EF4-FFF2-40B4-BE49-F238E27FC236}">
                <a16:creationId xmlns:a16="http://schemas.microsoft.com/office/drawing/2014/main" id="{9C1655E6-B306-FD5B-24CD-7ADCD5608DE4}"/>
              </a:ext>
            </a:extLst>
          </p:cNvPr>
          <p:cNvSpPr txBox="1"/>
          <p:nvPr/>
        </p:nvSpPr>
        <p:spPr>
          <a:xfrm>
            <a:off x="10922000" y="6223000"/>
            <a:ext cx="558800" cy="369332"/>
          </a:xfrm>
          <a:prstGeom prst="rect">
            <a:avLst/>
          </a:prstGeom>
          <a:noFill/>
        </p:spPr>
        <p:txBody>
          <a:bodyPr wrap="square" rtlCol="0">
            <a:spAutoFit/>
          </a:bodyPr>
          <a:lstStyle/>
          <a:p>
            <a:r>
              <a:rPr lang="fr-FR" dirty="0">
                <a:solidFill>
                  <a:schemeClr val="accent2"/>
                </a:solidFill>
              </a:rPr>
              <a:t>17</a:t>
            </a:r>
          </a:p>
        </p:txBody>
      </p:sp>
      <p:sp>
        <p:nvSpPr>
          <p:cNvPr id="2" name="Rectangle : coins arrondis 1">
            <a:extLst>
              <a:ext uri="{FF2B5EF4-FFF2-40B4-BE49-F238E27FC236}">
                <a16:creationId xmlns:a16="http://schemas.microsoft.com/office/drawing/2014/main" id="{ED35BECD-B5A2-BDEA-46BA-839DC8D9C93A}"/>
              </a:ext>
            </a:extLst>
          </p:cNvPr>
          <p:cNvSpPr/>
          <p:nvPr/>
        </p:nvSpPr>
        <p:spPr>
          <a:xfrm>
            <a:off x="177800" y="171450"/>
            <a:ext cx="1799590" cy="6830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b="1" dirty="0">
                <a:latin typeface="Inter bold"/>
              </a:rPr>
              <a:t>Développement </a:t>
            </a:r>
            <a:endParaRPr lang="fr-FR" dirty="0"/>
          </a:p>
        </p:txBody>
      </p:sp>
      <p:pic>
        <p:nvPicPr>
          <p:cNvPr id="5" name="Image 4">
            <a:extLst>
              <a:ext uri="{FF2B5EF4-FFF2-40B4-BE49-F238E27FC236}">
                <a16:creationId xmlns:a16="http://schemas.microsoft.com/office/drawing/2014/main" id="{E5CF7763-3585-CDF6-D07B-2C726D64C1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31186"/>
            <a:ext cx="7981406" cy="3485093"/>
          </a:xfrm>
          <a:prstGeom prst="rect">
            <a:avLst/>
          </a:prstGeom>
        </p:spPr>
      </p:pic>
      <p:pic>
        <p:nvPicPr>
          <p:cNvPr id="10" name="Image 9">
            <a:extLst>
              <a:ext uri="{FF2B5EF4-FFF2-40B4-BE49-F238E27FC236}">
                <a16:creationId xmlns:a16="http://schemas.microsoft.com/office/drawing/2014/main" id="{0C56AF08-5368-E34A-7A35-69F5285D53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56076" y="1931186"/>
            <a:ext cx="3471712" cy="1325563"/>
          </a:xfrm>
          <a:prstGeom prst="rect">
            <a:avLst/>
          </a:prstGeom>
        </p:spPr>
      </p:pic>
      <p:pic>
        <p:nvPicPr>
          <p:cNvPr id="13" name="Image 12">
            <a:extLst>
              <a:ext uri="{FF2B5EF4-FFF2-40B4-BE49-F238E27FC236}">
                <a16:creationId xmlns:a16="http://schemas.microsoft.com/office/drawing/2014/main" id="{99BF31BC-914C-E977-100E-C49633D3B9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56076" y="4027594"/>
            <a:ext cx="3471712" cy="1388685"/>
          </a:xfrm>
          <a:prstGeom prst="rect">
            <a:avLst/>
          </a:prstGeom>
        </p:spPr>
      </p:pic>
    </p:spTree>
    <p:extLst>
      <p:ext uri="{BB962C8B-B14F-4D97-AF65-F5344CB8AC3E}">
        <p14:creationId xmlns:p14="http://schemas.microsoft.com/office/powerpoint/2010/main" val="3535150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6E05E-1474-30B6-A2E5-4EF00D0A46D5}"/>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2A8E5D6D-4215-8ECC-73B6-FEBC71E38A91}"/>
              </a:ext>
            </a:extLst>
          </p:cNvPr>
          <p:cNvSpPr>
            <a:spLocks noGrp="1"/>
          </p:cNvSpPr>
          <p:nvPr>
            <p:ph type="title"/>
          </p:nvPr>
        </p:nvSpPr>
        <p:spPr>
          <a:xfrm>
            <a:off x="838200" y="96170"/>
            <a:ext cx="10515600" cy="1325563"/>
          </a:xfrm>
        </p:spPr>
        <p:txBody>
          <a:bodyPr/>
          <a:lstStyle/>
          <a:p>
            <a:pPr algn="ctr"/>
            <a:r>
              <a:rPr lang="fr-FR" b="1" dirty="0">
                <a:latin typeface="Inter bold"/>
              </a:rPr>
              <a:t>Back-End  </a:t>
            </a:r>
            <a:endParaRPr lang="fr-FR" sz="2400" b="1" dirty="0">
              <a:latin typeface="Inter bold"/>
            </a:endParaRPr>
          </a:p>
        </p:txBody>
      </p:sp>
      <p:sp>
        <p:nvSpPr>
          <p:cNvPr id="6" name="Rectangle : coins arrondis 5">
            <a:extLst>
              <a:ext uri="{FF2B5EF4-FFF2-40B4-BE49-F238E27FC236}">
                <a16:creationId xmlns:a16="http://schemas.microsoft.com/office/drawing/2014/main" id="{1C4834E9-8665-8372-0FBF-056C6BFA2220}"/>
              </a:ext>
            </a:extLst>
          </p:cNvPr>
          <p:cNvSpPr/>
          <p:nvPr/>
        </p:nvSpPr>
        <p:spPr>
          <a:xfrm>
            <a:off x="6669024" y="1840992"/>
            <a:ext cx="4487164" cy="4096004"/>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lvl="0" indent="-285750" eaLnBrk="0" fontAlgn="base" hangingPunct="0">
              <a:spcBef>
                <a:spcPct val="0"/>
              </a:spcBef>
              <a:spcAft>
                <a:spcPct val="0"/>
              </a:spcAft>
              <a:buFont typeface="Wingdings" panose="05000000000000000000" pitchFamily="2" charset="2"/>
              <a:buChar char="ü"/>
            </a:pPr>
            <a:r>
              <a:rPr lang="fr-FR" altLang="fr-FR" b="1" dirty="0" err="1">
                <a:solidFill>
                  <a:schemeClr val="tx1"/>
                </a:solidFill>
                <a:latin typeface="Arial" panose="020B0604020202020204" pitchFamily="34" charset="0"/>
              </a:rPr>
              <a:t>Blueprint Flask — organisation modulaire des routes</a:t>
            </a:r>
          </a:p>
          <a:p>
            <a:pPr marL="285750" lvl="0" indent="-285750" eaLnBrk="0" fontAlgn="base" hangingPunct="0">
              <a:spcBef>
                <a:spcPct val="0"/>
              </a:spcBef>
              <a:spcAft>
                <a:spcPct val="0"/>
              </a:spcAft>
              <a:buFont typeface="Wingdings" panose="05000000000000000000" pitchFamily="2" charset="2"/>
              <a:buChar char="ü"/>
            </a:pPr>
            <a:endParaRPr lang="fr-FR" altLang="fr-FR" b="1" dirty="0" err="1">
              <a:solidFill>
                <a:schemeClr val="tx1"/>
              </a:solidFill>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ü"/>
            </a:pPr>
            <a:r>
              <a:rPr lang="fr-FR" altLang="fr-FR" b="1" dirty="0" err="1">
                <a:solidFill>
                  <a:schemeClr val="tx1"/>
                </a:solidFill>
                <a:latin typeface="Arial" panose="020B0604020202020204" pitchFamily="34" charset="0"/>
              </a:rPr>
              <a:t>Validation JSON, puis délégation à AstroIAChatbot</a:t>
            </a:r>
          </a:p>
          <a:p>
            <a:pPr marL="285750" lvl="0" indent="-285750" eaLnBrk="0" fontAlgn="base" hangingPunct="0">
              <a:spcBef>
                <a:spcPct val="0"/>
              </a:spcBef>
              <a:spcAft>
                <a:spcPct val="0"/>
              </a:spcAft>
              <a:buFont typeface="Wingdings" panose="05000000000000000000" pitchFamily="2" charset="2"/>
              <a:buChar char="ü"/>
            </a:pPr>
            <a:endParaRPr lang="fr-FR" altLang="fr-FR" b="1" dirty="0" err="1">
              <a:solidFill>
                <a:schemeClr val="tx1"/>
              </a:solidFill>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ü"/>
            </a:pPr>
            <a:r>
              <a:rPr lang="fr-FR" altLang="fr-FR" b="1" dirty="0" err="1">
                <a:solidFill>
                  <a:schemeClr val="tx1"/>
                </a:solidFill>
                <a:latin typeface="Arial" panose="020B0604020202020204" pitchFamily="34" charset="0"/>
              </a:rPr>
              <a:t>AstroIAChatbot.ask() — valide le message et appelle Gemini</a:t>
            </a:r>
          </a:p>
          <a:p>
            <a:pPr marL="285750" lvl="0" indent="-285750" eaLnBrk="0" fontAlgn="base" hangingPunct="0">
              <a:spcBef>
                <a:spcPct val="0"/>
              </a:spcBef>
              <a:spcAft>
                <a:spcPct val="0"/>
              </a:spcAft>
              <a:buFont typeface="Wingdings" panose="05000000000000000000" pitchFamily="2" charset="2"/>
              <a:buChar char="ü"/>
            </a:pPr>
            <a:endParaRPr lang="fr-FR" altLang="fr-FR" b="1" dirty="0" err="1">
              <a:solidFill>
                <a:schemeClr val="tx1"/>
              </a:solidFill>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ü"/>
            </a:pPr>
            <a:r>
              <a:rPr lang="fr-FR" altLang="fr-FR" b="1" dirty="0" err="1">
                <a:solidFill>
                  <a:schemeClr val="tx1"/>
                </a:solidFill>
                <a:latin typeface="Arial" panose="020B0604020202020204" pitchFamily="34" charset="0"/>
              </a:rPr>
              <a:t>Gestion des erreurs — codes HTTP 400 / 500</a:t>
            </a:r>
          </a:p>
        </p:txBody>
      </p:sp>
      <p:sp>
        <p:nvSpPr>
          <p:cNvPr id="8" name="ZoneTexte 7">
            <a:extLst>
              <a:ext uri="{FF2B5EF4-FFF2-40B4-BE49-F238E27FC236}">
                <a16:creationId xmlns:a16="http://schemas.microsoft.com/office/drawing/2014/main" id="{6EC34BA8-3223-EF84-80FE-F10D971F659B}"/>
              </a:ext>
            </a:extLst>
          </p:cNvPr>
          <p:cNvSpPr txBox="1"/>
          <p:nvPr/>
        </p:nvSpPr>
        <p:spPr>
          <a:xfrm>
            <a:off x="10922000" y="6223000"/>
            <a:ext cx="558800" cy="369332"/>
          </a:xfrm>
          <a:prstGeom prst="rect">
            <a:avLst/>
          </a:prstGeom>
          <a:noFill/>
        </p:spPr>
        <p:txBody>
          <a:bodyPr wrap="square" rtlCol="0">
            <a:spAutoFit/>
          </a:bodyPr>
          <a:lstStyle/>
          <a:p>
            <a:r>
              <a:rPr lang="fr-FR" dirty="0">
                <a:solidFill>
                  <a:schemeClr val="accent2"/>
                </a:solidFill>
              </a:rPr>
              <a:t>18</a:t>
            </a:r>
          </a:p>
        </p:txBody>
      </p:sp>
      <p:pic>
        <p:nvPicPr>
          <p:cNvPr id="3" name="Image 2">
            <a:extLst>
              <a:ext uri="{FF2B5EF4-FFF2-40B4-BE49-F238E27FC236}">
                <a16:creationId xmlns:a16="http://schemas.microsoft.com/office/drawing/2014/main" id="{97514EF2-3F2D-84B2-D6C8-4F9511D6872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51962" y="1104233"/>
            <a:ext cx="6185569" cy="5436267"/>
          </a:xfrm>
          <a:prstGeom prst="rect">
            <a:avLst/>
          </a:prstGeom>
        </p:spPr>
      </p:pic>
    </p:spTree>
    <p:extLst>
      <p:ext uri="{BB962C8B-B14F-4D97-AF65-F5344CB8AC3E}">
        <p14:creationId xmlns:p14="http://schemas.microsoft.com/office/powerpoint/2010/main" val="2919324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F7A65389-56DE-0594-0B2E-CB86EB300AD4}"/>
              </a:ext>
            </a:extLst>
          </p:cNvPr>
          <p:cNvSpPr txBox="1"/>
          <p:nvPr/>
        </p:nvSpPr>
        <p:spPr>
          <a:xfrm>
            <a:off x="11131550" y="6223000"/>
            <a:ext cx="450850" cy="369332"/>
          </a:xfrm>
          <a:prstGeom prst="rect">
            <a:avLst/>
          </a:prstGeom>
          <a:noFill/>
        </p:spPr>
        <p:txBody>
          <a:bodyPr wrap="square" rtlCol="0">
            <a:spAutoFit/>
          </a:bodyPr>
          <a:lstStyle/>
          <a:p>
            <a:r>
              <a:rPr lang="fr-FR" dirty="0">
                <a:solidFill>
                  <a:schemeClr val="accent2"/>
                </a:solidFill>
              </a:rPr>
              <a:t>19</a:t>
            </a:r>
          </a:p>
        </p:txBody>
      </p:sp>
      <p:sp>
        <p:nvSpPr>
          <p:cNvPr id="12" name="Titre 11">
            <a:extLst>
              <a:ext uri="{FF2B5EF4-FFF2-40B4-BE49-F238E27FC236}">
                <a16:creationId xmlns:a16="http://schemas.microsoft.com/office/drawing/2014/main" id="{5EF55F97-DB9B-B67D-1417-2266445DA820}"/>
              </a:ext>
            </a:extLst>
          </p:cNvPr>
          <p:cNvSpPr>
            <a:spLocks noGrp="1"/>
          </p:cNvSpPr>
          <p:nvPr>
            <p:ph type="title"/>
          </p:nvPr>
        </p:nvSpPr>
        <p:spPr>
          <a:xfrm>
            <a:off x="965200" y="50800"/>
            <a:ext cx="10515600" cy="1325563"/>
          </a:xfrm>
        </p:spPr>
        <p:txBody>
          <a:bodyPr/>
          <a:lstStyle/>
          <a:p>
            <a:pPr algn="ctr"/>
            <a:r>
              <a:rPr lang="fr-FR" b="1" dirty="0">
                <a:latin typeface="Inter bold"/>
              </a:rPr>
              <a:t>Éco-conception</a:t>
            </a:r>
          </a:p>
        </p:txBody>
      </p:sp>
      <p:sp>
        <p:nvSpPr>
          <p:cNvPr id="2" name="Rectangle : coins arrondis 1">
            <a:extLst>
              <a:ext uri="{FF2B5EF4-FFF2-40B4-BE49-F238E27FC236}">
                <a16:creationId xmlns:a16="http://schemas.microsoft.com/office/drawing/2014/main" id="{F560E46C-8593-A92E-7477-78E0DF6251AF}"/>
              </a:ext>
            </a:extLst>
          </p:cNvPr>
          <p:cNvSpPr/>
          <p:nvPr/>
        </p:nvSpPr>
        <p:spPr>
          <a:xfrm>
            <a:off x="190500" y="1426329"/>
            <a:ext cx="3181350" cy="4570968"/>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b="1" dirty="0">
                <a:latin typeface="Poppins" panose="00000500000000000000" pitchFamily="2" charset="0"/>
                <a:cs typeface="Poppins" panose="00000500000000000000" pitchFamily="2" charset="0"/>
              </a:rPr>
              <a:t>Performance</a:t>
            </a:r>
          </a:p>
          <a:p>
            <a:pPr algn="ctr">
              <a:buNone/>
            </a:pPr>
            <a:endParaRPr lang="fr-FR" b="1" dirty="0">
              <a:latin typeface="Poppins" panose="00000500000000000000" pitchFamily="2" charset="0"/>
              <a:cs typeface="Poppins" panose="00000500000000000000" pitchFamily="2" charset="0"/>
            </a:endParaRPr>
          </a:p>
          <a:p>
            <a:pPr algn="ctr">
              <a:buNone/>
            </a:pPr>
            <a:r>
              <a:rPr lang="fr-FR" b="1" dirty="0">
                <a:latin typeface="Poppins" panose="00000500000000000000" pitchFamily="2" charset="0"/>
                <a:cs typeface="Poppins" panose="00000500000000000000" pitchFamily="2" charset="0"/>
              </a:rPr>
              <a:t>Chargement différé des images (loading="lazy")</a:t>
            </a:r>
          </a:p>
          <a:p>
            <a:pPr algn="ctr">
              <a:buNone/>
            </a:pPr>
            <a:endParaRPr lang="fr-FR" b="1" dirty="0">
              <a:latin typeface="Poppins" panose="00000500000000000000" pitchFamily="2" charset="0"/>
              <a:cs typeface="Poppins" panose="00000500000000000000" pitchFamily="2" charset="0"/>
            </a:endParaRPr>
          </a:p>
          <a:p>
            <a:pPr algn="ctr">
              <a:buNone/>
            </a:pPr>
            <a:r>
              <a:rPr lang="fr-FR" b="1" dirty="0">
                <a:latin typeface="Poppins" panose="00000500000000000000" pitchFamily="2" charset="0"/>
                <a:cs typeface="Poppins" panose="00000500000000000000" pitchFamily="2" charset="0"/>
              </a:rPr>
              <a:t>Requêtes SQL ciblées, pas de SELECT * systématique</a:t>
            </a:r>
          </a:p>
          <a:p>
            <a:pPr algn="ctr">
              <a:buNone/>
            </a:pPr>
            <a:endParaRPr lang="fr-FR" b="1" dirty="0">
              <a:latin typeface="Poppins" panose="00000500000000000000" pitchFamily="2" charset="0"/>
              <a:cs typeface="Poppins" panose="00000500000000000000" pitchFamily="2" charset="0"/>
            </a:endParaRPr>
          </a:p>
          <a:p>
            <a:pPr algn="ctr">
              <a:buNone/>
            </a:pPr>
            <a:r>
              <a:rPr lang="fr-FR" b="1" dirty="0">
                <a:latin typeface="Poppins" panose="00000500000000000000" pitchFamily="2" charset="0"/>
                <a:cs typeface="Poppins" panose="00000500000000000000" pitchFamily="2" charset="0"/>
              </a:rPr>
              <a:t>Pas de framework JS lourd, Three.js chargé seulement sur la carte 3D</a:t>
            </a:r>
          </a:p>
        </p:txBody>
      </p:sp>
      <p:sp>
        <p:nvSpPr>
          <p:cNvPr id="3" name="Rectangle : coins arrondis 2">
            <a:extLst>
              <a:ext uri="{FF2B5EF4-FFF2-40B4-BE49-F238E27FC236}">
                <a16:creationId xmlns:a16="http://schemas.microsoft.com/office/drawing/2014/main" id="{8FFB9E2C-B888-6ADA-B9C2-BA6DEECA387C}"/>
              </a:ext>
            </a:extLst>
          </p:cNvPr>
          <p:cNvSpPr/>
          <p:nvPr/>
        </p:nvSpPr>
        <p:spPr>
          <a:xfrm>
            <a:off x="3549650" y="1426329"/>
            <a:ext cx="3181350" cy="4659868"/>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Poppins" panose="00000500000000000000" pitchFamily="2" charset="0"/>
                <a:cs typeface="Poppins" panose="00000500000000000000" pitchFamily="2" charset="0"/>
              </a:rPr>
              <a:t>Sobriété</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Pas d'image de remplacement stockée par objet</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Placeholder généré à la volée (placehold.co)</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Moins de fichiers, moins de stockage, moins de bande passante</a:t>
            </a:r>
          </a:p>
        </p:txBody>
      </p:sp>
      <p:pic>
        <p:nvPicPr>
          <p:cNvPr id="6" name="Image 5">
            <a:extLst>
              <a:ext uri="{FF2B5EF4-FFF2-40B4-BE49-F238E27FC236}">
                <a16:creationId xmlns:a16="http://schemas.microsoft.com/office/drawing/2014/main" id="{1BD2D07D-D270-0533-23EB-58C992DEAE53}"/>
              </a:ext>
            </a:extLst>
          </p:cNvPr>
          <p:cNvPicPr>
            <a:picLocks noChangeAspect="1"/>
          </p:cNvPicPr>
          <p:nvPr/>
        </p:nvPicPr>
        <p:blipFill>
          <a:blip r:embed="rId3">
            <a:extLst>
              <a:ext uri="{28A0092B-C50C-407E-A947-70E740481C1C}">
                <a14:useLocalDpi xmlns:a14="http://schemas.microsoft.com/office/drawing/2010/main" val="0"/>
              </a:ext>
            </a:extLst>
          </a:blip>
          <a:srcRect t="4019" b="4019"/>
          <a:stretch/>
        </p:blipFill>
        <p:spPr>
          <a:xfrm>
            <a:off x="6812878" y="1337429"/>
            <a:ext cx="5027922" cy="4659868"/>
          </a:xfrm>
          <a:prstGeom prst="rect">
            <a:avLst/>
          </a:prstGeom>
        </p:spPr>
      </p:pic>
      <p:sp>
        <p:nvSpPr>
          <p:cNvPr id="4" name="Rectangle : coins arrondis 3">
            <a:extLst>
              <a:ext uri="{FF2B5EF4-FFF2-40B4-BE49-F238E27FC236}">
                <a16:creationId xmlns:a16="http://schemas.microsoft.com/office/drawing/2014/main" id="{0816F8C2-9027-4253-9E8B-1C168CCB01F6}"/>
              </a:ext>
            </a:extLst>
          </p:cNvPr>
          <p:cNvSpPr/>
          <p:nvPr/>
        </p:nvSpPr>
        <p:spPr>
          <a:xfrm>
            <a:off x="177800" y="171450"/>
            <a:ext cx="1925320" cy="6830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b="1" dirty="0">
                <a:latin typeface="Inter bold"/>
                <a:cs typeface="Poppins" panose="00000500000000000000" pitchFamily="2" charset="0"/>
              </a:rPr>
              <a:t>Éco-conception</a:t>
            </a:r>
            <a:r>
              <a:rPr lang="fr-FR" b="1" dirty="0">
                <a:latin typeface="Inter bold"/>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180AC-CC2F-25D4-CF92-1C01CF281122}"/>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4FF95C90-7F49-5395-8F59-36EDD6FC7431}"/>
              </a:ext>
            </a:extLst>
          </p:cNvPr>
          <p:cNvSpPr>
            <a:spLocks noGrp="1"/>
          </p:cNvSpPr>
          <p:nvPr>
            <p:ph type="title"/>
          </p:nvPr>
        </p:nvSpPr>
        <p:spPr>
          <a:xfrm>
            <a:off x="-3864428" y="1011273"/>
            <a:ext cx="10515600" cy="1325563"/>
          </a:xfrm>
        </p:spPr>
        <p:txBody>
          <a:bodyPr/>
          <a:lstStyle/>
          <a:p>
            <a:pPr algn="ctr"/>
            <a:r>
              <a:rPr lang="fr-FR" b="1" dirty="0">
                <a:latin typeface="Inter bold"/>
              </a:rPr>
              <a:t>APIs REST</a:t>
            </a:r>
            <a:endParaRPr lang="fr-FR" sz="2400" b="1" dirty="0">
              <a:latin typeface="Inter bold"/>
            </a:endParaRPr>
          </a:p>
        </p:txBody>
      </p:sp>
      <p:graphicFrame>
        <p:nvGraphicFramePr>
          <p:cNvPr id="2" name="Tableau 1">
            <a:extLst>
              <a:ext uri="{FF2B5EF4-FFF2-40B4-BE49-F238E27FC236}">
                <a16:creationId xmlns:a16="http://schemas.microsoft.com/office/drawing/2014/main" id="{1CF65665-1A10-750D-B85E-405A0E2D7BA1}"/>
              </a:ext>
            </a:extLst>
          </p:cNvPr>
          <p:cNvGraphicFramePr>
            <a:graphicFrameLocks noGrp="1"/>
          </p:cNvGraphicFramePr>
          <p:nvPr>
            <p:extLst>
              <p:ext uri="{D42A27DB-BD31-4B8C-83A1-F6EECF244321}">
                <p14:modId xmlns:p14="http://schemas.microsoft.com/office/powerpoint/2010/main" val="843459657"/>
              </p:ext>
            </p:extLst>
          </p:nvPr>
        </p:nvGraphicFramePr>
        <p:xfrm>
          <a:off x="2987040" y="363247"/>
          <a:ext cx="8104778" cy="2621616"/>
        </p:xfrm>
        <a:graphic>
          <a:graphicData uri="http://schemas.openxmlformats.org/drawingml/2006/table">
            <a:tbl>
              <a:tblPr firstRow="1" bandRow="1">
                <a:tableStyleId>{21E4AEA4-8DFA-4A89-87EB-49C32662AFE0}</a:tableStyleId>
              </a:tblPr>
              <a:tblGrid>
                <a:gridCol w="3118032">
                  <a:extLst>
                    <a:ext uri="{9D8B030D-6E8A-4147-A177-3AD203B41FA5}">
                      <a16:colId xmlns:a16="http://schemas.microsoft.com/office/drawing/2014/main" val="3934076320"/>
                    </a:ext>
                  </a:extLst>
                </a:gridCol>
                <a:gridCol w="1725452">
                  <a:extLst>
                    <a:ext uri="{9D8B030D-6E8A-4147-A177-3AD203B41FA5}">
                      <a16:colId xmlns:a16="http://schemas.microsoft.com/office/drawing/2014/main" val="1596897414"/>
                    </a:ext>
                  </a:extLst>
                </a:gridCol>
                <a:gridCol w="1990906">
                  <a:extLst>
                    <a:ext uri="{9D8B030D-6E8A-4147-A177-3AD203B41FA5}">
                      <a16:colId xmlns:a16="http://schemas.microsoft.com/office/drawing/2014/main" val="965370059"/>
                    </a:ext>
                  </a:extLst>
                </a:gridCol>
                <a:gridCol w="1270388">
                  <a:extLst>
                    <a:ext uri="{9D8B030D-6E8A-4147-A177-3AD203B41FA5}">
                      <a16:colId xmlns:a16="http://schemas.microsoft.com/office/drawing/2014/main" val="1530269767"/>
                    </a:ext>
                  </a:extLst>
                </a:gridCol>
              </a:tblGrid>
              <a:tr h="655404">
                <a:tc>
                  <a:txBody>
                    <a:bodyPr/>
                    <a:lstStyle/>
                    <a:p>
                      <a:pPr algn="ctr">
                        <a:buNone/>
                      </a:pPr>
                      <a:r>
                        <a:rPr lang="fr-FR" dirty="0"/>
                        <a:t>Endpoint</a:t>
                      </a:r>
                    </a:p>
                  </a:txBody>
                  <a:tcPr anchor="ctr"/>
                </a:tc>
                <a:tc>
                  <a:txBody>
                    <a:bodyPr/>
                    <a:lstStyle/>
                    <a:p>
                      <a:pPr algn="ctr">
                        <a:buNone/>
                      </a:pPr>
                      <a:r>
                        <a:rPr lang="fr-FR" dirty="0"/>
                        <a:t>Méthode</a:t>
                      </a:r>
                    </a:p>
                  </a:txBody>
                  <a:tcPr anchor="ctr"/>
                </a:tc>
                <a:tc>
                  <a:txBody>
                    <a:bodyPr/>
                    <a:lstStyle/>
                    <a:p>
                      <a:pPr algn="ctr">
                        <a:buNone/>
                      </a:pPr>
                      <a:r>
                        <a:rPr lang="fr-FR" dirty="0"/>
                        <a:t>Description</a:t>
                      </a:r>
                    </a:p>
                  </a:txBody>
                  <a:tcPr anchor="ctr"/>
                </a:tc>
                <a:tc>
                  <a:txBody>
                    <a:bodyPr/>
                    <a:lstStyle/>
                    <a:p>
                      <a:pPr algn="ctr">
                        <a:buNone/>
                      </a:pPr>
                      <a:r>
                        <a:rPr lang="fr-FR" dirty="0"/>
                        <a:t>Retour</a:t>
                      </a:r>
                    </a:p>
                  </a:txBody>
                  <a:tcPr anchor="ctr"/>
                </a:tc>
                <a:extLst>
                  <a:ext uri="{0D108BD9-81ED-4DB2-BD59-A6C34878D82A}">
                    <a16:rowId xmlns:a16="http://schemas.microsoft.com/office/drawing/2014/main" val="2263600775"/>
                  </a:ext>
                </a:extLst>
              </a:tr>
              <a:tr h="655404">
                <a:tc>
                  <a:txBody>
                    <a:bodyPr/>
                    <a:lstStyle/>
                    <a:p>
                      <a:pPr>
                        <a:buNone/>
                      </a:pPr>
                      <a:r>
                        <a:rPr lang="fr-FR">
                          <a:latin typeface="Courier New" panose="02070309020205020404" pitchFamily="49" charset="0"/>
                        </a:rPr>
                        <a:t>/api/chatbot</a:t>
                      </a:r>
                      <a:endParaRPr lang="fr-FR"/>
                    </a:p>
                  </a:txBody>
                  <a:tcPr anchor="ctr"/>
                </a:tc>
                <a:tc>
                  <a:txBody>
                    <a:bodyPr/>
                    <a:lstStyle/>
                    <a:p>
                      <a:pPr>
                        <a:buNone/>
                      </a:pPr>
                      <a:r>
                        <a:rPr lang="fr-FR"/>
                        <a:t>POST</a:t>
                      </a:r>
                    </a:p>
                  </a:txBody>
                  <a:tcPr anchor="ctr"/>
                </a:tc>
                <a:tc>
                  <a:txBody>
                    <a:bodyPr/>
                    <a:lstStyle/>
                    <a:p>
                      <a:pPr>
                        <a:buNone/>
                      </a:pPr>
                      <a:r>
                        <a:rPr lang="fr-FR" dirty="0" err="1"/>
                        <a:t>Chatbot</a:t>
                      </a:r>
                      <a:r>
                        <a:rPr lang="fr-FR" dirty="0"/>
                        <a:t> </a:t>
                      </a:r>
                      <a:r>
                        <a:rPr lang="fr-FR" dirty="0" err="1"/>
                        <a:t>AstroIA</a:t>
                      </a:r>
                      <a:r>
                        <a:rPr lang="fr-FR" dirty="0"/>
                        <a:t> via Gemini</a:t>
                      </a:r>
                    </a:p>
                  </a:txBody>
                  <a:tcPr anchor="ctr"/>
                </a:tc>
                <a:tc>
                  <a:txBody>
                    <a:bodyPr/>
                    <a:lstStyle/>
                    <a:p>
                      <a:pPr>
                        <a:buNone/>
                      </a:pPr>
                      <a:r>
                        <a:rPr lang="fr-FR"/>
                        <a:t>JSON</a:t>
                      </a:r>
                    </a:p>
                  </a:txBody>
                  <a:tcPr anchor="ctr"/>
                </a:tc>
                <a:extLst>
                  <a:ext uri="{0D108BD9-81ED-4DB2-BD59-A6C34878D82A}">
                    <a16:rowId xmlns:a16="http://schemas.microsoft.com/office/drawing/2014/main" val="2440529355"/>
                  </a:ext>
                </a:extLst>
              </a:tr>
              <a:tr h="655404">
                <a:tc>
                  <a:txBody>
                    <a:bodyPr/>
                    <a:lstStyle/>
                    <a:p>
                      <a:pPr>
                        <a:buNone/>
                      </a:pPr>
                      <a:r>
                        <a:rPr lang="fr-FR">
                          <a:latin typeface="Courier New" panose="02070309020205020404" pitchFamily="49" charset="0"/>
                        </a:rPr>
                        <a:t>/favori/toggle/&lt;id&gt;</a:t>
                      </a:r>
                      <a:endParaRPr lang="fr-FR"/>
                    </a:p>
                  </a:txBody>
                  <a:tcPr anchor="ctr"/>
                </a:tc>
                <a:tc>
                  <a:txBody>
                    <a:bodyPr/>
                    <a:lstStyle/>
                    <a:p>
                      <a:pPr>
                        <a:buNone/>
                      </a:pPr>
                      <a:r>
                        <a:rPr lang="fr-FR"/>
                        <a:t>POST</a:t>
                      </a:r>
                    </a:p>
                  </a:txBody>
                  <a:tcPr anchor="ctr"/>
                </a:tc>
                <a:tc>
                  <a:txBody>
                    <a:bodyPr/>
                    <a:lstStyle/>
                    <a:p>
                      <a:pPr>
                        <a:buNone/>
                      </a:pPr>
                      <a:r>
                        <a:rPr lang="fr-FR"/>
                        <a:t>Toggle favori AJAX</a:t>
                      </a:r>
                    </a:p>
                  </a:txBody>
                  <a:tcPr anchor="ctr"/>
                </a:tc>
                <a:tc>
                  <a:txBody>
                    <a:bodyPr/>
                    <a:lstStyle/>
                    <a:p>
                      <a:pPr>
                        <a:buNone/>
                      </a:pPr>
                      <a:r>
                        <a:rPr lang="fr-FR" dirty="0"/>
                        <a:t>JSON</a:t>
                      </a:r>
                    </a:p>
                  </a:txBody>
                  <a:tcPr anchor="ctr"/>
                </a:tc>
                <a:extLst>
                  <a:ext uri="{0D108BD9-81ED-4DB2-BD59-A6C34878D82A}">
                    <a16:rowId xmlns:a16="http://schemas.microsoft.com/office/drawing/2014/main" val="2922147338"/>
                  </a:ext>
                </a:extLst>
              </a:tr>
              <a:tr h="655404">
                <a:tc>
                  <a:txBody>
                    <a:bodyPr/>
                    <a:lstStyle/>
                    <a:p>
                      <a:pPr>
                        <a:buNone/>
                      </a:pPr>
                      <a:r>
                        <a:rPr lang="fr-FR">
                          <a:latin typeface="Courier New" panose="02070309020205020404" pitchFamily="49" charset="0"/>
                        </a:rPr>
                        <a:t>/api/translate</a:t>
                      </a:r>
                      <a:endParaRPr lang="fr-FR"/>
                    </a:p>
                  </a:txBody>
                  <a:tcPr anchor="ctr"/>
                </a:tc>
                <a:tc>
                  <a:txBody>
                    <a:bodyPr/>
                    <a:lstStyle/>
                    <a:p>
                      <a:pPr>
                        <a:buNone/>
                      </a:pPr>
                      <a:r>
                        <a:rPr lang="fr-FR"/>
                        <a:t>POST</a:t>
                      </a:r>
                    </a:p>
                  </a:txBody>
                  <a:tcPr anchor="ctr"/>
                </a:tc>
                <a:tc>
                  <a:txBody>
                    <a:bodyPr/>
                    <a:lstStyle/>
                    <a:p>
                      <a:pPr>
                        <a:buNone/>
                      </a:pPr>
                      <a:r>
                        <a:rPr lang="fr-FR"/>
                        <a:t>Traduction EN/FR</a:t>
                      </a:r>
                    </a:p>
                  </a:txBody>
                  <a:tcPr anchor="ctr"/>
                </a:tc>
                <a:tc>
                  <a:txBody>
                    <a:bodyPr/>
                    <a:lstStyle/>
                    <a:p>
                      <a:pPr>
                        <a:buNone/>
                      </a:pPr>
                      <a:r>
                        <a:rPr lang="fr-FR" dirty="0"/>
                        <a:t>JSON</a:t>
                      </a:r>
                    </a:p>
                  </a:txBody>
                  <a:tcPr anchor="ctr"/>
                </a:tc>
                <a:extLst>
                  <a:ext uri="{0D108BD9-81ED-4DB2-BD59-A6C34878D82A}">
                    <a16:rowId xmlns:a16="http://schemas.microsoft.com/office/drawing/2014/main" val="2062012529"/>
                  </a:ext>
                </a:extLst>
              </a:tr>
            </a:tbl>
          </a:graphicData>
        </a:graphic>
      </p:graphicFrame>
      <p:sp>
        <p:nvSpPr>
          <p:cNvPr id="9" name="ZoneTexte 8">
            <a:extLst>
              <a:ext uri="{FF2B5EF4-FFF2-40B4-BE49-F238E27FC236}">
                <a16:creationId xmlns:a16="http://schemas.microsoft.com/office/drawing/2014/main" id="{933A7F85-6C6F-52B2-4B28-97689EC91498}"/>
              </a:ext>
            </a:extLst>
          </p:cNvPr>
          <p:cNvSpPr txBox="1"/>
          <p:nvPr/>
        </p:nvSpPr>
        <p:spPr>
          <a:xfrm>
            <a:off x="11188700" y="6375400"/>
            <a:ext cx="558800" cy="369332"/>
          </a:xfrm>
          <a:prstGeom prst="rect">
            <a:avLst/>
          </a:prstGeom>
          <a:noFill/>
        </p:spPr>
        <p:txBody>
          <a:bodyPr wrap="square" rtlCol="0">
            <a:spAutoFit/>
          </a:bodyPr>
          <a:lstStyle/>
          <a:p>
            <a:r>
              <a:rPr lang="fr-FR" dirty="0">
                <a:solidFill>
                  <a:schemeClr val="accent2"/>
                </a:solidFill>
              </a:rPr>
              <a:t>20</a:t>
            </a:r>
          </a:p>
        </p:txBody>
      </p:sp>
      <p:pic>
        <p:nvPicPr>
          <p:cNvPr id="4" name="Image 3">
            <a:extLst>
              <a:ext uri="{FF2B5EF4-FFF2-40B4-BE49-F238E27FC236}">
                <a16:creationId xmlns:a16="http://schemas.microsoft.com/office/drawing/2014/main" id="{B9C4F908-FD64-D435-B421-44F1A69271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7040" y="3356942"/>
            <a:ext cx="6217920" cy="3387790"/>
          </a:xfrm>
          <a:prstGeom prst="rect">
            <a:avLst/>
          </a:prstGeom>
        </p:spPr>
      </p:pic>
    </p:spTree>
    <p:extLst>
      <p:ext uri="{BB962C8B-B14F-4D97-AF65-F5344CB8AC3E}">
        <p14:creationId xmlns:p14="http://schemas.microsoft.com/office/powerpoint/2010/main" val="205990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12C5E-80A9-7F3F-0357-A6D9E061E0F1}"/>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966341EA-536F-838E-AE80-45D5F3F4A7F8}"/>
              </a:ext>
            </a:extLst>
          </p:cNvPr>
          <p:cNvSpPr>
            <a:spLocks noGrp="1"/>
          </p:cNvSpPr>
          <p:nvPr>
            <p:ph type="title"/>
          </p:nvPr>
        </p:nvSpPr>
        <p:spPr>
          <a:xfrm>
            <a:off x="838200" y="0"/>
            <a:ext cx="10515600" cy="1325563"/>
          </a:xfrm>
        </p:spPr>
        <p:txBody>
          <a:bodyPr/>
          <a:lstStyle/>
          <a:p>
            <a:pPr algn="ctr"/>
            <a:r>
              <a:rPr lang="fr-FR" b="1" dirty="0">
                <a:latin typeface="Inter bold"/>
              </a:rPr>
              <a:t>Tests</a:t>
            </a:r>
            <a:endParaRPr lang="fr-FR" sz="2400" b="1" dirty="0">
              <a:latin typeface="Inter bold"/>
            </a:endParaRPr>
          </a:p>
        </p:txBody>
      </p:sp>
      <p:graphicFrame>
        <p:nvGraphicFramePr>
          <p:cNvPr id="3" name="Tableau 2">
            <a:extLst>
              <a:ext uri="{FF2B5EF4-FFF2-40B4-BE49-F238E27FC236}">
                <a16:creationId xmlns:a16="http://schemas.microsoft.com/office/drawing/2014/main" id="{4C7C51C0-F832-F1A6-2756-68CB1E0B2AB6}"/>
              </a:ext>
            </a:extLst>
          </p:cNvPr>
          <p:cNvGraphicFramePr>
            <a:graphicFrameLocks noGrp="1"/>
          </p:cNvGraphicFramePr>
          <p:nvPr>
            <p:extLst>
              <p:ext uri="{D42A27DB-BD31-4B8C-83A1-F6EECF244321}">
                <p14:modId xmlns:p14="http://schemas.microsoft.com/office/powerpoint/2010/main" val="4199644306"/>
              </p:ext>
            </p:extLst>
          </p:nvPr>
        </p:nvGraphicFramePr>
        <p:xfrm>
          <a:off x="214774" y="1025922"/>
          <a:ext cx="7428748" cy="5495288"/>
        </p:xfrm>
        <a:graphic>
          <a:graphicData uri="http://schemas.openxmlformats.org/drawingml/2006/table">
            <a:tbl>
              <a:tblPr firstRow="1" bandRow="1">
                <a:tableStyleId>{21E4AEA4-8DFA-4A89-87EB-49C32662AFE0}</a:tableStyleId>
              </a:tblPr>
              <a:tblGrid>
                <a:gridCol w="1857187">
                  <a:extLst>
                    <a:ext uri="{9D8B030D-6E8A-4147-A177-3AD203B41FA5}">
                      <a16:colId xmlns:a16="http://schemas.microsoft.com/office/drawing/2014/main" val="2443261673"/>
                    </a:ext>
                  </a:extLst>
                </a:gridCol>
                <a:gridCol w="1857187">
                  <a:extLst>
                    <a:ext uri="{9D8B030D-6E8A-4147-A177-3AD203B41FA5}">
                      <a16:colId xmlns:a16="http://schemas.microsoft.com/office/drawing/2014/main" val="2892468697"/>
                    </a:ext>
                  </a:extLst>
                </a:gridCol>
                <a:gridCol w="1857187">
                  <a:extLst>
                    <a:ext uri="{9D8B030D-6E8A-4147-A177-3AD203B41FA5}">
                      <a16:colId xmlns:a16="http://schemas.microsoft.com/office/drawing/2014/main" val="3915851941"/>
                    </a:ext>
                  </a:extLst>
                </a:gridCol>
                <a:gridCol w="1857187">
                  <a:extLst>
                    <a:ext uri="{9D8B030D-6E8A-4147-A177-3AD203B41FA5}">
                      <a16:colId xmlns:a16="http://schemas.microsoft.com/office/drawing/2014/main" val="1029199777"/>
                    </a:ext>
                  </a:extLst>
                </a:gridCol>
              </a:tblGrid>
              <a:tr h="485852">
                <a:tc>
                  <a:txBody>
                    <a:bodyPr/>
                    <a:lstStyle/>
                    <a:p>
                      <a:pPr algn="ctr">
                        <a:buNone/>
                      </a:pPr>
                      <a:r>
                        <a:rPr lang="fr-FR" dirty="0"/>
                        <a:t>Fichier</a:t>
                      </a:r>
                    </a:p>
                  </a:txBody>
                  <a:tcPr anchor="ctr"/>
                </a:tc>
                <a:tc>
                  <a:txBody>
                    <a:bodyPr/>
                    <a:lstStyle/>
                    <a:p>
                      <a:pPr algn="ctr">
                        <a:buNone/>
                      </a:pPr>
                      <a:r>
                        <a:rPr lang="fr-FR" dirty="0"/>
                        <a:t>Type</a:t>
                      </a:r>
                    </a:p>
                  </a:txBody>
                  <a:tcPr anchor="ctr"/>
                </a:tc>
                <a:tc>
                  <a:txBody>
                    <a:bodyPr/>
                    <a:lstStyle/>
                    <a:p>
                      <a:pPr algn="ctr">
                        <a:buNone/>
                      </a:pPr>
                      <a:r>
                        <a:rPr lang="fr-FR" dirty="0"/>
                        <a:t>Ce qui est testé</a:t>
                      </a:r>
                    </a:p>
                  </a:txBody>
                  <a:tcPr anchor="ctr"/>
                </a:tc>
                <a:tc>
                  <a:txBody>
                    <a:bodyPr/>
                    <a:lstStyle/>
                    <a:p>
                      <a:pPr algn="ctr">
                        <a:buNone/>
                      </a:pPr>
                      <a:r>
                        <a:rPr lang="fr-FR" dirty="0"/>
                        <a:t>Résultat</a:t>
                      </a:r>
                    </a:p>
                  </a:txBody>
                  <a:tcPr anchor="ctr"/>
                </a:tc>
                <a:extLst>
                  <a:ext uri="{0D108BD9-81ED-4DB2-BD59-A6C34878D82A}">
                    <a16:rowId xmlns:a16="http://schemas.microsoft.com/office/drawing/2014/main" val="2614487845"/>
                  </a:ext>
                </a:extLst>
              </a:tr>
              <a:tr h="902296">
                <a:tc>
                  <a:txBody>
                    <a:bodyPr/>
                    <a:lstStyle/>
                    <a:p>
                      <a:pPr>
                        <a:buNone/>
                      </a:pPr>
                      <a:r>
                        <a:rPr lang="fr-FR"/>
                        <a:t>test_security.py + test_csrf.py</a:t>
                      </a:r>
                    </a:p>
                  </a:txBody>
                  <a:tcPr anchor="ctr"/>
                </a:tc>
                <a:tc>
                  <a:txBody>
                    <a:bodyPr/>
                    <a:lstStyle/>
                    <a:p>
                      <a:pPr>
                        <a:buNone/>
                      </a:pPr>
                      <a:r>
                        <a:rPr lang="fr-FR" dirty="0"/>
                        <a:t>Sécurité</a:t>
                      </a:r>
                    </a:p>
                  </a:txBody>
                  <a:tcPr anchor="ctr"/>
                </a:tc>
                <a:tc>
                  <a:txBody>
                    <a:bodyPr/>
                    <a:lstStyle/>
                    <a:p>
                      <a:pPr>
                        <a:buNone/>
                      </a:pPr>
                      <a:r>
                        <a:rPr lang="fr-FR"/>
                        <a:t>Hachage bcrypt, protection CSRF</a:t>
                      </a:r>
                    </a:p>
                  </a:txBody>
                  <a:tcPr anchor="ctr"/>
                </a:tc>
                <a:tc>
                  <a:txBody>
                    <a:bodyPr/>
                    <a:lstStyle/>
                    <a:p>
                      <a:pPr>
                        <a:buNone/>
                      </a:pPr>
                      <a:r>
                        <a:rPr lang="fr-FR"/>
                        <a:t>✅ 8/8</a:t>
                      </a:r>
                    </a:p>
                  </a:txBody>
                  <a:tcPr anchor="ctr"/>
                </a:tc>
                <a:extLst>
                  <a:ext uri="{0D108BD9-81ED-4DB2-BD59-A6C34878D82A}">
                    <a16:rowId xmlns:a16="http://schemas.microsoft.com/office/drawing/2014/main" val="3336929126"/>
                  </a:ext>
                </a:extLst>
              </a:tr>
              <a:tr h="694074">
                <a:tc>
                  <a:txBody>
                    <a:bodyPr/>
                    <a:lstStyle/>
                    <a:p>
                      <a:pPr>
                        <a:buNone/>
                      </a:pPr>
                      <a:r>
                        <a:rPr lang="fr-FR"/>
                        <a:t>test_chatbot_service.py</a:t>
                      </a:r>
                    </a:p>
                  </a:txBody>
                  <a:tcPr anchor="ctr"/>
                </a:tc>
                <a:tc>
                  <a:txBody>
                    <a:bodyPr/>
                    <a:lstStyle/>
                    <a:p>
                      <a:pPr>
                        <a:buNone/>
                      </a:pPr>
                      <a:r>
                        <a:rPr lang="fr-FR"/>
                        <a:t>Unitaire (mocké)</a:t>
                      </a:r>
                    </a:p>
                  </a:txBody>
                  <a:tcPr anchor="ctr"/>
                </a:tc>
                <a:tc>
                  <a:txBody>
                    <a:bodyPr/>
                    <a:lstStyle/>
                    <a:p>
                      <a:pPr>
                        <a:buNone/>
                      </a:pPr>
                      <a:r>
                        <a:rPr lang="fr-FR" dirty="0" err="1"/>
                        <a:t>Chatbot</a:t>
                      </a:r>
                      <a:r>
                        <a:rPr lang="fr-FR" dirty="0"/>
                        <a:t> </a:t>
                      </a:r>
                      <a:r>
                        <a:rPr lang="fr-FR" dirty="0" err="1"/>
                        <a:t>AstroIA</a:t>
                      </a:r>
                      <a:endParaRPr lang="fr-FR" dirty="0"/>
                    </a:p>
                  </a:txBody>
                  <a:tcPr anchor="ctr"/>
                </a:tc>
                <a:tc>
                  <a:txBody>
                    <a:bodyPr/>
                    <a:lstStyle/>
                    <a:p>
                      <a:pPr>
                        <a:buNone/>
                      </a:pPr>
                      <a:r>
                        <a:rPr lang="fr-FR"/>
                        <a:t>✅ 6/6</a:t>
                      </a:r>
                    </a:p>
                  </a:txBody>
                  <a:tcPr anchor="ctr"/>
                </a:tc>
                <a:extLst>
                  <a:ext uri="{0D108BD9-81ED-4DB2-BD59-A6C34878D82A}">
                    <a16:rowId xmlns:a16="http://schemas.microsoft.com/office/drawing/2014/main" val="878559600"/>
                  </a:ext>
                </a:extLst>
              </a:tr>
              <a:tr h="694074">
                <a:tc>
                  <a:txBody>
                    <a:bodyPr/>
                    <a:lstStyle/>
                    <a:p>
                      <a:pPr>
                        <a:buNone/>
                      </a:pPr>
                      <a:r>
                        <a:rPr lang="fr-FR"/>
                        <a:t>test_comment_service.py</a:t>
                      </a:r>
                    </a:p>
                  </a:txBody>
                  <a:tcPr anchor="ctr"/>
                </a:tc>
                <a:tc>
                  <a:txBody>
                    <a:bodyPr/>
                    <a:lstStyle/>
                    <a:p>
                      <a:pPr>
                        <a:buNone/>
                      </a:pPr>
                      <a:r>
                        <a:rPr lang="fr-FR"/>
                        <a:t>Unitaire (mocké)</a:t>
                      </a:r>
                    </a:p>
                  </a:txBody>
                  <a:tcPr anchor="ctr"/>
                </a:tc>
                <a:tc>
                  <a:txBody>
                    <a:bodyPr/>
                    <a:lstStyle/>
                    <a:p>
                      <a:pPr>
                        <a:buNone/>
                      </a:pPr>
                      <a:r>
                        <a:rPr lang="fr-FR"/>
                        <a:t>Commentaires imbriqués</a:t>
                      </a:r>
                    </a:p>
                  </a:txBody>
                  <a:tcPr anchor="ctr"/>
                </a:tc>
                <a:tc>
                  <a:txBody>
                    <a:bodyPr/>
                    <a:lstStyle/>
                    <a:p>
                      <a:pPr>
                        <a:buNone/>
                      </a:pPr>
                      <a:r>
                        <a:rPr lang="fr-FR"/>
                        <a:t>✅ 15/15</a:t>
                      </a:r>
                    </a:p>
                  </a:txBody>
                  <a:tcPr anchor="ctr"/>
                </a:tc>
                <a:extLst>
                  <a:ext uri="{0D108BD9-81ED-4DB2-BD59-A6C34878D82A}">
                    <a16:rowId xmlns:a16="http://schemas.microsoft.com/office/drawing/2014/main" val="1137108432"/>
                  </a:ext>
                </a:extLst>
              </a:tr>
              <a:tr h="902296">
                <a:tc>
                  <a:txBody>
                    <a:bodyPr/>
                    <a:lstStyle/>
                    <a:p>
                      <a:pPr>
                        <a:buNone/>
                      </a:pPr>
                      <a:r>
                        <a:rPr lang="fr-FR"/>
                        <a:t>test_db.py + test_db_connexion.py</a:t>
                      </a:r>
                    </a:p>
                  </a:txBody>
                  <a:tcPr anchor="ctr"/>
                </a:tc>
                <a:tc>
                  <a:txBody>
                    <a:bodyPr/>
                    <a:lstStyle/>
                    <a:p>
                      <a:pPr>
                        <a:buNone/>
                      </a:pPr>
                      <a:r>
                        <a:rPr lang="fr-FR"/>
                        <a:t>Intégration</a:t>
                      </a:r>
                    </a:p>
                  </a:txBody>
                  <a:tcPr anchor="ctr"/>
                </a:tc>
                <a:tc>
                  <a:txBody>
                    <a:bodyPr/>
                    <a:lstStyle/>
                    <a:p>
                      <a:pPr>
                        <a:buNone/>
                      </a:pPr>
                      <a:r>
                        <a:rPr lang="fr-FR" dirty="0"/>
                        <a:t>Connexion PostgreSQL, catégories</a:t>
                      </a:r>
                    </a:p>
                  </a:txBody>
                  <a:tcPr anchor="ctr"/>
                </a:tc>
                <a:tc>
                  <a:txBody>
                    <a:bodyPr/>
                    <a:lstStyle/>
                    <a:p>
                      <a:pPr>
                        <a:buNone/>
                      </a:pPr>
                      <a:r>
                        <a:rPr lang="fr-FR"/>
                        <a:t>✅</a:t>
                      </a:r>
                    </a:p>
                  </a:txBody>
                  <a:tcPr anchor="ctr"/>
                </a:tc>
                <a:extLst>
                  <a:ext uri="{0D108BD9-81ED-4DB2-BD59-A6C34878D82A}">
                    <a16:rowId xmlns:a16="http://schemas.microsoft.com/office/drawing/2014/main" val="3711982760"/>
                  </a:ext>
                </a:extLst>
              </a:tr>
              <a:tr h="902296">
                <a:tc>
                  <a:txBody>
                    <a:bodyPr/>
                    <a:lstStyle/>
                    <a:p>
                      <a:pPr>
                        <a:buNone/>
                      </a:pPr>
                      <a:r>
                        <a:rPr lang="fr-FR"/>
                        <a:t>test_logic.py + test_validation.py</a:t>
                      </a:r>
                    </a:p>
                  </a:txBody>
                  <a:tcPr anchor="ctr"/>
                </a:tc>
                <a:tc>
                  <a:txBody>
                    <a:bodyPr/>
                    <a:lstStyle/>
                    <a:p>
                      <a:pPr>
                        <a:buNone/>
                      </a:pPr>
                      <a:r>
                        <a:rPr lang="fr-FR"/>
                        <a:t>Unitaire</a:t>
                      </a:r>
                    </a:p>
                  </a:txBody>
                  <a:tcPr anchor="ctr"/>
                </a:tc>
                <a:tc>
                  <a:txBody>
                    <a:bodyPr/>
                    <a:lstStyle/>
                    <a:p>
                      <a:pPr>
                        <a:buNone/>
                      </a:pPr>
                      <a:r>
                        <a:rPr lang="fr-FR"/>
                        <a:t>Mapping NASA, validations</a:t>
                      </a:r>
                    </a:p>
                  </a:txBody>
                  <a:tcPr anchor="ctr"/>
                </a:tc>
                <a:tc>
                  <a:txBody>
                    <a:bodyPr/>
                    <a:lstStyle/>
                    <a:p>
                      <a:pPr>
                        <a:buNone/>
                      </a:pPr>
                      <a:r>
                        <a:rPr lang="fr-FR"/>
                        <a:t>✅</a:t>
                      </a:r>
                    </a:p>
                  </a:txBody>
                  <a:tcPr anchor="ctr"/>
                </a:tc>
                <a:extLst>
                  <a:ext uri="{0D108BD9-81ED-4DB2-BD59-A6C34878D82A}">
                    <a16:rowId xmlns:a16="http://schemas.microsoft.com/office/drawing/2014/main" val="1716932805"/>
                  </a:ext>
                </a:extLst>
              </a:tr>
              <a:tr h="902296">
                <a:tc>
                  <a:txBody>
                    <a:bodyPr/>
                    <a:lstStyle/>
                    <a:p>
                      <a:pPr>
                        <a:buNone/>
                      </a:pPr>
                      <a:r>
                        <a:rPr lang="fr-FR"/>
                        <a:t>test_astroia.py</a:t>
                      </a:r>
                    </a:p>
                  </a:txBody>
                  <a:tcPr anchor="ctr"/>
                </a:tc>
                <a:tc>
                  <a:txBody>
                    <a:bodyPr/>
                    <a:lstStyle/>
                    <a:p>
                      <a:pPr>
                        <a:buNone/>
                      </a:pPr>
                      <a:r>
                        <a:rPr lang="fr-FR"/>
                        <a:t>Manuel, hors CI</a:t>
                      </a:r>
                    </a:p>
                  </a:txBody>
                  <a:tcPr anchor="ctr"/>
                </a:tc>
                <a:tc>
                  <a:txBody>
                    <a:bodyPr/>
                    <a:lstStyle/>
                    <a:p>
                      <a:pPr>
                        <a:buNone/>
                      </a:pPr>
                      <a:r>
                        <a:rPr lang="fr-FR"/>
                        <a:t>API Gemini réelle (quota payant)</a:t>
                      </a:r>
                    </a:p>
                  </a:txBody>
                  <a:tcPr anchor="ctr"/>
                </a:tc>
                <a:tc>
                  <a:txBody>
                    <a:bodyPr/>
                    <a:lstStyle/>
                    <a:p>
                      <a:pPr>
                        <a:buNone/>
                      </a:pPr>
                      <a:r>
                        <a:rPr lang="fr-FR" dirty="0"/>
                        <a:t>⚠️ manuel</a:t>
                      </a:r>
                    </a:p>
                  </a:txBody>
                  <a:tcPr anchor="ctr"/>
                </a:tc>
                <a:extLst>
                  <a:ext uri="{0D108BD9-81ED-4DB2-BD59-A6C34878D82A}">
                    <a16:rowId xmlns:a16="http://schemas.microsoft.com/office/drawing/2014/main" val="1289692014"/>
                  </a:ext>
                </a:extLst>
              </a:tr>
            </a:tbl>
          </a:graphicData>
        </a:graphic>
      </p:graphicFrame>
      <p:sp>
        <p:nvSpPr>
          <p:cNvPr id="9" name="ZoneTexte 8">
            <a:extLst>
              <a:ext uri="{FF2B5EF4-FFF2-40B4-BE49-F238E27FC236}">
                <a16:creationId xmlns:a16="http://schemas.microsoft.com/office/drawing/2014/main" id="{6529CF62-56F4-AB64-AAF6-F217D3757C72}"/>
              </a:ext>
            </a:extLst>
          </p:cNvPr>
          <p:cNvSpPr txBox="1"/>
          <p:nvPr/>
        </p:nvSpPr>
        <p:spPr>
          <a:xfrm>
            <a:off x="11469226" y="6259751"/>
            <a:ext cx="558800" cy="369332"/>
          </a:xfrm>
          <a:prstGeom prst="rect">
            <a:avLst/>
          </a:prstGeom>
          <a:noFill/>
        </p:spPr>
        <p:txBody>
          <a:bodyPr wrap="square" rtlCol="0">
            <a:spAutoFit/>
          </a:bodyPr>
          <a:lstStyle/>
          <a:p>
            <a:r>
              <a:rPr lang="fr-FR" dirty="0">
                <a:solidFill>
                  <a:schemeClr val="accent2"/>
                </a:solidFill>
              </a:rPr>
              <a:t>21</a:t>
            </a:r>
          </a:p>
        </p:txBody>
      </p:sp>
      <p:sp>
        <p:nvSpPr>
          <p:cNvPr id="5" name="Rectangle : coins arrondis 4">
            <a:extLst>
              <a:ext uri="{FF2B5EF4-FFF2-40B4-BE49-F238E27FC236}">
                <a16:creationId xmlns:a16="http://schemas.microsoft.com/office/drawing/2014/main" id="{D7A2E25B-E2AF-4F29-431A-A216135CFE9A}"/>
              </a:ext>
            </a:extLst>
          </p:cNvPr>
          <p:cNvSpPr/>
          <p:nvPr/>
        </p:nvSpPr>
        <p:spPr>
          <a:xfrm>
            <a:off x="177800" y="171450"/>
            <a:ext cx="1799590" cy="6830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b="1" dirty="0">
                <a:latin typeface="Inter bold"/>
              </a:rPr>
              <a:t>Qualité &amp; Tests </a:t>
            </a:r>
            <a:endParaRPr lang="fr-FR" dirty="0"/>
          </a:p>
        </p:txBody>
      </p:sp>
      <p:pic>
        <p:nvPicPr>
          <p:cNvPr id="4" name="Image 3">
            <a:extLst>
              <a:ext uri="{FF2B5EF4-FFF2-40B4-BE49-F238E27FC236}">
                <a16:creationId xmlns:a16="http://schemas.microsoft.com/office/drawing/2014/main" id="{0C5E002D-8A7E-77F4-A2F8-BB24003B61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82477" y="2168434"/>
            <a:ext cx="4864425" cy="3063410"/>
          </a:xfrm>
          <a:prstGeom prst="rect">
            <a:avLst/>
          </a:prstGeom>
        </p:spPr>
      </p:pic>
    </p:spTree>
    <p:extLst>
      <p:ext uri="{BB962C8B-B14F-4D97-AF65-F5344CB8AC3E}">
        <p14:creationId xmlns:p14="http://schemas.microsoft.com/office/powerpoint/2010/main" val="15304649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F7A65389-56DE-0594-0B2E-CB86EB300AD4}"/>
              </a:ext>
            </a:extLst>
          </p:cNvPr>
          <p:cNvSpPr txBox="1"/>
          <p:nvPr/>
        </p:nvSpPr>
        <p:spPr>
          <a:xfrm>
            <a:off x="11131550" y="6223000"/>
            <a:ext cx="450850" cy="369332"/>
          </a:xfrm>
          <a:prstGeom prst="rect">
            <a:avLst/>
          </a:prstGeom>
          <a:noFill/>
        </p:spPr>
        <p:txBody>
          <a:bodyPr wrap="square" rtlCol="0">
            <a:spAutoFit/>
          </a:bodyPr>
          <a:lstStyle/>
          <a:p>
            <a:r>
              <a:rPr lang="fr-FR" dirty="0">
                <a:solidFill>
                  <a:schemeClr val="accent2"/>
                </a:solidFill>
              </a:rPr>
              <a:t>22</a:t>
            </a:r>
          </a:p>
        </p:txBody>
      </p:sp>
      <p:sp>
        <p:nvSpPr>
          <p:cNvPr id="2" name="Rectangle : coins arrondis 1">
            <a:extLst>
              <a:ext uri="{FF2B5EF4-FFF2-40B4-BE49-F238E27FC236}">
                <a16:creationId xmlns:a16="http://schemas.microsoft.com/office/drawing/2014/main" id="{F560E46C-8593-A92E-7477-78E0DF6251AF}"/>
              </a:ext>
            </a:extLst>
          </p:cNvPr>
          <p:cNvSpPr/>
          <p:nvPr/>
        </p:nvSpPr>
        <p:spPr>
          <a:xfrm>
            <a:off x="190500" y="1426329"/>
            <a:ext cx="3181350" cy="4570968"/>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b="1" dirty="0">
                <a:latin typeface="Poppins" panose="00000500000000000000" pitchFamily="2" charset="0"/>
                <a:cs typeface="Poppins" panose="00000500000000000000" pitchFamily="2" charset="0"/>
              </a:rPr>
              <a:t>Scénario testé</a:t>
            </a:r>
          </a:p>
          <a:p>
            <a:pPr algn="ctr">
              <a:buNone/>
            </a:pPr>
            <a:endParaRPr lang="fr-FR" b="1" dirty="0">
              <a:latin typeface="Poppins" panose="00000500000000000000" pitchFamily="2" charset="0"/>
              <a:cs typeface="Poppins" panose="00000500000000000000" pitchFamily="2" charset="0"/>
            </a:endParaRPr>
          </a:p>
          <a:p>
            <a:pPr algn="ctr">
              <a:buNone/>
            </a:pPr>
            <a:r>
              <a:rPr lang="fr-FR" b="1" dirty="0">
                <a:latin typeface="Poppins" panose="00000500000000000000" pitchFamily="2" charset="0"/>
                <a:cs typeface="Poppins" panose="00000500000000000000" pitchFamily="2" charset="0"/>
              </a:rPr>
              <a:t>Commentaires imbriqués sur 3 niveaux</a:t>
            </a:r>
          </a:p>
          <a:p>
            <a:pPr algn="ctr">
              <a:buNone/>
            </a:pPr>
            <a:endParaRPr lang="fr-FR" b="1" dirty="0">
              <a:latin typeface="Poppins" panose="00000500000000000000" pitchFamily="2" charset="0"/>
              <a:cs typeface="Poppins" panose="00000500000000000000" pitchFamily="2" charset="0"/>
            </a:endParaRPr>
          </a:p>
          <a:p>
            <a:pPr algn="ctr">
              <a:buNone/>
            </a:pPr>
            <a:r>
              <a:rPr lang="fr-FR" b="1" dirty="0">
                <a:latin typeface="Poppins" panose="00000500000000000000" pitchFamily="2" charset="0"/>
                <a:cs typeface="Poppins" panose="00000500000000000000" pitchFamily="2" charset="0"/>
              </a:rPr>
              <a:t>Utilisateur, puis réponse admin, puis réponse utilisateur</a:t>
            </a:r>
          </a:p>
        </p:txBody>
      </p:sp>
      <p:sp>
        <p:nvSpPr>
          <p:cNvPr id="3" name="Rectangle : coins arrondis 2">
            <a:extLst>
              <a:ext uri="{FF2B5EF4-FFF2-40B4-BE49-F238E27FC236}">
                <a16:creationId xmlns:a16="http://schemas.microsoft.com/office/drawing/2014/main" id="{8FFB9E2C-B888-6ADA-B9C2-BA6DEECA387C}"/>
              </a:ext>
            </a:extLst>
          </p:cNvPr>
          <p:cNvSpPr/>
          <p:nvPr/>
        </p:nvSpPr>
        <p:spPr>
          <a:xfrm>
            <a:off x="3549650" y="1426329"/>
            <a:ext cx="3181350" cy="4659868"/>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Poppins" panose="00000500000000000000" pitchFamily="2" charset="0"/>
                <a:cs typeface="Poppins" panose="00000500000000000000" pitchFamily="2" charset="0"/>
              </a:rPr>
              <a:t>Résultat</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Arbre à 3 nœuds correctement imbriqué</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Bonne identité affichée à chaque niveau</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Badge non-lus à jour, suppression en cascade</a:t>
            </a:r>
          </a:p>
        </p:txBody>
      </p:sp>
      <p:sp>
        <p:nvSpPr>
          <p:cNvPr id="4" name="Rectangle : coins arrondis 3">
            <a:extLst>
              <a:ext uri="{FF2B5EF4-FFF2-40B4-BE49-F238E27FC236}">
                <a16:creationId xmlns:a16="http://schemas.microsoft.com/office/drawing/2014/main" id="{0816F8C2-9027-4253-9E8B-1C168CCB01F6}"/>
              </a:ext>
            </a:extLst>
          </p:cNvPr>
          <p:cNvSpPr/>
          <p:nvPr/>
        </p:nvSpPr>
        <p:spPr>
          <a:xfrm>
            <a:off x="177800" y="171450"/>
            <a:ext cx="1925320" cy="6830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b="1" dirty="0">
                <a:latin typeface="Inter bold"/>
                <a:cs typeface="Poppins" panose="00000500000000000000" pitchFamily="2" charset="0"/>
              </a:rPr>
              <a:t>Jeu d'essai</a:t>
            </a:r>
            <a:r>
              <a:rPr lang="fr-FR" b="1" dirty="0">
                <a:latin typeface="Inter bold"/>
              </a:rPr>
              <a:t> </a:t>
            </a:r>
          </a:p>
        </p:txBody>
      </p:sp>
      <p:pic>
        <p:nvPicPr>
          <p:cNvPr id="7" name="Image 6">
            <a:extLst>
              <a:ext uri="{FF2B5EF4-FFF2-40B4-BE49-F238E27FC236}">
                <a16:creationId xmlns:a16="http://schemas.microsoft.com/office/drawing/2014/main" id="{177A726F-53BF-9889-E5E0-6987AB4EFC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8496" y="792992"/>
            <a:ext cx="4458322" cy="543000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195FD-8E5B-F137-AC24-4A987191677E}"/>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C4FD46A3-703F-5760-DC31-B8F2F291FB7E}"/>
              </a:ext>
            </a:extLst>
          </p:cNvPr>
          <p:cNvSpPr>
            <a:spLocks noGrp="1"/>
          </p:cNvSpPr>
          <p:nvPr>
            <p:ph type="title"/>
          </p:nvPr>
        </p:nvSpPr>
        <p:spPr>
          <a:xfrm>
            <a:off x="66675" y="324400"/>
            <a:ext cx="3924300" cy="1325563"/>
          </a:xfrm>
        </p:spPr>
        <p:txBody>
          <a:bodyPr>
            <a:noAutofit/>
          </a:bodyPr>
          <a:lstStyle/>
          <a:p>
            <a:pPr algn="ctr"/>
            <a:r>
              <a:rPr lang="fr-FR" b="1" dirty="0">
                <a:latin typeface="Inter bold"/>
              </a:rPr>
              <a:t>CI/CD &amp; Qualité du Code</a:t>
            </a:r>
          </a:p>
        </p:txBody>
      </p:sp>
      <p:sp>
        <p:nvSpPr>
          <p:cNvPr id="9" name="ZoneTexte 8">
            <a:extLst>
              <a:ext uri="{FF2B5EF4-FFF2-40B4-BE49-F238E27FC236}">
                <a16:creationId xmlns:a16="http://schemas.microsoft.com/office/drawing/2014/main" id="{16CE0E80-2F8E-71BB-FF28-31C1106258EA}"/>
              </a:ext>
            </a:extLst>
          </p:cNvPr>
          <p:cNvSpPr txBox="1"/>
          <p:nvPr/>
        </p:nvSpPr>
        <p:spPr>
          <a:xfrm>
            <a:off x="11469226" y="6259751"/>
            <a:ext cx="558800" cy="369332"/>
          </a:xfrm>
          <a:prstGeom prst="rect">
            <a:avLst/>
          </a:prstGeom>
          <a:noFill/>
        </p:spPr>
        <p:txBody>
          <a:bodyPr wrap="square" rtlCol="0">
            <a:spAutoFit/>
          </a:bodyPr>
          <a:lstStyle/>
          <a:p>
            <a:r>
              <a:rPr lang="fr-FR" dirty="0">
                <a:solidFill>
                  <a:schemeClr val="accent2"/>
                </a:solidFill>
              </a:rPr>
              <a:t>23</a:t>
            </a:r>
          </a:p>
        </p:txBody>
      </p:sp>
      <p:pic>
        <p:nvPicPr>
          <p:cNvPr id="4" name="Image 3">
            <a:extLst>
              <a:ext uri="{FF2B5EF4-FFF2-40B4-BE49-F238E27FC236}">
                <a16:creationId xmlns:a16="http://schemas.microsoft.com/office/drawing/2014/main" id="{DB49F38D-5F40-7E0C-F432-09B759510A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75" y="1463041"/>
            <a:ext cx="9765002" cy="5187092"/>
          </a:xfrm>
          <a:prstGeom prst="rect">
            <a:avLst/>
          </a:prstGeom>
        </p:spPr>
      </p:pic>
      <p:graphicFrame>
        <p:nvGraphicFramePr>
          <p:cNvPr id="2" name="Tableau 1">
            <a:extLst>
              <a:ext uri="{FF2B5EF4-FFF2-40B4-BE49-F238E27FC236}">
                <a16:creationId xmlns:a16="http://schemas.microsoft.com/office/drawing/2014/main" id="{0BAF3639-3CFD-5587-B063-CB287C2F76F6}"/>
              </a:ext>
            </a:extLst>
          </p:cNvPr>
          <p:cNvGraphicFramePr>
            <a:graphicFrameLocks noGrp="1"/>
          </p:cNvGraphicFramePr>
          <p:nvPr>
            <p:extLst>
              <p:ext uri="{D42A27DB-BD31-4B8C-83A1-F6EECF244321}">
                <p14:modId xmlns:p14="http://schemas.microsoft.com/office/powerpoint/2010/main" val="2924343148"/>
              </p:ext>
            </p:extLst>
          </p:nvPr>
        </p:nvGraphicFramePr>
        <p:xfrm>
          <a:off x="4314825" y="125505"/>
          <a:ext cx="7562850" cy="2377440"/>
        </p:xfrm>
        <a:graphic>
          <a:graphicData uri="http://schemas.openxmlformats.org/drawingml/2006/table">
            <a:tbl>
              <a:tblPr firstRow="1" bandRow="1">
                <a:tableStyleId>{21E4AEA4-8DFA-4A89-87EB-49C32662AFE0}</a:tableStyleId>
              </a:tblPr>
              <a:tblGrid>
                <a:gridCol w="2520950">
                  <a:extLst>
                    <a:ext uri="{9D8B030D-6E8A-4147-A177-3AD203B41FA5}">
                      <a16:colId xmlns:a16="http://schemas.microsoft.com/office/drawing/2014/main" val="790352776"/>
                    </a:ext>
                  </a:extLst>
                </a:gridCol>
                <a:gridCol w="2520950">
                  <a:extLst>
                    <a:ext uri="{9D8B030D-6E8A-4147-A177-3AD203B41FA5}">
                      <a16:colId xmlns:a16="http://schemas.microsoft.com/office/drawing/2014/main" val="483913733"/>
                    </a:ext>
                  </a:extLst>
                </a:gridCol>
                <a:gridCol w="2520950">
                  <a:extLst>
                    <a:ext uri="{9D8B030D-6E8A-4147-A177-3AD203B41FA5}">
                      <a16:colId xmlns:a16="http://schemas.microsoft.com/office/drawing/2014/main" val="3157144511"/>
                    </a:ext>
                  </a:extLst>
                </a:gridCol>
              </a:tblGrid>
              <a:tr h="316566">
                <a:tc>
                  <a:txBody>
                    <a:bodyPr/>
                    <a:lstStyle/>
                    <a:p>
                      <a:pPr algn="ctr">
                        <a:buNone/>
                      </a:pPr>
                      <a:r>
                        <a:rPr lang="fr-FR" dirty="0"/>
                        <a:t>Outil</a:t>
                      </a:r>
                    </a:p>
                  </a:txBody>
                  <a:tcPr anchor="ctr"/>
                </a:tc>
                <a:tc>
                  <a:txBody>
                    <a:bodyPr/>
                    <a:lstStyle/>
                    <a:p>
                      <a:pPr algn="ctr">
                        <a:buNone/>
                      </a:pPr>
                      <a:r>
                        <a:rPr lang="fr-FR" dirty="0"/>
                        <a:t>Rôle</a:t>
                      </a:r>
                    </a:p>
                  </a:txBody>
                  <a:tcPr anchor="ctr"/>
                </a:tc>
                <a:tc>
                  <a:txBody>
                    <a:bodyPr/>
                    <a:lstStyle/>
                    <a:p>
                      <a:pPr algn="ctr">
                        <a:buNone/>
                      </a:pPr>
                      <a:r>
                        <a:rPr lang="fr-FR" dirty="0"/>
                        <a:t>Résultat</a:t>
                      </a:r>
                    </a:p>
                  </a:txBody>
                  <a:tcPr anchor="ctr"/>
                </a:tc>
                <a:extLst>
                  <a:ext uri="{0D108BD9-81ED-4DB2-BD59-A6C34878D82A}">
                    <a16:rowId xmlns:a16="http://schemas.microsoft.com/office/drawing/2014/main" val="727626868"/>
                  </a:ext>
                </a:extLst>
              </a:tr>
              <a:tr h="316566">
                <a:tc>
                  <a:txBody>
                    <a:bodyPr/>
                    <a:lstStyle/>
                    <a:p>
                      <a:pPr>
                        <a:buNone/>
                      </a:pPr>
                      <a:r>
                        <a:rPr lang="fr-FR" b="1"/>
                        <a:t>Flake8</a:t>
                      </a:r>
                      <a:endParaRPr lang="fr-FR"/>
                    </a:p>
                  </a:txBody>
                  <a:tcPr anchor="ctr"/>
                </a:tc>
                <a:tc>
                  <a:txBody>
                    <a:bodyPr/>
                    <a:lstStyle/>
                    <a:p>
                      <a:pPr algn="ctr">
                        <a:buNone/>
                      </a:pPr>
                      <a:r>
                        <a:rPr lang="fr-FR"/>
                        <a:t>Vérification du code (PEP8)</a:t>
                      </a:r>
                    </a:p>
                  </a:txBody>
                  <a:tcPr anchor="ctr"/>
                </a:tc>
                <a:tc>
                  <a:txBody>
                    <a:bodyPr/>
                    <a:lstStyle/>
                    <a:p>
                      <a:pPr algn="ctr">
                        <a:buNone/>
                      </a:pPr>
                      <a:r>
                        <a:rPr lang="fr-FR" dirty="0"/>
                        <a:t>0 erreur</a:t>
                      </a:r>
                    </a:p>
                  </a:txBody>
                  <a:tcPr anchor="ctr"/>
                </a:tc>
                <a:extLst>
                  <a:ext uri="{0D108BD9-81ED-4DB2-BD59-A6C34878D82A}">
                    <a16:rowId xmlns:a16="http://schemas.microsoft.com/office/drawing/2014/main" val="3307157127"/>
                  </a:ext>
                </a:extLst>
              </a:tr>
              <a:tr h="316566">
                <a:tc>
                  <a:txBody>
                    <a:bodyPr/>
                    <a:lstStyle/>
                    <a:p>
                      <a:pPr>
                        <a:buNone/>
                      </a:pPr>
                      <a:r>
                        <a:rPr lang="fr-FR" b="1" dirty="0"/>
                        <a:t>Black</a:t>
                      </a:r>
                      <a:endParaRPr lang="fr-FR" dirty="0"/>
                    </a:p>
                  </a:txBody>
                  <a:tcPr anchor="ctr"/>
                </a:tc>
                <a:tc>
                  <a:txBody>
                    <a:bodyPr/>
                    <a:lstStyle/>
                    <a:p>
                      <a:pPr algn="ctr">
                        <a:buNone/>
                      </a:pPr>
                      <a:r>
                        <a:rPr lang="fr-FR"/>
                        <a:t>Formatage automatique</a:t>
                      </a:r>
                    </a:p>
                  </a:txBody>
                  <a:tcPr anchor="ctr"/>
                </a:tc>
                <a:tc>
                  <a:txBody>
                    <a:bodyPr/>
                    <a:lstStyle/>
                    <a:p>
                      <a:pPr algn="ctr">
                        <a:buNone/>
                      </a:pPr>
                      <a:r>
                        <a:rPr lang="fr-FR" dirty="0"/>
                        <a:t>Conforme</a:t>
                      </a:r>
                    </a:p>
                  </a:txBody>
                  <a:tcPr anchor="ctr"/>
                </a:tc>
                <a:extLst>
                  <a:ext uri="{0D108BD9-81ED-4DB2-BD59-A6C34878D82A}">
                    <a16:rowId xmlns:a16="http://schemas.microsoft.com/office/drawing/2014/main" val="3229078197"/>
                  </a:ext>
                </a:extLst>
              </a:tr>
              <a:tr h="316566">
                <a:tc>
                  <a:txBody>
                    <a:bodyPr/>
                    <a:lstStyle/>
                    <a:p>
                      <a:pPr>
                        <a:buNone/>
                      </a:pPr>
                      <a:r>
                        <a:rPr lang="fr-FR" b="1"/>
                        <a:t>Pytest</a:t>
                      </a:r>
                      <a:endParaRPr lang="fr-FR"/>
                    </a:p>
                  </a:txBody>
                  <a:tcPr anchor="ctr"/>
                </a:tc>
                <a:tc>
                  <a:txBody>
                    <a:bodyPr/>
                    <a:lstStyle/>
                    <a:p>
                      <a:pPr algn="ctr">
                        <a:buNone/>
                      </a:pPr>
                      <a:r>
                        <a:rPr lang="fr-FR"/>
                        <a:t>Automatisation des tests</a:t>
                      </a:r>
                    </a:p>
                  </a:txBody>
                  <a:tcPr anchor="ctr"/>
                </a:tc>
                <a:tc>
                  <a:txBody>
                    <a:bodyPr/>
                    <a:lstStyle/>
                    <a:p>
                      <a:pPr algn="ctr">
                        <a:buNone/>
                      </a:pPr>
                      <a:r>
                        <a:rPr lang="fr-FR" dirty="0"/>
                        <a:t>33/33 passent</a:t>
                      </a:r>
                    </a:p>
                  </a:txBody>
                  <a:tcPr anchor="ctr"/>
                </a:tc>
                <a:extLst>
                  <a:ext uri="{0D108BD9-81ED-4DB2-BD59-A6C34878D82A}">
                    <a16:rowId xmlns:a16="http://schemas.microsoft.com/office/drawing/2014/main" val="1038462296"/>
                  </a:ext>
                </a:extLst>
              </a:tr>
              <a:tr h="316566">
                <a:tc>
                  <a:txBody>
                    <a:bodyPr/>
                    <a:lstStyle/>
                    <a:p>
                      <a:pPr>
                        <a:buNone/>
                      </a:pPr>
                      <a:r>
                        <a:rPr lang="fr-FR" b="1"/>
                        <a:t>GitHub Actions</a:t>
                      </a:r>
                      <a:endParaRPr lang="fr-FR"/>
                    </a:p>
                  </a:txBody>
                  <a:tcPr anchor="ctr"/>
                </a:tc>
                <a:tc>
                  <a:txBody>
                    <a:bodyPr/>
                    <a:lstStyle/>
                    <a:p>
                      <a:pPr algn="ctr">
                        <a:buNone/>
                      </a:pPr>
                      <a:r>
                        <a:rPr lang="fr-FR"/>
                        <a:t>Pipeline CI, à chaque push</a:t>
                      </a:r>
                    </a:p>
                  </a:txBody>
                  <a:tcPr anchor="ctr"/>
                </a:tc>
                <a:tc>
                  <a:txBody>
                    <a:bodyPr/>
                    <a:lstStyle/>
                    <a:p>
                      <a:pPr algn="ctr">
                        <a:buNone/>
                      </a:pPr>
                      <a:r>
                        <a:rPr lang="fr-FR" dirty="0"/>
                        <a:t>Pipeline vert</a:t>
                      </a:r>
                    </a:p>
                  </a:txBody>
                  <a:tcPr anchor="ctr"/>
                </a:tc>
                <a:extLst>
                  <a:ext uri="{0D108BD9-81ED-4DB2-BD59-A6C34878D82A}">
                    <a16:rowId xmlns:a16="http://schemas.microsoft.com/office/drawing/2014/main" val="669525030"/>
                  </a:ext>
                </a:extLst>
              </a:tr>
            </a:tbl>
          </a:graphicData>
        </a:graphic>
      </p:graphicFrame>
    </p:spTree>
    <p:extLst>
      <p:ext uri="{BB962C8B-B14F-4D97-AF65-F5344CB8AC3E}">
        <p14:creationId xmlns:p14="http://schemas.microsoft.com/office/powerpoint/2010/main" val="41402792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D0B5986E-E5A5-1E4E-2CAB-7547307D1F82}"/>
              </a:ext>
            </a:extLst>
          </p:cNvPr>
          <p:cNvSpPr txBox="1"/>
          <p:nvPr/>
        </p:nvSpPr>
        <p:spPr>
          <a:xfrm>
            <a:off x="11131550" y="6223000"/>
            <a:ext cx="463042" cy="369332"/>
          </a:xfrm>
          <a:prstGeom prst="rect">
            <a:avLst/>
          </a:prstGeom>
          <a:noFill/>
        </p:spPr>
        <p:txBody>
          <a:bodyPr wrap="square" rtlCol="0">
            <a:spAutoFit/>
          </a:bodyPr>
          <a:lstStyle/>
          <a:p>
            <a:r>
              <a:rPr lang="fr-FR" dirty="0">
                <a:solidFill>
                  <a:schemeClr val="accent2"/>
                </a:solidFill>
              </a:rPr>
              <a:t>24</a:t>
            </a:r>
          </a:p>
        </p:txBody>
      </p:sp>
      <p:sp>
        <p:nvSpPr>
          <p:cNvPr id="2" name="Rectangle : coins arrondis 1">
            <a:extLst>
              <a:ext uri="{FF2B5EF4-FFF2-40B4-BE49-F238E27FC236}">
                <a16:creationId xmlns:a16="http://schemas.microsoft.com/office/drawing/2014/main" id="{156CA969-7259-AA1E-44D7-5EBCE933EFE1}"/>
              </a:ext>
            </a:extLst>
          </p:cNvPr>
          <p:cNvSpPr/>
          <p:nvPr/>
        </p:nvSpPr>
        <p:spPr>
          <a:xfrm>
            <a:off x="177800" y="1778000"/>
            <a:ext cx="3797300" cy="3784600"/>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Poppins" panose="00000500000000000000" pitchFamily="2" charset="0"/>
                <a:cs typeface="Poppins" panose="00000500000000000000" pitchFamily="2" charset="0"/>
              </a:rPr>
              <a:t>Sources suivies</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Alertes GitHub Dependabot</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Notes de version (PostgreSQL, MongoDB, nginx...)</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Alertes de sécurité Ubuntu</a:t>
            </a:r>
          </a:p>
        </p:txBody>
      </p:sp>
      <p:sp>
        <p:nvSpPr>
          <p:cNvPr id="3" name="Rectangle : coins arrondis 2">
            <a:extLst>
              <a:ext uri="{FF2B5EF4-FFF2-40B4-BE49-F238E27FC236}">
                <a16:creationId xmlns:a16="http://schemas.microsoft.com/office/drawing/2014/main" id="{9B398D49-3B8B-1788-8F65-54A713725135}"/>
              </a:ext>
            </a:extLst>
          </p:cNvPr>
          <p:cNvSpPr/>
          <p:nvPr/>
        </p:nvSpPr>
        <p:spPr>
          <a:xfrm>
            <a:off x="4197350" y="1778000"/>
            <a:ext cx="3797300" cy="3784600"/>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Poppins" panose="00000500000000000000" pitchFamily="2" charset="0"/>
                <a:cs typeface="Poppins" panose="00000500000000000000" pitchFamily="2" charset="0"/>
              </a:rPr>
              <a:t>Exemple concret</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Dependabot a signalé plusieurs dépendances vulnérables</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Mise à jour vérifiée par la suite de tests avant déploiement</a:t>
            </a:r>
          </a:p>
        </p:txBody>
      </p:sp>
      <p:sp>
        <p:nvSpPr>
          <p:cNvPr id="4" name="Rectangle : coins arrondis 3">
            <a:extLst>
              <a:ext uri="{FF2B5EF4-FFF2-40B4-BE49-F238E27FC236}">
                <a16:creationId xmlns:a16="http://schemas.microsoft.com/office/drawing/2014/main" id="{836E4505-7E15-4955-D835-3EE7F53CEA2E}"/>
              </a:ext>
            </a:extLst>
          </p:cNvPr>
          <p:cNvSpPr/>
          <p:nvPr/>
        </p:nvSpPr>
        <p:spPr>
          <a:xfrm>
            <a:off x="8216900" y="1778000"/>
            <a:ext cx="3797300" cy="3784600"/>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Poppins" panose="00000500000000000000" pitchFamily="2" charset="0"/>
                <a:cs typeface="Poppins" panose="00000500000000000000" pitchFamily="2" charset="0"/>
              </a:rPr>
              <a:t>Sécurité MongoDB</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Compte applicatif limité en lecture/écriture, jamais admin</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Principe du moindre privilège appliqué</a:t>
            </a:r>
          </a:p>
        </p:txBody>
      </p:sp>
      <p:sp>
        <p:nvSpPr>
          <p:cNvPr id="7" name="Rectangle : coins arrondis 6">
            <a:extLst>
              <a:ext uri="{FF2B5EF4-FFF2-40B4-BE49-F238E27FC236}">
                <a16:creationId xmlns:a16="http://schemas.microsoft.com/office/drawing/2014/main" id="{02EBFF11-0556-355E-9F3F-20D3E984386A}"/>
              </a:ext>
            </a:extLst>
          </p:cNvPr>
          <p:cNvSpPr/>
          <p:nvPr/>
        </p:nvSpPr>
        <p:spPr>
          <a:xfrm>
            <a:off x="177800" y="171450"/>
            <a:ext cx="2485390" cy="6830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b="1" dirty="0">
                <a:latin typeface="Inter bold"/>
              </a:rPr>
              <a:t>Veille technologique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E5664-8ACD-CD34-7735-028603132A60}"/>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F7A65389-56DE-0594-0B2E-CB86EB300AD4}"/>
              </a:ext>
            </a:extLst>
          </p:cNvPr>
          <p:cNvSpPr txBox="1"/>
          <p:nvPr/>
        </p:nvSpPr>
        <p:spPr>
          <a:xfrm>
            <a:off x="11131550" y="6223000"/>
            <a:ext cx="450850" cy="369332"/>
          </a:xfrm>
          <a:prstGeom prst="rect">
            <a:avLst/>
          </a:prstGeom>
          <a:noFill/>
        </p:spPr>
        <p:txBody>
          <a:bodyPr wrap="square" rtlCol="0">
            <a:spAutoFit/>
          </a:bodyPr>
          <a:lstStyle/>
          <a:p>
            <a:r>
              <a:rPr lang="fr-FR" dirty="0">
                <a:solidFill>
                  <a:schemeClr val="accent2"/>
                </a:solidFill>
              </a:rPr>
              <a:t>25</a:t>
            </a:r>
          </a:p>
        </p:txBody>
      </p:sp>
      <p:sp>
        <p:nvSpPr>
          <p:cNvPr id="12" name="Titre 11">
            <a:extLst>
              <a:ext uri="{FF2B5EF4-FFF2-40B4-BE49-F238E27FC236}">
                <a16:creationId xmlns:a16="http://schemas.microsoft.com/office/drawing/2014/main" id="{5EF55F97-DB9B-B67D-1417-2266445DA820}"/>
              </a:ext>
            </a:extLst>
          </p:cNvPr>
          <p:cNvSpPr>
            <a:spLocks noGrp="1"/>
          </p:cNvSpPr>
          <p:nvPr>
            <p:ph type="title"/>
          </p:nvPr>
        </p:nvSpPr>
        <p:spPr>
          <a:xfrm>
            <a:off x="965200" y="50800"/>
            <a:ext cx="10515600" cy="1325563"/>
          </a:xfrm>
        </p:spPr>
        <p:txBody>
          <a:bodyPr/>
          <a:lstStyle/>
          <a:p>
            <a:pPr algn="ctr"/>
            <a:r>
              <a:rPr lang="fr-FR" b="1" dirty="0">
                <a:latin typeface="Inter bold"/>
              </a:rPr>
              <a:t>Sécurité</a:t>
            </a:r>
          </a:p>
        </p:txBody>
      </p:sp>
      <p:sp>
        <p:nvSpPr>
          <p:cNvPr id="2" name="Rectangle : coins arrondis 1">
            <a:extLst>
              <a:ext uri="{FF2B5EF4-FFF2-40B4-BE49-F238E27FC236}">
                <a16:creationId xmlns:a16="http://schemas.microsoft.com/office/drawing/2014/main" id="{F560E46C-8593-A92E-7477-78E0DF6251AF}"/>
              </a:ext>
            </a:extLst>
          </p:cNvPr>
          <p:cNvSpPr/>
          <p:nvPr/>
        </p:nvSpPr>
        <p:spPr>
          <a:xfrm>
            <a:off x="177800" y="975122"/>
            <a:ext cx="3181350" cy="3901678"/>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b="1" dirty="0">
                <a:latin typeface="Poppins" panose="00000500000000000000" pitchFamily="2" charset="0"/>
                <a:cs typeface="Poppins" panose="00000500000000000000" pitchFamily="2" charset="0"/>
              </a:rPr>
              <a:t>Sécurité des mots de passe</a:t>
            </a:r>
          </a:p>
          <a:p>
            <a:pPr algn="ctr">
              <a:buNone/>
            </a:pPr>
            <a:endParaRPr lang="fr-FR" b="1" dirty="0">
              <a:latin typeface="Poppins" panose="00000500000000000000" pitchFamily="2" charset="0"/>
              <a:cs typeface="Poppins" panose="00000500000000000000" pitchFamily="2" charset="0"/>
            </a:endParaRPr>
          </a:p>
          <a:p>
            <a:pPr marL="285750" indent="-285750">
              <a:buFont typeface="Wingdings" panose="05000000000000000000" pitchFamily="2" charset="2"/>
              <a:buChar char="Ø"/>
            </a:pPr>
            <a:r>
              <a:rPr lang="fr-FR" dirty="0">
                <a:latin typeface="Poppins" panose="00000500000000000000" pitchFamily="2" charset="0"/>
                <a:cs typeface="Poppins" panose="00000500000000000000" pitchFamily="2" charset="0"/>
              </a:rPr>
              <a:t>Hachage </a:t>
            </a:r>
            <a:r>
              <a:rPr lang="fr-FR" b="1" dirty="0" err="1">
                <a:latin typeface="Poppins" panose="00000500000000000000" pitchFamily="2" charset="0"/>
                <a:cs typeface="Poppins" panose="00000500000000000000" pitchFamily="2" charset="0"/>
              </a:rPr>
              <a:t>Bcrypt</a:t>
            </a:r>
            <a:r>
              <a:rPr lang="fr-FR" dirty="0">
                <a:latin typeface="Poppins" panose="00000500000000000000" pitchFamily="2" charset="0"/>
                <a:cs typeface="Poppins" panose="00000500000000000000" pitchFamily="2" charset="0"/>
              </a:rPr>
              <a:t> — jamais de mot de passe en clair</a:t>
            </a:r>
          </a:p>
          <a:p>
            <a:pPr marL="285750" indent="-285750">
              <a:buFont typeface="Wingdings" panose="05000000000000000000" pitchFamily="2" charset="2"/>
              <a:buChar char="Ø"/>
            </a:pPr>
            <a:endParaRPr lang="fr-FR" dirty="0">
              <a:latin typeface="Poppins" panose="00000500000000000000" pitchFamily="2" charset="0"/>
              <a:cs typeface="Poppins" panose="00000500000000000000" pitchFamily="2" charset="0"/>
            </a:endParaRPr>
          </a:p>
          <a:p>
            <a:pPr marL="285750" indent="-285750">
              <a:buFont typeface="Wingdings" panose="05000000000000000000" pitchFamily="2" charset="2"/>
              <a:buChar char="Ø"/>
            </a:pPr>
            <a:r>
              <a:rPr lang="fr-FR" dirty="0">
                <a:latin typeface="Poppins" panose="00000500000000000000" pitchFamily="2" charset="0"/>
                <a:cs typeface="Poppins" panose="00000500000000000000" pitchFamily="2" charset="0"/>
              </a:rPr>
              <a:t>Vérification avec </a:t>
            </a:r>
            <a:r>
              <a:rPr lang="fr-FR" dirty="0" err="1">
                <a:solidFill>
                  <a:schemeClr val="bg1"/>
                </a:solidFill>
                <a:latin typeface="Poppins" panose="00000500000000000000" pitchFamily="2" charset="0"/>
                <a:cs typeface="Poppins" panose="00000500000000000000" pitchFamily="2" charset="0"/>
              </a:rPr>
              <a:t>check_password</a:t>
            </a:r>
            <a:r>
              <a:rPr lang="fr-FR" dirty="0">
                <a:solidFill>
                  <a:schemeClr val="bg1"/>
                </a:solidFill>
                <a:latin typeface="Poppins" panose="00000500000000000000" pitchFamily="2" charset="0"/>
                <a:cs typeface="Poppins" panose="00000500000000000000" pitchFamily="2" charset="0"/>
              </a:rPr>
              <a:t>()</a:t>
            </a:r>
          </a:p>
          <a:p>
            <a:pPr marL="285750" indent="-285750">
              <a:buFont typeface="Wingdings" panose="05000000000000000000" pitchFamily="2" charset="2"/>
              <a:buChar char="Ø"/>
            </a:pPr>
            <a:endParaRPr lang="fr-FR" dirty="0">
              <a:latin typeface="Poppins" panose="00000500000000000000" pitchFamily="2" charset="0"/>
              <a:cs typeface="Poppins" panose="00000500000000000000" pitchFamily="2" charset="0"/>
            </a:endParaRPr>
          </a:p>
          <a:p>
            <a:pPr marL="285750" indent="-285750">
              <a:buFont typeface="Wingdings" panose="05000000000000000000" pitchFamily="2" charset="2"/>
              <a:buChar char="Ø"/>
            </a:pPr>
            <a:r>
              <a:rPr lang="fr-FR" dirty="0">
                <a:latin typeface="Poppins" panose="00000500000000000000" pitchFamily="2" charset="0"/>
                <a:cs typeface="Poppins" panose="00000500000000000000" pitchFamily="2" charset="0"/>
              </a:rPr>
              <a:t>Salage automatique du hash</a:t>
            </a:r>
          </a:p>
        </p:txBody>
      </p:sp>
      <p:sp>
        <p:nvSpPr>
          <p:cNvPr id="3" name="Rectangle : coins arrondis 2">
            <a:extLst>
              <a:ext uri="{FF2B5EF4-FFF2-40B4-BE49-F238E27FC236}">
                <a16:creationId xmlns:a16="http://schemas.microsoft.com/office/drawing/2014/main" id="{8FFB9E2C-B888-6ADA-B9C2-BA6DEECA387C}"/>
              </a:ext>
            </a:extLst>
          </p:cNvPr>
          <p:cNvSpPr/>
          <p:nvPr/>
        </p:nvSpPr>
        <p:spPr>
          <a:xfrm>
            <a:off x="8832852" y="452001"/>
            <a:ext cx="3181350" cy="5617210"/>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Poppins" panose="00000500000000000000" pitchFamily="2" charset="0"/>
                <a:cs typeface="Poppins" panose="00000500000000000000" pitchFamily="2" charset="0"/>
              </a:rPr>
              <a:t>Sécurité de l'application</a:t>
            </a:r>
          </a:p>
          <a:p>
            <a:pPr marL="285750" indent="-285750">
              <a:buFont typeface="Wingdings" panose="05000000000000000000" pitchFamily="2" charset="2"/>
              <a:buChar char="Ø"/>
            </a:pPr>
            <a:endParaRPr lang="fr-FR" dirty="0">
              <a:latin typeface="Poppins" panose="00000500000000000000" pitchFamily="2" charset="0"/>
              <a:cs typeface="Poppins" panose="00000500000000000000" pitchFamily="2" charset="0"/>
            </a:endParaRPr>
          </a:p>
          <a:p>
            <a:pPr marL="285750" indent="-285750">
              <a:buFont typeface="Wingdings" panose="05000000000000000000" pitchFamily="2" charset="2"/>
              <a:buChar char="Ø"/>
            </a:pPr>
            <a:r>
              <a:rPr lang="fr-FR" dirty="0">
                <a:latin typeface="Poppins" panose="00000500000000000000" pitchFamily="2" charset="0"/>
                <a:cs typeface="Poppins" panose="00000500000000000000" pitchFamily="2" charset="0"/>
              </a:rPr>
              <a:t>Sessions sécurisées Flask</a:t>
            </a:r>
          </a:p>
          <a:p>
            <a:pPr marL="285750" indent="-285750">
              <a:buFont typeface="Wingdings" panose="05000000000000000000" pitchFamily="2" charset="2"/>
              <a:buChar char="Ø"/>
            </a:pPr>
            <a:endParaRPr lang="fr-FR" dirty="0">
              <a:latin typeface="Poppins" panose="00000500000000000000" pitchFamily="2" charset="0"/>
              <a:cs typeface="Poppins" panose="00000500000000000000" pitchFamily="2" charset="0"/>
            </a:endParaRPr>
          </a:p>
          <a:p>
            <a:pPr marL="285750" indent="-285750">
              <a:buFont typeface="Wingdings" panose="05000000000000000000" pitchFamily="2" charset="2"/>
              <a:buChar char="Ø"/>
            </a:pPr>
            <a:r>
              <a:rPr lang="fr-FR" dirty="0">
                <a:latin typeface="Poppins" panose="00000500000000000000" pitchFamily="2" charset="0"/>
                <a:cs typeface="Poppins" panose="00000500000000000000" pitchFamily="2" charset="0"/>
              </a:rPr>
              <a:t>Clés API dans .</a:t>
            </a:r>
            <a:r>
              <a:rPr lang="fr-FR" dirty="0" err="1">
                <a:latin typeface="Poppins" panose="00000500000000000000" pitchFamily="2" charset="0"/>
                <a:cs typeface="Poppins" panose="00000500000000000000" pitchFamily="2" charset="0"/>
              </a:rPr>
              <a:t>env</a:t>
            </a:r>
            <a:r>
              <a:rPr lang="fr-FR" dirty="0">
                <a:latin typeface="Poppins" panose="00000500000000000000" pitchFamily="2" charset="0"/>
                <a:cs typeface="Poppins" panose="00000500000000000000" pitchFamily="2" charset="0"/>
              </a:rPr>
              <a:t> — jamais dans le code</a:t>
            </a:r>
          </a:p>
          <a:p>
            <a:pPr marL="285750" indent="-285750">
              <a:buFont typeface="Wingdings" panose="05000000000000000000" pitchFamily="2" charset="2"/>
              <a:buChar char="Ø"/>
            </a:pPr>
            <a:endParaRPr lang="fr-FR" dirty="0">
              <a:latin typeface="Poppins" panose="00000500000000000000" pitchFamily="2" charset="0"/>
              <a:cs typeface="Poppins" panose="00000500000000000000" pitchFamily="2" charset="0"/>
            </a:endParaRPr>
          </a:p>
          <a:p>
            <a:pPr marL="285750" indent="-285750">
              <a:buFont typeface="Wingdings" panose="05000000000000000000" pitchFamily="2" charset="2"/>
              <a:buChar char="Ø"/>
            </a:pPr>
            <a:r>
              <a:rPr lang="fr-FR" dirty="0">
                <a:latin typeface="Poppins" panose="00000500000000000000" pitchFamily="2" charset="0"/>
                <a:cs typeface="Poppins" panose="00000500000000000000" pitchFamily="2" charset="0"/>
              </a:rPr>
              <a:t>Décorateur @login_required sur les routes sensibles</a:t>
            </a:r>
          </a:p>
          <a:p>
            <a:pPr marL="285750" indent="-285750">
              <a:buFont typeface="Wingdings" panose="05000000000000000000" pitchFamily="2" charset="2"/>
              <a:buChar char="Ø"/>
            </a:pPr>
            <a:endParaRPr lang="fr-FR" dirty="0">
              <a:latin typeface="Poppins" panose="00000500000000000000" pitchFamily="2" charset="0"/>
              <a:cs typeface="Poppins" panose="00000500000000000000" pitchFamily="2" charset="0"/>
            </a:endParaRPr>
          </a:p>
          <a:p>
            <a:pPr marL="285750" indent="-285750">
              <a:buFont typeface="Wingdings" panose="05000000000000000000" pitchFamily="2" charset="2"/>
              <a:buChar char="Ø"/>
            </a:pPr>
            <a:r>
              <a:rPr lang="fr-FR" dirty="0">
                <a:latin typeface="Poppins" panose="00000500000000000000" pitchFamily="2" charset="0"/>
                <a:cs typeface="Poppins" panose="00000500000000000000" pitchFamily="2" charset="0"/>
              </a:rPr>
              <a:t>HTTPS via </a:t>
            </a:r>
            <a:r>
              <a:rPr lang="fr-FR" b="1" dirty="0">
                <a:latin typeface="Poppins" panose="00000500000000000000" pitchFamily="2" charset="0"/>
                <a:cs typeface="Poppins" panose="00000500000000000000" pitchFamily="2" charset="0"/>
              </a:rPr>
              <a:t>SSL </a:t>
            </a:r>
            <a:r>
              <a:rPr lang="fr-FR" b="1" dirty="0" err="1">
                <a:latin typeface="Poppins" panose="00000500000000000000" pitchFamily="2" charset="0"/>
                <a:cs typeface="Poppins" panose="00000500000000000000" pitchFamily="2" charset="0"/>
              </a:rPr>
              <a:t>Let's</a:t>
            </a:r>
            <a:r>
              <a:rPr lang="fr-FR" b="1" dirty="0">
                <a:latin typeface="Poppins" panose="00000500000000000000" pitchFamily="2" charset="0"/>
                <a:cs typeface="Poppins" panose="00000500000000000000" pitchFamily="2" charset="0"/>
              </a:rPr>
              <a:t> </a:t>
            </a:r>
            <a:r>
              <a:rPr lang="fr-FR" b="1" dirty="0" err="1">
                <a:latin typeface="Poppins" panose="00000500000000000000" pitchFamily="2" charset="0"/>
                <a:cs typeface="Poppins" panose="00000500000000000000" pitchFamily="2" charset="0"/>
              </a:rPr>
              <a:t>Encrypt</a:t>
            </a:r>
            <a:endParaRPr lang="fr-FR" dirty="0">
              <a:latin typeface="Poppins" panose="00000500000000000000" pitchFamily="2" charset="0"/>
              <a:cs typeface="Poppins" panose="00000500000000000000" pitchFamily="2" charset="0"/>
            </a:endParaRPr>
          </a:p>
          <a:p>
            <a:pPr marL="285750" indent="-285750">
              <a:buFont typeface="Wingdings"/>
              <a:buChar char="Ø"/>
            </a:pPr>
            <a:endParaRPr lang="fr-FR" dirty="0"/>
          </a:p>
          <a:p>
            <a:pPr marL="285750" indent="-285750">
              <a:buFont typeface="Wingdings"/>
              <a:buChar char="Ø"/>
            </a:pPr>
            <a:r>
              <a:rPr lang="fr-FR" dirty="0">
                <a:latin typeface="Poppins"/>
              </a:rPr>
              <a:t>Conforme aux recommandations OWASP Top 10 et ANSSI</a:t>
            </a:r>
          </a:p>
        </p:txBody>
      </p:sp>
      <p:sp>
        <p:nvSpPr>
          <p:cNvPr id="4" name="Rectangle : coins arrondis 3">
            <a:extLst>
              <a:ext uri="{FF2B5EF4-FFF2-40B4-BE49-F238E27FC236}">
                <a16:creationId xmlns:a16="http://schemas.microsoft.com/office/drawing/2014/main" id="{0816F8C2-9027-4253-9E8B-1C168CCB01F6}"/>
              </a:ext>
            </a:extLst>
          </p:cNvPr>
          <p:cNvSpPr/>
          <p:nvPr/>
        </p:nvSpPr>
        <p:spPr>
          <a:xfrm>
            <a:off x="177800" y="171450"/>
            <a:ext cx="1925320" cy="6830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b="1" dirty="0">
                <a:latin typeface="Inter bold"/>
                <a:cs typeface="Poppins" panose="00000500000000000000" pitchFamily="2" charset="0"/>
              </a:rPr>
              <a:t>Sécurité &amp; RGPD</a:t>
            </a:r>
            <a:r>
              <a:rPr lang="fr-FR" b="1" dirty="0">
                <a:latin typeface="Inter bold"/>
              </a:rPr>
              <a:t> </a:t>
            </a:r>
          </a:p>
        </p:txBody>
      </p:sp>
      <p:pic>
        <p:nvPicPr>
          <p:cNvPr id="7" name="Image 6">
            <a:extLst>
              <a:ext uri="{FF2B5EF4-FFF2-40B4-BE49-F238E27FC236}">
                <a16:creationId xmlns:a16="http://schemas.microsoft.com/office/drawing/2014/main" id="{2D70D697-B539-0798-5750-611546B84F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398" y="4189653"/>
            <a:ext cx="5708454" cy="2402679"/>
          </a:xfrm>
          <a:prstGeom prst="rect">
            <a:avLst/>
          </a:prstGeom>
        </p:spPr>
      </p:pic>
    </p:spTree>
    <p:extLst>
      <p:ext uri="{BB962C8B-B14F-4D97-AF65-F5344CB8AC3E}">
        <p14:creationId xmlns:p14="http://schemas.microsoft.com/office/powerpoint/2010/main" val="2776017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D2CAF-70E2-1977-F556-89D52F44E53A}"/>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2AA68E31-3179-926A-A92F-1BE671CCBA86}"/>
              </a:ext>
            </a:extLst>
          </p:cNvPr>
          <p:cNvSpPr txBox="1"/>
          <p:nvPr/>
        </p:nvSpPr>
        <p:spPr>
          <a:xfrm>
            <a:off x="11131550" y="6223000"/>
            <a:ext cx="552450" cy="369332"/>
          </a:xfrm>
          <a:prstGeom prst="rect">
            <a:avLst/>
          </a:prstGeom>
          <a:noFill/>
        </p:spPr>
        <p:txBody>
          <a:bodyPr wrap="square" rtlCol="0">
            <a:spAutoFit/>
          </a:bodyPr>
          <a:lstStyle/>
          <a:p>
            <a:r>
              <a:rPr lang="fr-FR" dirty="0">
                <a:solidFill>
                  <a:schemeClr val="accent2"/>
                </a:solidFill>
              </a:rPr>
              <a:t>26</a:t>
            </a:r>
          </a:p>
        </p:txBody>
      </p:sp>
      <p:sp>
        <p:nvSpPr>
          <p:cNvPr id="12" name="Titre 11">
            <a:extLst>
              <a:ext uri="{FF2B5EF4-FFF2-40B4-BE49-F238E27FC236}">
                <a16:creationId xmlns:a16="http://schemas.microsoft.com/office/drawing/2014/main" id="{D7F15765-8828-931B-3ABE-91E8A9936899}"/>
              </a:ext>
            </a:extLst>
          </p:cNvPr>
          <p:cNvSpPr>
            <a:spLocks noGrp="1"/>
          </p:cNvSpPr>
          <p:nvPr>
            <p:ph type="title"/>
          </p:nvPr>
        </p:nvSpPr>
        <p:spPr>
          <a:xfrm>
            <a:off x="965200" y="50800"/>
            <a:ext cx="10515600" cy="1325563"/>
          </a:xfrm>
        </p:spPr>
        <p:txBody>
          <a:bodyPr/>
          <a:lstStyle/>
          <a:p>
            <a:pPr algn="ctr"/>
            <a:r>
              <a:rPr lang="fr-FR" b="1" dirty="0">
                <a:latin typeface="Inter bold"/>
              </a:rPr>
              <a:t>RGPD</a:t>
            </a:r>
          </a:p>
        </p:txBody>
      </p:sp>
      <p:sp>
        <p:nvSpPr>
          <p:cNvPr id="5" name="Ellipse 4">
            <a:extLst>
              <a:ext uri="{FF2B5EF4-FFF2-40B4-BE49-F238E27FC236}">
                <a16:creationId xmlns:a16="http://schemas.microsoft.com/office/drawing/2014/main" id="{16497E59-4E49-392E-B95F-B42B35C41A4C}"/>
              </a:ext>
            </a:extLst>
          </p:cNvPr>
          <p:cNvSpPr/>
          <p:nvPr/>
        </p:nvSpPr>
        <p:spPr>
          <a:xfrm>
            <a:off x="212726" y="1154113"/>
            <a:ext cx="5210175" cy="3149600"/>
          </a:xfrm>
          <a:prstGeom prst="ellipse">
            <a:avLst/>
          </a:prstGeom>
          <a:solidFill>
            <a:schemeClr val="accent1">
              <a:lumMod val="5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sz="1600" b="1" dirty="0">
                <a:latin typeface="Poppins" panose="00000500000000000000" pitchFamily="2" charset="0"/>
                <a:cs typeface="Poppins" panose="00000500000000000000" pitchFamily="2" charset="0"/>
              </a:rPr>
              <a:t>Données collectées</a:t>
            </a:r>
          </a:p>
          <a:p>
            <a:pPr algn="ctr">
              <a:buNone/>
            </a:pPr>
            <a:endParaRPr lang="fr-FR" sz="1600" dirty="0">
              <a:latin typeface="Poppins" panose="00000500000000000000" pitchFamily="2" charset="0"/>
              <a:cs typeface="Poppins" panose="00000500000000000000" pitchFamily="2" charset="0"/>
            </a:endParaRPr>
          </a:p>
          <a:p>
            <a:pPr marL="285750" indent="-285750">
              <a:buFont typeface="Wingdings" panose="05000000000000000000" pitchFamily="2" charset="2"/>
              <a:buChar char="Ø"/>
            </a:pPr>
            <a:r>
              <a:rPr lang="fr-FR" sz="1600" dirty="0">
                <a:latin typeface="Poppins" panose="00000500000000000000" pitchFamily="2" charset="0"/>
                <a:cs typeface="Poppins" panose="00000500000000000000" pitchFamily="2" charset="0"/>
              </a:rPr>
              <a:t>Inscription : pseudo, nom, prénom, email, mot de passe</a:t>
            </a:r>
          </a:p>
          <a:p>
            <a:pPr marL="285750" indent="-285750">
              <a:buFont typeface="Wingdings" panose="05000000000000000000" pitchFamily="2" charset="2"/>
              <a:buChar char="Ø"/>
            </a:pPr>
            <a:r>
              <a:rPr lang="fr-FR" sz="1600" dirty="0">
                <a:latin typeface="Poppins" panose="00000500000000000000" pitchFamily="2" charset="0"/>
                <a:cs typeface="Poppins" panose="00000500000000000000" pitchFamily="2" charset="0"/>
              </a:rPr>
              <a:t>Sondage </a:t>
            </a:r>
            <a:r>
              <a:rPr lang="fr-FR" sz="1600" dirty="0" err="1">
                <a:latin typeface="Poppins" panose="00000500000000000000" pitchFamily="2" charset="0"/>
                <a:cs typeface="Poppins" panose="00000500000000000000" pitchFamily="2" charset="0"/>
              </a:rPr>
              <a:t>Tally</a:t>
            </a:r>
            <a:r>
              <a:rPr lang="fr-FR" sz="1600" dirty="0">
                <a:latin typeface="Poppins" panose="00000500000000000000" pitchFamily="2" charset="0"/>
                <a:cs typeface="Poppins" panose="00000500000000000000" pitchFamily="2" charset="0"/>
              </a:rPr>
              <a:t> : email + préférence uniquement</a:t>
            </a:r>
          </a:p>
          <a:p>
            <a:pPr marL="285750" indent="-285750">
              <a:buFont typeface="Wingdings" panose="05000000000000000000" pitchFamily="2" charset="2"/>
              <a:buChar char="Ø"/>
            </a:pPr>
            <a:r>
              <a:rPr lang="fr-FR" sz="1600" dirty="0">
                <a:latin typeface="Poppins" panose="00000500000000000000" pitchFamily="2" charset="0"/>
                <a:cs typeface="Poppins" panose="00000500000000000000" pitchFamily="2" charset="0"/>
              </a:rPr>
              <a:t>Photo de profil </a:t>
            </a:r>
            <a:r>
              <a:rPr lang="fr-FR" sz="1600" i="1" dirty="0">
                <a:latin typeface="Poppins" panose="00000500000000000000" pitchFamily="2" charset="0"/>
                <a:cs typeface="Poppins" panose="00000500000000000000" pitchFamily="2" charset="0"/>
              </a:rPr>
              <a:t>(optionnelle)</a:t>
            </a:r>
            <a:endParaRPr lang="fr-FR" sz="1600" dirty="0">
              <a:latin typeface="Poppins" panose="00000500000000000000" pitchFamily="2" charset="0"/>
              <a:cs typeface="Poppins" panose="00000500000000000000" pitchFamily="2" charset="0"/>
            </a:endParaRPr>
          </a:p>
        </p:txBody>
      </p:sp>
      <p:sp>
        <p:nvSpPr>
          <p:cNvPr id="6" name="Ellipse 5">
            <a:extLst>
              <a:ext uri="{FF2B5EF4-FFF2-40B4-BE49-F238E27FC236}">
                <a16:creationId xmlns:a16="http://schemas.microsoft.com/office/drawing/2014/main" id="{7DB00AD4-1F18-B4AF-C5A0-A6DAA34CABB8}"/>
              </a:ext>
            </a:extLst>
          </p:cNvPr>
          <p:cNvSpPr/>
          <p:nvPr/>
        </p:nvSpPr>
        <p:spPr>
          <a:xfrm>
            <a:off x="6769100" y="1141413"/>
            <a:ext cx="5210175" cy="3149600"/>
          </a:xfrm>
          <a:prstGeom prst="ellipse">
            <a:avLst/>
          </a:prstGeom>
          <a:solidFill>
            <a:schemeClr val="accent1">
              <a:lumMod val="5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sz="1600" b="1" dirty="0">
                <a:latin typeface="Poppins" panose="00000500000000000000" pitchFamily="2" charset="0"/>
                <a:cs typeface="Poppins" panose="00000500000000000000" pitchFamily="2" charset="0"/>
              </a:rPr>
              <a:t>Droits des utilisateurs</a:t>
            </a:r>
          </a:p>
          <a:p>
            <a:pPr algn="ctr">
              <a:buNone/>
            </a:pPr>
            <a:endParaRPr lang="fr-FR" sz="1600" b="1" dirty="0">
              <a:latin typeface="Poppins" panose="00000500000000000000" pitchFamily="2" charset="0"/>
              <a:cs typeface="Poppins" panose="00000500000000000000" pitchFamily="2" charset="0"/>
            </a:endParaRPr>
          </a:p>
          <a:p>
            <a:pPr algn="ctr">
              <a:buNone/>
            </a:pPr>
            <a:r>
              <a:rPr lang="fr-FR" sz="1600" b="1" dirty="0">
                <a:latin typeface="Poppins" panose="00000500000000000000" pitchFamily="2" charset="0"/>
                <a:cs typeface="Poppins" panose="00000500000000000000" pitchFamily="2" charset="0"/>
              </a:rPr>
              <a:t>Droit d'accès à ses données</a:t>
            </a:r>
          </a:p>
          <a:p>
            <a:pPr algn="ctr">
              <a:buNone/>
            </a:pPr>
            <a:r>
              <a:rPr lang="fr-FR" sz="1600" b="1" dirty="0">
                <a:latin typeface="Poppins" panose="00000500000000000000" pitchFamily="2" charset="0"/>
                <a:cs typeface="Poppins" panose="00000500000000000000" pitchFamily="2" charset="0"/>
              </a:rPr>
              <a:t>Droit de modification du profil</a:t>
            </a:r>
          </a:p>
          <a:p>
            <a:pPr algn="ctr">
              <a:buNone/>
            </a:pPr>
            <a:r>
              <a:rPr lang="fr-FR" sz="1600" b="1" dirty="0">
                <a:latin typeface="Poppins" panose="00000500000000000000" pitchFamily="2" charset="0"/>
                <a:cs typeface="Poppins" panose="00000500000000000000" pitchFamily="2" charset="0"/>
              </a:rPr>
              <a:t>Suppression du compte sur demande, traitée par un administrateur</a:t>
            </a:r>
          </a:p>
          <a:p>
            <a:pPr algn="ctr">
              <a:buNone/>
            </a:pPr>
            <a:r>
              <a:rPr lang="fr-FR" sz="1600" b="1" dirty="0">
                <a:latin typeface="Poppins" panose="00000500000000000000" pitchFamily="2" charset="0"/>
                <a:cs typeface="Poppins" panose="00000500000000000000" pitchFamily="2" charset="0"/>
              </a:rPr>
              <a:t>Aucune vente de données à des tiers</a:t>
            </a:r>
          </a:p>
          <a:p>
            <a:pPr algn="ctr">
              <a:buNone/>
            </a:pPr>
            <a:r>
              <a:rPr lang="fr-FR" sz="1600" b="1" dirty="0">
                <a:latin typeface="Poppins" panose="00000500000000000000" pitchFamily="2" charset="0"/>
                <a:cs typeface="Poppins" panose="00000500000000000000" pitchFamily="2" charset="0"/>
              </a:rPr>
              <a:t>Données minimales collectées</a:t>
            </a:r>
          </a:p>
        </p:txBody>
      </p:sp>
      <p:sp>
        <p:nvSpPr>
          <p:cNvPr id="7" name="Ellipse 6">
            <a:extLst>
              <a:ext uri="{FF2B5EF4-FFF2-40B4-BE49-F238E27FC236}">
                <a16:creationId xmlns:a16="http://schemas.microsoft.com/office/drawing/2014/main" id="{8C708650-2516-5D3F-1B5C-B3AF0AEB3EE5}"/>
              </a:ext>
            </a:extLst>
          </p:cNvPr>
          <p:cNvSpPr/>
          <p:nvPr/>
        </p:nvSpPr>
        <p:spPr>
          <a:xfrm>
            <a:off x="3490914" y="3657601"/>
            <a:ext cx="5210174" cy="3149599"/>
          </a:xfrm>
          <a:prstGeom prst="ellipse">
            <a:avLst/>
          </a:prstGeom>
          <a:solidFill>
            <a:schemeClr val="accent1">
              <a:lumMod val="5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sz="1600" b="1" dirty="0">
                <a:latin typeface="Poppins" panose="00000500000000000000" pitchFamily="2" charset="0"/>
                <a:cs typeface="Poppins" panose="00000500000000000000" pitchFamily="2" charset="0"/>
              </a:rPr>
              <a:t>Mesures techniques</a:t>
            </a:r>
          </a:p>
          <a:p>
            <a:pPr algn="ctr">
              <a:buNone/>
            </a:pPr>
            <a:endParaRPr lang="fr-FR" sz="1600" dirty="0">
              <a:latin typeface="Poppins" panose="00000500000000000000" pitchFamily="2" charset="0"/>
              <a:cs typeface="Poppins" panose="00000500000000000000" pitchFamily="2" charset="0"/>
            </a:endParaRPr>
          </a:p>
          <a:p>
            <a:pPr marL="285750" indent="-285750">
              <a:buFont typeface="Wingdings" panose="05000000000000000000" pitchFamily="2" charset="2"/>
              <a:buChar char="Ø"/>
            </a:pPr>
            <a:r>
              <a:rPr lang="fr-FR" sz="1600" dirty="0">
                <a:latin typeface="Poppins" panose="00000500000000000000" pitchFamily="2" charset="0"/>
                <a:cs typeface="Poppins" panose="00000500000000000000" pitchFamily="2" charset="0"/>
              </a:rPr>
              <a:t>Mots de passe </a:t>
            </a:r>
            <a:r>
              <a:rPr lang="fr-FR" sz="1600" dirty="0" err="1">
                <a:latin typeface="Poppins" panose="00000500000000000000" pitchFamily="2" charset="0"/>
                <a:cs typeface="Poppins" panose="00000500000000000000" pitchFamily="2" charset="0"/>
              </a:rPr>
              <a:t>hashés</a:t>
            </a:r>
            <a:r>
              <a:rPr lang="fr-FR" sz="1600" dirty="0">
                <a:latin typeface="Poppins" panose="00000500000000000000" pitchFamily="2" charset="0"/>
                <a:cs typeface="Poppins" panose="00000500000000000000" pitchFamily="2" charset="0"/>
              </a:rPr>
              <a:t> </a:t>
            </a:r>
            <a:r>
              <a:rPr lang="fr-FR" sz="1600" dirty="0" err="1">
                <a:latin typeface="Poppins" panose="00000500000000000000" pitchFamily="2" charset="0"/>
                <a:cs typeface="Poppins" panose="00000500000000000000" pitchFamily="2" charset="0"/>
              </a:rPr>
              <a:t>Bcrypt</a:t>
            </a:r>
            <a:endParaRPr lang="fr-FR" sz="1600" dirty="0">
              <a:latin typeface="Poppins" panose="00000500000000000000" pitchFamily="2" charset="0"/>
              <a:cs typeface="Poppins" panose="00000500000000000000" pitchFamily="2" charset="0"/>
            </a:endParaRPr>
          </a:p>
          <a:p>
            <a:pPr marL="285750" indent="-285750">
              <a:buFont typeface="Wingdings" panose="05000000000000000000" pitchFamily="2" charset="2"/>
              <a:buChar char="Ø"/>
            </a:pPr>
            <a:r>
              <a:rPr lang="fr-FR" sz="1600" dirty="0">
                <a:latin typeface="Poppins" panose="00000500000000000000" pitchFamily="2" charset="0"/>
                <a:cs typeface="Poppins" panose="00000500000000000000" pitchFamily="2" charset="0"/>
              </a:rPr>
              <a:t>Communications chiffrées HTTPS</a:t>
            </a:r>
          </a:p>
          <a:p>
            <a:pPr marL="285750" indent="-285750">
              <a:buFont typeface="Wingdings" panose="05000000000000000000" pitchFamily="2" charset="2"/>
              <a:buChar char="Ø"/>
            </a:pPr>
            <a:r>
              <a:rPr lang="fr-FR" sz="1600" dirty="0">
                <a:latin typeface="Poppins" panose="00000500000000000000" pitchFamily="2" charset="0"/>
                <a:cs typeface="Poppins" panose="00000500000000000000" pitchFamily="2" charset="0"/>
              </a:rPr>
              <a:t>Page mentions légales accessible</a:t>
            </a:r>
          </a:p>
          <a:p>
            <a:pPr marL="285750" indent="-285750">
              <a:buFont typeface="Wingdings" panose="05000000000000000000" pitchFamily="2" charset="2"/>
              <a:buChar char="Ø"/>
            </a:pPr>
            <a:r>
              <a:rPr lang="fr-FR" sz="1600" dirty="0">
                <a:latin typeface="Poppins" panose="00000500000000000000" pitchFamily="2" charset="0"/>
                <a:cs typeface="Poppins" panose="00000500000000000000" pitchFamily="2" charset="0"/>
              </a:rPr>
              <a:t>Pas de cookies tiers</a:t>
            </a:r>
          </a:p>
          <a:p>
            <a:pPr marL="285750" indent="-285750">
              <a:buFont typeface="Wingdings" panose="05000000000000000000" pitchFamily="2" charset="2"/>
              <a:buChar char="Ø"/>
            </a:pPr>
            <a:r>
              <a:rPr lang="fr-FR" sz="1600" dirty="0">
                <a:latin typeface="Poppins" panose="00000500000000000000" pitchFamily="2" charset="0"/>
                <a:cs typeface="Poppins" panose="00000500000000000000" pitchFamily="2" charset="0"/>
              </a:rPr>
              <a:t>Pas de publicité</a:t>
            </a:r>
          </a:p>
        </p:txBody>
      </p:sp>
    </p:spTree>
    <p:extLst>
      <p:ext uri="{BB962C8B-B14F-4D97-AF65-F5344CB8AC3E}">
        <p14:creationId xmlns:p14="http://schemas.microsoft.com/office/powerpoint/2010/main" val="23390892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8E948-C04A-87DB-7287-96360D4A15F4}"/>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7ED09D33-8BF6-EAD0-37E9-B882DDA7370E}"/>
              </a:ext>
            </a:extLst>
          </p:cNvPr>
          <p:cNvSpPr txBox="1"/>
          <p:nvPr/>
        </p:nvSpPr>
        <p:spPr>
          <a:xfrm>
            <a:off x="11131550" y="6223000"/>
            <a:ext cx="431800" cy="369332"/>
          </a:xfrm>
          <a:prstGeom prst="rect">
            <a:avLst/>
          </a:prstGeom>
          <a:noFill/>
        </p:spPr>
        <p:txBody>
          <a:bodyPr wrap="square" rtlCol="0">
            <a:spAutoFit/>
          </a:bodyPr>
          <a:lstStyle/>
          <a:p>
            <a:r>
              <a:rPr lang="fr-FR" dirty="0">
                <a:solidFill>
                  <a:schemeClr val="accent2"/>
                </a:solidFill>
              </a:rPr>
              <a:t>27</a:t>
            </a:r>
          </a:p>
        </p:txBody>
      </p:sp>
      <p:sp>
        <p:nvSpPr>
          <p:cNvPr id="12" name="Titre 11">
            <a:extLst>
              <a:ext uri="{FF2B5EF4-FFF2-40B4-BE49-F238E27FC236}">
                <a16:creationId xmlns:a16="http://schemas.microsoft.com/office/drawing/2014/main" id="{DF5B3DED-5B28-312B-3367-F67A0B510936}"/>
              </a:ext>
            </a:extLst>
          </p:cNvPr>
          <p:cNvSpPr>
            <a:spLocks noGrp="1"/>
          </p:cNvSpPr>
          <p:nvPr>
            <p:ph type="title"/>
          </p:nvPr>
        </p:nvSpPr>
        <p:spPr>
          <a:xfrm>
            <a:off x="965200" y="50800"/>
            <a:ext cx="10515600" cy="1325563"/>
          </a:xfrm>
        </p:spPr>
        <p:txBody>
          <a:bodyPr/>
          <a:lstStyle/>
          <a:p>
            <a:pPr algn="ctr"/>
            <a:r>
              <a:rPr lang="fr-FR" b="1" dirty="0">
                <a:latin typeface="Inter bold"/>
              </a:rPr>
              <a:t>Déploiement VPS</a:t>
            </a:r>
          </a:p>
        </p:txBody>
      </p:sp>
      <p:sp>
        <p:nvSpPr>
          <p:cNvPr id="2" name="Flèche : droite 1">
            <a:extLst>
              <a:ext uri="{FF2B5EF4-FFF2-40B4-BE49-F238E27FC236}">
                <a16:creationId xmlns:a16="http://schemas.microsoft.com/office/drawing/2014/main" id="{E8CCCBCF-C11F-4956-C08F-3FE8139EB099}"/>
              </a:ext>
            </a:extLst>
          </p:cNvPr>
          <p:cNvSpPr/>
          <p:nvPr/>
        </p:nvSpPr>
        <p:spPr>
          <a:xfrm>
            <a:off x="-69850" y="3199521"/>
            <a:ext cx="12192000" cy="890032"/>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dirty="0"/>
          </a:p>
        </p:txBody>
      </p:sp>
      <p:sp>
        <p:nvSpPr>
          <p:cNvPr id="3" name="Ellipse 2">
            <a:extLst>
              <a:ext uri="{FF2B5EF4-FFF2-40B4-BE49-F238E27FC236}">
                <a16:creationId xmlns:a16="http://schemas.microsoft.com/office/drawing/2014/main" id="{EB94871A-B8F5-6CF3-45F8-F087942EAA02}"/>
              </a:ext>
            </a:extLst>
          </p:cNvPr>
          <p:cNvSpPr/>
          <p:nvPr/>
        </p:nvSpPr>
        <p:spPr>
          <a:xfrm>
            <a:off x="69850" y="2809895"/>
            <a:ext cx="1866900" cy="1776413"/>
          </a:xfrm>
          <a:prstGeom prst="ellipse">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latin typeface="Poppins" panose="00000500000000000000" pitchFamily="2" charset="0"/>
                <a:cs typeface="Poppins" panose="00000500000000000000" pitchFamily="2" charset="0"/>
              </a:rPr>
              <a:t>① Préparation du serveur</a:t>
            </a:r>
            <a:endParaRPr lang="fr-FR" sz="1200" dirty="0">
              <a:latin typeface="Poppins" panose="00000500000000000000" pitchFamily="2" charset="0"/>
              <a:cs typeface="Poppins" panose="00000500000000000000" pitchFamily="2" charset="0"/>
            </a:endParaRPr>
          </a:p>
        </p:txBody>
      </p:sp>
      <p:sp>
        <p:nvSpPr>
          <p:cNvPr id="4" name="Ellipse 3">
            <a:extLst>
              <a:ext uri="{FF2B5EF4-FFF2-40B4-BE49-F238E27FC236}">
                <a16:creationId xmlns:a16="http://schemas.microsoft.com/office/drawing/2014/main" id="{B7B0EB1B-A403-A079-A18C-4E205D3957AE}"/>
              </a:ext>
            </a:extLst>
          </p:cNvPr>
          <p:cNvSpPr/>
          <p:nvPr/>
        </p:nvSpPr>
        <p:spPr>
          <a:xfrm>
            <a:off x="1990725" y="2809895"/>
            <a:ext cx="1866900" cy="1776413"/>
          </a:xfrm>
          <a:prstGeom prst="ellipse">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sz="1200" b="1" dirty="0">
                <a:latin typeface="Poppins" panose="00000500000000000000" pitchFamily="2" charset="0"/>
                <a:cs typeface="Poppins" panose="00000500000000000000" pitchFamily="2" charset="0"/>
              </a:rPr>
              <a:t>② Récupération du code</a:t>
            </a:r>
          </a:p>
        </p:txBody>
      </p:sp>
      <p:sp>
        <p:nvSpPr>
          <p:cNvPr id="9" name="Ellipse 8">
            <a:extLst>
              <a:ext uri="{FF2B5EF4-FFF2-40B4-BE49-F238E27FC236}">
                <a16:creationId xmlns:a16="http://schemas.microsoft.com/office/drawing/2014/main" id="{BB6E7F16-3195-7389-99DA-23715F0DBF0A}"/>
              </a:ext>
            </a:extLst>
          </p:cNvPr>
          <p:cNvSpPr/>
          <p:nvPr/>
        </p:nvSpPr>
        <p:spPr>
          <a:xfrm>
            <a:off x="3911600" y="2809895"/>
            <a:ext cx="1866900" cy="1776413"/>
          </a:xfrm>
          <a:prstGeom prst="ellipse">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sz="1200" b="1" dirty="0">
                <a:latin typeface="Poppins" panose="00000500000000000000" pitchFamily="2" charset="0"/>
                <a:cs typeface="Poppins" panose="00000500000000000000" pitchFamily="2" charset="0"/>
              </a:rPr>
              <a:t>③</a:t>
            </a:r>
          </a:p>
          <a:p>
            <a:pPr algn="ctr">
              <a:buNone/>
            </a:pPr>
            <a:r>
              <a:rPr lang="fr-FR" sz="1200" b="1" dirty="0">
                <a:latin typeface="Poppins" panose="00000500000000000000" pitchFamily="2" charset="0"/>
                <a:cs typeface="Poppins" panose="00000500000000000000" pitchFamily="2" charset="0"/>
              </a:rPr>
              <a:t> Env. virtuel &amp; dépendances</a:t>
            </a:r>
          </a:p>
        </p:txBody>
      </p:sp>
      <p:sp>
        <p:nvSpPr>
          <p:cNvPr id="10" name="Ellipse 9">
            <a:extLst>
              <a:ext uri="{FF2B5EF4-FFF2-40B4-BE49-F238E27FC236}">
                <a16:creationId xmlns:a16="http://schemas.microsoft.com/office/drawing/2014/main" id="{FD0D634D-6D1E-B885-6341-1508781D9104}"/>
              </a:ext>
            </a:extLst>
          </p:cNvPr>
          <p:cNvSpPr/>
          <p:nvPr/>
        </p:nvSpPr>
        <p:spPr>
          <a:xfrm>
            <a:off x="5838825" y="2809894"/>
            <a:ext cx="1866900" cy="1776413"/>
          </a:xfrm>
          <a:prstGeom prst="ellipse">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sz="1200" b="1" dirty="0">
                <a:latin typeface="Poppins" panose="00000500000000000000" pitchFamily="2" charset="0"/>
                <a:cs typeface="Poppins" panose="00000500000000000000" pitchFamily="2" charset="0"/>
              </a:rPr>
              <a:t>④ Configuration PostgreSQL &amp; MongoDB</a:t>
            </a:r>
          </a:p>
        </p:txBody>
      </p:sp>
      <p:sp>
        <p:nvSpPr>
          <p:cNvPr id="11" name="Ellipse 10">
            <a:extLst>
              <a:ext uri="{FF2B5EF4-FFF2-40B4-BE49-F238E27FC236}">
                <a16:creationId xmlns:a16="http://schemas.microsoft.com/office/drawing/2014/main" id="{DDB302A8-B02A-9962-803F-40B4CAB58B87}"/>
              </a:ext>
            </a:extLst>
          </p:cNvPr>
          <p:cNvSpPr/>
          <p:nvPr/>
        </p:nvSpPr>
        <p:spPr>
          <a:xfrm>
            <a:off x="7772400" y="2809893"/>
            <a:ext cx="1866900" cy="1776413"/>
          </a:xfrm>
          <a:prstGeom prst="ellipse">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sz="1200" b="1" dirty="0">
                <a:latin typeface="Poppins" panose="00000500000000000000" pitchFamily="2" charset="0"/>
                <a:cs typeface="Poppins" panose="00000500000000000000" pitchFamily="2" charset="0"/>
              </a:rPr>
              <a:t>⑤ </a:t>
            </a:r>
          </a:p>
          <a:p>
            <a:pPr algn="ctr">
              <a:buNone/>
            </a:pPr>
            <a:r>
              <a:rPr lang="fr-FR" sz="1200" b="1" dirty="0">
                <a:latin typeface="Poppins" panose="00000500000000000000" pitchFamily="2" charset="0"/>
                <a:cs typeface="Poppins" panose="00000500000000000000" pitchFamily="2" charset="0"/>
              </a:rPr>
              <a:t>Lancement </a:t>
            </a:r>
            <a:r>
              <a:rPr lang="fr-FR" sz="1200" b="1" dirty="0" err="1">
                <a:latin typeface="Poppins" panose="00000500000000000000" pitchFamily="2" charset="0"/>
                <a:cs typeface="Poppins" panose="00000500000000000000" pitchFamily="2" charset="0"/>
              </a:rPr>
              <a:t>Gunicorn</a:t>
            </a:r>
            <a:endParaRPr lang="fr-FR" sz="1200" b="1" dirty="0">
              <a:latin typeface="Poppins" panose="00000500000000000000" pitchFamily="2" charset="0"/>
              <a:cs typeface="Poppins" panose="00000500000000000000" pitchFamily="2" charset="0"/>
            </a:endParaRPr>
          </a:p>
        </p:txBody>
      </p:sp>
      <p:sp>
        <p:nvSpPr>
          <p:cNvPr id="13" name="Ellipse 12">
            <a:extLst>
              <a:ext uri="{FF2B5EF4-FFF2-40B4-BE49-F238E27FC236}">
                <a16:creationId xmlns:a16="http://schemas.microsoft.com/office/drawing/2014/main" id="{A4431E44-1995-12FC-BF09-B7768A1E1DA6}"/>
              </a:ext>
            </a:extLst>
          </p:cNvPr>
          <p:cNvSpPr/>
          <p:nvPr/>
        </p:nvSpPr>
        <p:spPr>
          <a:xfrm>
            <a:off x="9696450" y="2809892"/>
            <a:ext cx="1866900" cy="1776413"/>
          </a:xfrm>
          <a:prstGeom prst="ellipse">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fr-FR" sz="1200" b="1" dirty="0">
                <a:latin typeface="Poppins" panose="00000500000000000000" pitchFamily="2" charset="0"/>
                <a:cs typeface="Poppins" panose="00000500000000000000" pitchFamily="2" charset="0"/>
              </a:rPr>
              <a:t>⑥</a:t>
            </a:r>
          </a:p>
          <a:p>
            <a:pPr algn="ctr">
              <a:buNone/>
            </a:pPr>
            <a:r>
              <a:rPr lang="fr-FR" sz="1200" b="1" dirty="0">
                <a:latin typeface="Poppins" panose="00000500000000000000" pitchFamily="2" charset="0"/>
                <a:cs typeface="Poppins" panose="00000500000000000000" pitchFamily="2" charset="0"/>
              </a:rPr>
              <a:t> Nginx + SSL</a:t>
            </a:r>
          </a:p>
        </p:txBody>
      </p:sp>
      <p:sp>
        <p:nvSpPr>
          <p:cNvPr id="5" name="Rectangle : coins arrondis 4">
            <a:extLst>
              <a:ext uri="{FF2B5EF4-FFF2-40B4-BE49-F238E27FC236}">
                <a16:creationId xmlns:a16="http://schemas.microsoft.com/office/drawing/2014/main" id="{B287FC6C-D63B-079E-D368-C3A49678B854}"/>
              </a:ext>
            </a:extLst>
          </p:cNvPr>
          <p:cNvSpPr/>
          <p:nvPr/>
        </p:nvSpPr>
        <p:spPr>
          <a:xfrm>
            <a:off x="177800" y="171450"/>
            <a:ext cx="1925320" cy="6830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b="1" dirty="0">
                <a:latin typeface="Inter bold"/>
                <a:cs typeface="Poppins" panose="00000500000000000000" pitchFamily="2" charset="0"/>
              </a:rPr>
              <a:t>Déploiement</a:t>
            </a:r>
            <a:endParaRPr lang="fr-FR" b="1" dirty="0">
              <a:latin typeface="Inter bold"/>
            </a:endParaRPr>
          </a:p>
        </p:txBody>
      </p:sp>
    </p:spTree>
    <p:extLst>
      <p:ext uri="{BB962C8B-B14F-4D97-AF65-F5344CB8AC3E}">
        <p14:creationId xmlns:p14="http://schemas.microsoft.com/office/powerpoint/2010/main" val="2567175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D80A7-5E46-5090-64DA-A5BD70B5DBAE}"/>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E8B7AA83-2E58-7CFA-719E-26B1367963F7}"/>
              </a:ext>
            </a:extLst>
          </p:cNvPr>
          <p:cNvSpPr txBox="1"/>
          <p:nvPr/>
        </p:nvSpPr>
        <p:spPr>
          <a:xfrm>
            <a:off x="11131550" y="6223000"/>
            <a:ext cx="514350" cy="369332"/>
          </a:xfrm>
          <a:prstGeom prst="rect">
            <a:avLst/>
          </a:prstGeom>
          <a:noFill/>
        </p:spPr>
        <p:txBody>
          <a:bodyPr wrap="square" rtlCol="0">
            <a:spAutoFit/>
          </a:bodyPr>
          <a:lstStyle/>
          <a:p>
            <a:r>
              <a:rPr lang="fr-FR" dirty="0">
                <a:solidFill>
                  <a:schemeClr val="accent2"/>
                </a:solidFill>
              </a:rPr>
              <a:t>28</a:t>
            </a:r>
          </a:p>
        </p:txBody>
      </p:sp>
      <p:sp>
        <p:nvSpPr>
          <p:cNvPr id="12" name="Titre 11">
            <a:extLst>
              <a:ext uri="{FF2B5EF4-FFF2-40B4-BE49-F238E27FC236}">
                <a16:creationId xmlns:a16="http://schemas.microsoft.com/office/drawing/2014/main" id="{0BFEF0F8-70A1-6236-2694-A44FB9C6FBB4}"/>
              </a:ext>
            </a:extLst>
          </p:cNvPr>
          <p:cNvSpPr>
            <a:spLocks noGrp="1"/>
          </p:cNvSpPr>
          <p:nvPr>
            <p:ph type="title"/>
          </p:nvPr>
        </p:nvSpPr>
        <p:spPr>
          <a:xfrm>
            <a:off x="965200" y="50800"/>
            <a:ext cx="10515600" cy="1325563"/>
          </a:xfrm>
        </p:spPr>
        <p:txBody>
          <a:bodyPr>
            <a:normAutofit/>
          </a:bodyPr>
          <a:lstStyle/>
          <a:p>
            <a:pPr algn="ctr"/>
            <a:r>
              <a:rPr lang="fr-FR" b="1" dirty="0">
                <a:latin typeface="Inter bold"/>
              </a:rPr>
              <a:t>Planification Kanban</a:t>
            </a:r>
          </a:p>
        </p:txBody>
      </p:sp>
      <p:sp>
        <p:nvSpPr>
          <p:cNvPr id="2" name="Rectangle : coins arrondis 1">
            <a:extLst>
              <a:ext uri="{FF2B5EF4-FFF2-40B4-BE49-F238E27FC236}">
                <a16:creationId xmlns:a16="http://schemas.microsoft.com/office/drawing/2014/main" id="{2C2983B3-8FD0-736F-E048-A74A35AAF680}"/>
              </a:ext>
            </a:extLst>
          </p:cNvPr>
          <p:cNvSpPr/>
          <p:nvPr/>
        </p:nvSpPr>
        <p:spPr>
          <a:xfrm>
            <a:off x="177800" y="171450"/>
            <a:ext cx="1925320" cy="6830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b="1" dirty="0">
                <a:latin typeface="Inter bold"/>
                <a:cs typeface="Poppins" panose="00000500000000000000" pitchFamily="2" charset="0"/>
              </a:rPr>
              <a:t>Gestion de Projet</a:t>
            </a:r>
            <a:endParaRPr lang="fr-FR" b="1" dirty="0">
              <a:latin typeface="Inter bold"/>
            </a:endParaRPr>
          </a:p>
        </p:txBody>
      </p:sp>
      <p:pic>
        <p:nvPicPr>
          <p:cNvPr id="4" name="Image 3">
            <a:extLst>
              <a:ext uri="{FF2B5EF4-FFF2-40B4-BE49-F238E27FC236}">
                <a16:creationId xmlns:a16="http://schemas.microsoft.com/office/drawing/2014/main" id="{8B31E942-C992-B380-1B66-43E4D8A854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9934" y="1376363"/>
            <a:ext cx="6964130" cy="5384304"/>
          </a:xfrm>
          <a:prstGeom prst="rect">
            <a:avLst/>
          </a:prstGeom>
        </p:spPr>
      </p:pic>
    </p:spTree>
    <p:extLst>
      <p:ext uri="{BB962C8B-B14F-4D97-AF65-F5344CB8AC3E}">
        <p14:creationId xmlns:p14="http://schemas.microsoft.com/office/powerpoint/2010/main" val="29046903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CF040-8927-E0E9-FE37-09C979AA9035}"/>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BA972DA4-C63A-F282-6103-7AA523A0F7EF}"/>
              </a:ext>
            </a:extLst>
          </p:cNvPr>
          <p:cNvSpPr txBox="1"/>
          <p:nvPr/>
        </p:nvSpPr>
        <p:spPr>
          <a:xfrm>
            <a:off x="11131550" y="6223000"/>
            <a:ext cx="438150" cy="369332"/>
          </a:xfrm>
          <a:prstGeom prst="rect">
            <a:avLst/>
          </a:prstGeom>
          <a:noFill/>
        </p:spPr>
        <p:txBody>
          <a:bodyPr wrap="square" rtlCol="0">
            <a:spAutoFit/>
          </a:bodyPr>
          <a:lstStyle/>
          <a:p>
            <a:r>
              <a:rPr lang="fr-FR" dirty="0">
                <a:solidFill>
                  <a:schemeClr val="accent2"/>
                </a:solidFill>
              </a:rPr>
              <a:t>29</a:t>
            </a:r>
          </a:p>
        </p:txBody>
      </p:sp>
      <p:sp>
        <p:nvSpPr>
          <p:cNvPr id="12" name="Titre 11">
            <a:extLst>
              <a:ext uri="{FF2B5EF4-FFF2-40B4-BE49-F238E27FC236}">
                <a16:creationId xmlns:a16="http://schemas.microsoft.com/office/drawing/2014/main" id="{D2830671-9C02-D032-7ADB-3627C603CCB2}"/>
              </a:ext>
            </a:extLst>
          </p:cNvPr>
          <p:cNvSpPr>
            <a:spLocks noGrp="1"/>
          </p:cNvSpPr>
          <p:nvPr>
            <p:ph type="title"/>
          </p:nvPr>
        </p:nvSpPr>
        <p:spPr>
          <a:xfrm>
            <a:off x="965200" y="50800"/>
            <a:ext cx="10515600" cy="1325563"/>
          </a:xfrm>
        </p:spPr>
        <p:txBody>
          <a:bodyPr>
            <a:normAutofit/>
          </a:bodyPr>
          <a:lstStyle/>
          <a:p>
            <a:pPr algn="ctr"/>
            <a:r>
              <a:rPr lang="fr-FR" b="1" dirty="0">
                <a:latin typeface="Inter bold"/>
              </a:rPr>
              <a:t>Gestion de version Git</a:t>
            </a:r>
          </a:p>
        </p:txBody>
      </p:sp>
      <p:pic>
        <p:nvPicPr>
          <p:cNvPr id="3" name="Image 2">
            <a:extLst>
              <a:ext uri="{FF2B5EF4-FFF2-40B4-BE49-F238E27FC236}">
                <a16:creationId xmlns:a16="http://schemas.microsoft.com/office/drawing/2014/main" id="{0F2A0600-7D76-6FE8-E6B8-01D98FB0F1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0646" y="1376363"/>
            <a:ext cx="7588198" cy="5155703"/>
          </a:xfrm>
          <a:prstGeom prst="rect">
            <a:avLst/>
          </a:prstGeom>
        </p:spPr>
      </p:pic>
    </p:spTree>
    <p:extLst>
      <p:ext uri="{BB962C8B-B14F-4D97-AF65-F5344CB8AC3E}">
        <p14:creationId xmlns:p14="http://schemas.microsoft.com/office/powerpoint/2010/main" val="3212792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D0B5986E-E5A5-1E4E-2CAB-7547307D1F82}"/>
              </a:ext>
            </a:extLst>
          </p:cNvPr>
          <p:cNvSpPr txBox="1"/>
          <p:nvPr/>
        </p:nvSpPr>
        <p:spPr>
          <a:xfrm>
            <a:off x="11131550" y="6223000"/>
            <a:ext cx="463042" cy="369332"/>
          </a:xfrm>
          <a:prstGeom prst="rect">
            <a:avLst/>
          </a:prstGeom>
          <a:noFill/>
        </p:spPr>
        <p:txBody>
          <a:bodyPr wrap="square" rtlCol="0">
            <a:spAutoFit/>
          </a:bodyPr>
          <a:lstStyle/>
          <a:p>
            <a:r>
              <a:rPr lang="fr-FR" dirty="0">
                <a:solidFill>
                  <a:schemeClr val="accent2"/>
                </a:solidFill>
              </a:rPr>
              <a:t>30</a:t>
            </a:r>
          </a:p>
        </p:txBody>
      </p:sp>
      <p:sp>
        <p:nvSpPr>
          <p:cNvPr id="2" name="Rectangle : coins arrondis 1">
            <a:extLst>
              <a:ext uri="{FF2B5EF4-FFF2-40B4-BE49-F238E27FC236}">
                <a16:creationId xmlns:a16="http://schemas.microsoft.com/office/drawing/2014/main" id="{156CA969-7259-AA1E-44D7-5EBCE933EFE1}"/>
              </a:ext>
            </a:extLst>
          </p:cNvPr>
          <p:cNvSpPr/>
          <p:nvPr/>
        </p:nvSpPr>
        <p:spPr>
          <a:xfrm>
            <a:off x="177800" y="1778000"/>
            <a:ext cx="5807075" cy="3784600"/>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Poppins" panose="00000500000000000000" pitchFamily="2" charset="0"/>
                <a:cs typeface="Poppins" panose="00000500000000000000" pitchFamily="2" charset="0"/>
              </a:rPr>
              <a:t>Bilan technique</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Le projet est allé bien au-delà de ce que j'avais imaginé au départ</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L'architecture MVC et les deux bases de données ont bien tenu face à cette croissance</a:t>
            </a:r>
          </a:p>
        </p:txBody>
      </p:sp>
      <p:sp>
        <p:nvSpPr>
          <p:cNvPr id="4" name="Rectangle : coins arrondis 3">
            <a:extLst>
              <a:ext uri="{FF2B5EF4-FFF2-40B4-BE49-F238E27FC236}">
                <a16:creationId xmlns:a16="http://schemas.microsoft.com/office/drawing/2014/main" id="{836E4505-7E15-4955-D835-3EE7F53CEA2E}"/>
              </a:ext>
            </a:extLst>
          </p:cNvPr>
          <p:cNvSpPr/>
          <p:nvPr/>
        </p:nvSpPr>
        <p:spPr>
          <a:xfrm>
            <a:off x="6207125" y="1778000"/>
            <a:ext cx="5807075" cy="3784600"/>
          </a:xfrm>
          <a:prstGeom prst="roundRect">
            <a:avLst/>
          </a:prstGeom>
          <a:solidFill>
            <a:schemeClr val="accent2"/>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Poppins" panose="00000500000000000000" pitchFamily="2" charset="0"/>
                <a:cs typeface="Poppins" panose="00000500000000000000" pitchFamily="2" charset="0"/>
              </a:rPr>
              <a:t>Bilan personnel</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J'ai touché tout le cycle de développement, seul</a:t>
            </a:r>
          </a:p>
          <a:p>
            <a:pPr algn="ctr"/>
            <a:endParaRPr lang="fr-FR" b="1" dirty="0">
              <a:latin typeface="Poppins" panose="00000500000000000000" pitchFamily="2" charset="0"/>
              <a:cs typeface="Poppins" panose="00000500000000000000" pitchFamily="2" charset="0"/>
            </a:endParaRPr>
          </a:p>
          <a:p>
            <a:pPr algn="ctr"/>
            <a:r>
              <a:rPr lang="fr-FR" b="1" dirty="0">
                <a:latin typeface="Poppins" panose="00000500000000000000" pitchFamily="2" charset="0"/>
                <a:cs typeface="Poppins" panose="00000500000000000000" pitchFamily="2" charset="0"/>
              </a:rPr>
              <a:t>Un vrai renforcement de mes compétences de développeur</a:t>
            </a:r>
          </a:p>
        </p:txBody>
      </p:sp>
      <p:sp>
        <p:nvSpPr>
          <p:cNvPr id="7" name="Rectangle : coins arrondis 6">
            <a:extLst>
              <a:ext uri="{FF2B5EF4-FFF2-40B4-BE49-F238E27FC236}">
                <a16:creationId xmlns:a16="http://schemas.microsoft.com/office/drawing/2014/main" id="{02EBFF11-0556-355E-9F3F-20D3E984386A}"/>
              </a:ext>
            </a:extLst>
          </p:cNvPr>
          <p:cNvSpPr/>
          <p:nvPr/>
        </p:nvSpPr>
        <p:spPr>
          <a:xfrm>
            <a:off x="177800" y="171450"/>
            <a:ext cx="2485390" cy="6830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b="1" dirty="0">
                <a:latin typeface="Inter bold"/>
              </a:rPr>
              <a:t>Bilan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ous-titre 2">
            <a:extLst>
              <a:ext uri="{FF2B5EF4-FFF2-40B4-BE49-F238E27FC236}">
                <a16:creationId xmlns:a16="http://schemas.microsoft.com/office/drawing/2014/main" id="{496CE59D-163D-0472-E502-6FDE6637F198}"/>
              </a:ext>
            </a:extLst>
          </p:cNvPr>
          <p:cNvSpPr txBox="1">
            <a:spLocks/>
          </p:cNvSpPr>
          <p:nvPr/>
        </p:nvSpPr>
        <p:spPr>
          <a:xfrm>
            <a:off x="1524000" y="3200000"/>
            <a:ext cx="9144000" cy="95000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sz="3600" b="1" dirty="0">
                <a:solidFill>
                  <a:schemeClr val="bg1"/>
                </a:solidFill>
                <a:latin typeface="Poppins"/>
                <a:cs typeface="Poppins"/>
              </a:rPr>
              <a:t>Démonstration en direct</a:t>
            </a:r>
          </a:p>
          <a:p>
            <a:r>
              <a:rPr lang="fr-FR" sz="2000" b="1" dirty="0">
                <a:solidFill>
                  <a:schemeClr val="bg1"/>
                </a:solidFill>
                <a:latin typeface="Poppins"/>
                <a:cs typeface="Poppins"/>
              </a:rPr>
              <a:t>https://astrolearn.nayaweb.fr</a:t>
            </a:r>
          </a:p>
        </p:txBody>
      </p:sp>
      <p:sp>
        <p:nvSpPr>
          <p:cNvPr id="3" name="Rectangle : coins arrondis 2">
            <a:extLst>
              <a:ext uri="{FF2B5EF4-FFF2-40B4-BE49-F238E27FC236}">
                <a16:creationId xmlns:a16="http://schemas.microsoft.com/office/drawing/2014/main" id="{0D94A6D2-CF0B-0524-F211-05317A3029E3}"/>
              </a:ext>
            </a:extLst>
          </p:cNvPr>
          <p:cNvSpPr/>
          <p:nvPr/>
        </p:nvSpPr>
        <p:spPr>
          <a:xfrm>
            <a:off x="177800" y="171450"/>
            <a:ext cx="2485390" cy="68302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b="1" dirty="0">
                <a:latin typeface="Inter bold"/>
              </a:rPr>
              <a:t>Démonstration</a:t>
            </a:r>
          </a:p>
        </p:txBody>
      </p:sp>
      <p:sp>
        <p:nvSpPr>
          <p:cNvPr id="5" name="ZoneTexte 4">
            <a:extLst>
              <a:ext uri="{FF2B5EF4-FFF2-40B4-BE49-F238E27FC236}">
                <a16:creationId xmlns:a16="http://schemas.microsoft.com/office/drawing/2014/main" id="{E0DFA2AF-AB11-CE0B-32C2-9B82E869EAA8}"/>
              </a:ext>
            </a:extLst>
          </p:cNvPr>
          <p:cNvSpPr txBox="1"/>
          <p:nvPr/>
        </p:nvSpPr>
        <p:spPr>
          <a:xfrm>
            <a:off x="11131550" y="6223000"/>
            <a:ext cx="463042" cy="369332"/>
          </a:xfrm>
          <a:prstGeom prst="rect">
            <a:avLst/>
          </a:prstGeom>
          <a:noFill/>
        </p:spPr>
        <p:txBody>
          <a:bodyPr wrap="square" rtlCol="0">
            <a:spAutoFit/>
          </a:bodyPr>
          <a:lstStyle/>
          <a:p>
            <a:r>
              <a:rPr lang="fr-FR" dirty="0">
                <a:solidFill>
                  <a:schemeClr val="accent2"/>
                </a:solidFill>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524"/>
        </a:solidFill>
        <a:effectLst/>
      </p:bgPr>
    </p:bg>
    <p:spTree>
      <p:nvGrpSpPr>
        <p:cNvPr id="1" name="">
          <a:extLst>
            <a:ext uri="{FF2B5EF4-FFF2-40B4-BE49-F238E27FC236}">
              <a16:creationId xmlns:a16="http://schemas.microsoft.com/office/drawing/2014/main" id="{76F5A81A-9AB8-ADF1-A990-0CA6C913C83C}"/>
            </a:ext>
          </a:extLst>
        </p:cNvPr>
        <p:cNvGrpSpPr/>
        <p:nvPr/>
      </p:nvGrpSpPr>
      <p:grpSpPr>
        <a:xfrm>
          <a:off x="0" y="0"/>
          <a:ext cx="0" cy="0"/>
          <a:chOff x="0" y="0"/>
          <a:chExt cx="0" cy="0"/>
        </a:xfrm>
      </p:grpSpPr>
      <p:sp>
        <p:nvSpPr>
          <p:cNvPr id="7" name="ZoneTexte 6">
            <a:extLst>
              <a:ext uri="{FF2B5EF4-FFF2-40B4-BE49-F238E27FC236}">
                <a16:creationId xmlns:a16="http://schemas.microsoft.com/office/drawing/2014/main" id="{5C9777F8-A7A4-16BE-33C1-D881D403FEBF}"/>
              </a:ext>
            </a:extLst>
          </p:cNvPr>
          <p:cNvSpPr txBox="1"/>
          <p:nvPr/>
        </p:nvSpPr>
        <p:spPr>
          <a:xfrm>
            <a:off x="10782300" y="6032500"/>
            <a:ext cx="698500" cy="369332"/>
          </a:xfrm>
          <a:prstGeom prst="rect">
            <a:avLst/>
          </a:prstGeom>
          <a:noFill/>
        </p:spPr>
        <p:txBody>
          <a:bodyPr wrap="square" rtlCol="0">
            <a:spAutoFit/>
          </a:bodyPr>
          <a:lstStyle/>
          <a:p>
            <a:r>
              <a:rPr lang="fr-FR" dirty="0"/>
              <a:t>32</a:t>
            </a:r>
          </a:p>
        </p:txBody>
      </p:sp>
      <p:pic>
        <p:nvPicPr>
          <p:cNvPr id="9" name="Image 8">
            <a:extLst>
              <a:ext uri="{FF2B5EF4-FFF2-40B4-BE49-F238E27FC236}">
                <a16:creationId xmlns:a16="http://schemas.microsoft.com/office/drawing/2014/main" id="{358E2CAB-7E44-7B4D-C4F4-F3C62E6DC3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7049" y="423861"/>
            <a:ext cx="3517901" cy="3517901"/>
          </a:xfrm>
          <a:prstGeom prst="rect">
            <a:avLst/>
          </a:prstGeom>
        </p:spPr>
      </p:pic>
      <p:sp>
        <p:nvSpPr>
          <p:cNvPr id="10" name="Sous-titre 2">
            <a:extLst>
              <a:ext uri="{FF2B5EF4-FFF2-40B4-BE49-F238E27FC236}">
                <a16:creationId xmlns:a16="http://schemas.microsoft.com/office/drawing/2014/main" id="{496CE59D-163D-0472-E502-6FDE6637F198}"/>
              </a:ext>
            </a:extLst>
          </p:cNvPr>
          <p:cNvSpPr txBox="1">
            <a:spLocks/>
          </p:cNvSpPr>
          <p:nvPr/>
        </p:nvSpPr>
        <p:spPr>
          <a:xfrm>
            <a:off x="1524000" y="3429000"/>
            <a:ext cx="9144000" cy="512762"/>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b="1" dirty="0" err="1">
                <a:solidFill>
                  <a:schemeClr val="bg1"/>
                </a:solidFill>
                <a:latin typeface="Poppins" panose="00000500000000000000" pitchFamily="2" charset="0"/>
                <a:cs typeface="Poppins" panose="00000500000000000000" pitchFamily="2" charset="0"/>
              </a:rPr>
              <a:t>AstroLearn</a:t>
            </a:r>
            <a:r>
              <a:rPr lang="fr-FR" b="1" dirty="0">
                <a:solidFill>
                  <a:schemeClr val="bg1"/>
                </a:solidFill>
                <a:latin typeface="Poppins" panose="00000500000000000000" pitchFamily="2" charset="0"/>
                <a:cs typeface="Poppins" panose="00000500000000000000" pitchFamily="2" charset="0"/>
              </a:rPr>
              <a:t> est disponible en live sur https://astrolearn.nayaweb.fr</a:t>
            </a:r>
          </a:p>
        </p:txBody>
      </p:sp>
    </p:spTree>
    <p:extLst>
      <p:ext uri="{BB962C8B-B14F-4D97-AF65-F5344CB8AC3E}">
        <p14:creationId xmlns:p14="http://schemas.microsoft.com/office/powerpoint/2010/main" val="373256705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3089</TotalTime>
  <Words>4581</Words>
  <Application>Microsoft Office PowerPoint</Application>
  <PresentationFormat>Grand écran</PresentationFormat>
  <Paragraphs>608</Paragraphs>
  <Slides>32</Slides>
  <Notes>32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32</vt:i4>
      </vt:variant>
    </vt:vector>
  </HeadingPairs>
  <TitlesOfParts>
    <vt:vector size="40" baseType="lpstr">
      <vt:lpstr>Arial</vt:lpstr>
      <vt:lpstr>Calibri</vt:lpstr>
      <vt:lpstr>Calibri Light</vt:lpstr>
      <vt:lpstr>Courier New</vt:lpstr>
      <vt:lpstr>Inter bold</vt:lpstr>
      <vt:lpstr>Poppins</vt:lpstr>
      <vt:lpstr>Wingdings</vt:lpstr>
      <vt:lpstr>Thème Office</vt:lpstr>
      <vt:lpstr>ASTROLEARN</vt:lpstr>
      <vt:lpstr>Sommaire</vt:lpstr>
      <vt:lpstr>Présentation PowerPoint</vt:lpstr>
      <vt:lpstr>Stack Technique</vt:lpstr>
      <vt:lpstr>Présentation PowerPoint</vt:lpstr>
      <vt:lpstr>Arborescence d'écrans (Sitemap)</vt:lpstr>
      <vt:lpstr>Zoning</vt:lpstr>
      <vt:lpstr>Wireframe</vt:lpstr>
      <vt:lpstr>Charte Graphique</vt:lpstr>
      <vt:lpstr>Maquette FIGMA</vt:lpstr>
      <vt:lpstr>Diagramme UML</vt:lpstr>
      <vt:lpstr>Architecture MVC</vt:lpstr>
      <vt:lpstr>MCD Modèle Conceptuel de Données</vt:lpstr>
      <vt:lpstr>MLD  Modèle Logique de Données</vt:lpstr>
      <vt:lpstr>MPD  Modèle Physique  de Données</vt:lpstr>
      <vt:lpstr>Accès aux données SQL et NoSQL</vt:lpstr>
      <vt:lpstr>Front-End  </vt:lpstr>
      <vt:lpstr>Back-End  </vt:lpstr>
      <vt:lpstr>Éco-conception</vt:lpstr>
      <vt:lpstr>APIs REST</vt:lpstr>
      <vt:lpstr>Tests</vt:lpstr>
      <vt:lpstr>Présentation PowerPoint</vt:lpstr>
      <vt:lpstr>CI/CD &amp; Qualité du Code</vt:lpstr>
      <vt:lpstr>Présentation PowerPoint</vt:lpstr>
      <vt:lpstr>Sécurité</vt:lpstr>
      <vt:lpstr>RGPD</vt:lpstr>
      <vt:lpstr>Déploiement VPS</vt:lpstr>
      <vt:lpstr>Planification Kanban</vt:lpstr>
      <vt:lpstr>Gestion de version Git</vt:lpstr>
      <vt:lpstr>Présentation PowerPoint</vt:lpstr>
      <vt:lpstr>Présentation PowerPoint</vt:lpstr>
      <vt:lpstr>Présentation PowerPoint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Abderrehman BOUBNAN</dc:creator>
  <cp:lastModifiedBy>Naya Web</cp:lastModifiedBy>
  <cp:revision>35</cp:revision>
  <dcterms:created xsi:type="dcterms:W3CDTF">2026-01-21T14:12:10Z</dcterms:created>
  <dcterms:modified xsi:type="dcterms:W3CDTF">2026-08-19T15:19:34Z</dcterms:modified>
</cp:coreProperties>
</file>